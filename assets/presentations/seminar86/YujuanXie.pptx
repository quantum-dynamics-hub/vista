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66" r:id="rId3"/>
    <p:sldId id="609" r:id="rId4"/>
    <p:sldId id="608" r:id="rId5"/>
    <p:sldId id="279" r:id="rId6"/>
    <p:sldId id="602" r:id="rId7"/>
    <p:sldId id="548" r:id="rId8"/>
    <p:sldId id="601" r:id="rId9"/>
    <p:sldId id="603" r:id="rId10"/>
    <p:sldId id="604" r:id="rId11"/>
    <p:sldId id="267" r:id="rId12"/>
    <p:sldId id="612" r:id="rId13"/>
    <p:sldId id="278" r:id="rId14"/>
    <p:sldId id="611" r:id="rId15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5723"/>
    <a:srgbClr val="CB6041"/>
    <a:srgbClr val="CE6142"/>
    <a:srgbClr val="5C749B"/>
    <a:srgbClr val="EFF1E9"/>
    <a:srgbClr val="EDF0F3"/>
    <a:srgbClr val="B2B2B2"/>
    <a:srgbClr val="202020"/>
    <a:srgbClr val="323232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84" autoAdjust="0"/>
    <p:restoredTop sz="61035" autoAdjust="0"/>
  </p:normalViewPr>
  <p:slideViewPr>
    <p:cSldViewPr snapToGrid="0" showGuides="1">
      <p:cViewPr varScale="1">
        <p:scale>
          <a:sx n="85" d="100"/>
          <a:sy n="85" d="100"/>
        </p:scale>
        <p:origin x="75" y="111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7D6473-3D58-7C41-8CA3-621B29AF0FD7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36624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681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294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199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10644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735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buNone/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4858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3487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4164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62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2025/3/25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496389" y="178594"/>
            <a:ext cx="11251474" cy="901269"/>
          </a:xfrm>
          <a:prstGeom prst="rect">
            <a:avLst/>
          </a:prstGeom>
        </p:spPr>
        <p:txBody>
          <a:bodyPr lIns="71437" tIns="71437" rIns="71437" bIns="71437">
            <a:normAutofit/>
          </a:bodyPr>
          <a:lstStyle>
            <a:lvl1pPr algn="ctr" defTabSz="410766">
              <a:lnSpc>
                <a:spcPct val="100000"/>
              </a:lnSpc>
              <a:defRPr sz="3200" b="1">
                <a:latin typeface="Optima" panose="02000503060000020004" pitchFamily="2" charset="0"/>
                <a:ea typeface="+mj-ea"/>
                <a:cs typeface="+mj-cs"/>
                <a:sym typeface="Optima"/>
              </a:defRPr>
            </a:lvl1pPr>
          </a:lstStyle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73984" y="6526483"/>
            <a:ext cx="494086" cy="215961"/>
          </a:xfrm>
          <a:prstGeom prst="rect">
            <a:avLst/>
          </a:prstGeom>
        </p:spPr>
        <p:txBody>
          <a:bodyPr lIns="71437" tIns="71437" rIns="71437" bIns="71437" anchor="t"/>
          <a:lstStyle>
            <a:lvl1pPr algn="ctr" defTabSz="410766">
              <a:defRPr sz="110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017488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6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7.jpeg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/>
          <p:nvPr/>
        </p:nvSpPr>
        <p:spPr>
          <a:xfrm>
            <a:off x="1493713" y="4574643"/>
            <a:ext cx="8484235" cy="16821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sz="2800" dirty="0"/>
              <a:t>Dr. </a:t>
            </a:r>
            <a:r>
              <a:rPr lang="en-US" sz="2800" dirty="0" err="1"/>
              <a:t>Yujuan</a:t>
            </a:r>
            <a:r>
              <a:rPr lang="en-US" sz="2800" dirty="0"/>
              <a:t> Xie (Bing Gu’s Group)</a:t>
            </a:r>
          </a:p>
          <a:p>
            <a:pPr algn="ctr">
              <a:lnSpc>
                <a:spcPct val="200000"/>
              </a:lnSpc>
            </a:pPr>
            <a:r>
              <a:rPr lang="en-US" sz="2800" dirty="0"/>
              <a:t>Date: 2025.03.26</a:t>
            </a:r>
          </a:p>
        </p:txBody>
      </p:sp>
      <p:sp>
        <p:nvSpPr>
          <p:cNvPr id="5" name="Molecular polaritons from optical to X-ray: dynamics and spectroscopy">
            <a:extLst>
              <a:ext uri="{FF2B5EF4-FFF2-40B4-BE49-F238E27FC236}">
                <a16:creationId xmlns:a16="http://schemas.microsoft.com/office/drawing/2014/main" id="{10A217B5-4BF7-2EF9-2C4D-CE09D91DFBA7}"/>
              </a:ext>
            </a:extLst>
          </p:cNvPr>
          <p:cNvSpPr txBox="1">
            <a:spLocks/>
          </p:cNvSpPr>
          <p:nvPr/>
        </p:nvSpPr>
        <p:spPr>
          <a:xfrm>
            <a:off x="320213" y="1862951"/>
            <a:ext cx="11551573" cy="1708722"/>
          </a:xfrm>
          <a:prstGeom prst="rect">
            <a:avLst/>
          </a:prstGeom>
          <a:solidFill>
            <a:srgbClr val="FFFFFF"/>
          </a:solidFill>
          <a:effectLst>
            <a:outerShdw blurRad="203200" dir="5400000" rotWithShape="0">
              <a:srgbClr val="000000"/>
            </a:outerShdw>
          </a:effectLst>
        </p:spPr>
        <p:txBody>
          <a:bodyPr vert="horz" lIns="25717" tIns="25717" rIns="25717" bIns="25717" rtlCol="0" anchor="ctr">
            <a:noAutofit/>
          </a:bodyPr>
          <a:lstStyle>
            <a:lvl1pPr algn="ctr" defTabSz="9144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6400" kern="1200">
                <a:solidFill>
                  <a:srgbClr val="365B9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/>
              <a:t>Incorporating Geometric Phase Effects by Local Diabatic Representation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0CF92805-3C11-BE32-76CD-A050601ED5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29" y="256201"/>
            <a:ext cx="3330466" cy="99987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243ABC9-E32C-808C-B31B-A3917D719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9357" y="304608"/>
            <a:ext cx="1473687" cy="8975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8F6DB8AD-B6E5-3A41-3DDB-1880968FE2D1}"/>
              </a:ext>
            </a:extLst>
          </p:cNvPr>
          <p:cNvSpPr txBox="1"/>
          <p:nvPr/>
        </p:nvSpPr>
        <p:spPr>
          <a:xfrm>
            <a:off x="10886" y="58965"/>
            <a:ext cx="121756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Geometric phase effects profoundly impact reactive dynamics.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CDDF4E3-C205-4974-9CCB-82D512E87D75}"/>
              </a:ext>
            </a:extLst>
          </p:cNvPr>
          <p:cNvSpPr/>
          <p:nvPr/>
        </p:nvSpPr>
        <p:spPr>
          <a:xfrm>
            <a:off x="1" y="540657"/>
            <a:ext cx="12192000" cy="36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10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72B71DB-9E20-231A-C7E9-F7C5101BA099}"/>
              </a:ext>
            </a:extLst>
          </p:cNvPr>
          <p:cNvSpPr txBox="1"/>
          <p:nvPr/>
        </p:nvSpPr>
        <p:spPr>
          <a:xfrm>
            <a:off x="175390" y="6530305"/>
            <a:ext cx="3533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Yuan et al., Nat. Commun. 2020, 11, 3640</a:t>
            </a:r>
            <a:endParaRPr lang="fr-FR" altLang="zh-C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244431BA-ACAE-8F57-6D57-F217728CA3D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99291" y="1265980"/>
            <a:ext cx="3161091" cy="2853301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AE6914AA-416C-1FA1-4AA1-0AB6F728B7F7}"/>
              </a:ext>
            </a:extLst>
          </p:cNvPr>
          <p:cNvSpPr txBox="1"/>
          <p:nvPr/>
        </p:nvSpPr>
        <p:spPr>
          <a:xfrm>
            <a:off x="4144723" y="6531680"/>
            <a:ext cx="39703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Kendrick et al., Nat. Commun., 2015, 6, 7918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A7B2605-C9C2-D3E7-B8DC-0FE28EDD4C64}"/>
              </a:ext>
            </a:extLst>
          </p:cNvPr>
          <p:cNvSpPr txBox="1"/>
          <p:nvPr/>
        </p:nvSpPr>
        <p:spPr>
          <a:xfrm>
            <a:off x="9594476" y="4113568"/>
            <a:ext cx="22743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Xie et al. </a:t>
            </a:r>
            <a:r>
              <a:rPr lang="zh-CN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Acc. Chem. Res. 2019, 52, 501−509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23D4F87-9226-C6E9-DAA7-79E0ABFE7D33}"/>
              </a:ext>
            </a:extLst>
          </p:cNvPr>
          <p:cNvSpPr txBox="1"/>
          <p:nvPr/>
        </p:nvSpPr>
        <p:spPr>
          <a:xfrm>
            <a:off x="11615964" y="58965"/>
            <a:ext cx="5651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rgbClr val="5C749B"/>
                </a:solidFill>
              </a:rPr>
              <a:t>1</a:t>
            </a:r>
            <a:endParaRPr lang="zh-CN" altLang="en-US" sz="2200" b="1" dirty="0">
              <a:solidFill>
                <a:srgbClr val="5C749B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2DEC5E9-AA2F-290E-C598-ECC6856C905F}"/>
              </a:ext>
            </a:extLst>
          </p:cNvPr>
          <p:cNvSpPr txBox="1"/>
          <p:nvPr/>
        </p:nvSpPr>
        <p:spPr>
          <a:xfrm>
            <a:off x="9222881" y="768636"/>
            <a:ext cx="27089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  <a:cs typeface="Arial" panose="020B0604020202020204" pitchFamily="34" charset="0"/>
              </a:rPr>
              <a:t> 100 times shorter </a:t>
            </a:r>
            <a:endParaRPr lang="fr-FR" altLang="zh-CN" sz="2000" dirty="0">
              <a:solidFill>
                <a:srgbClr val="C00000"/>
              </a:solidFill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5B6B59-3824-FB34-62F4-D0A71DD3D467}"/>
              </a:ext>
            </a:extLst>
          </p:cNvPr>
          <p:cNvSpPr txBox="1"/>
          <p:nvPr/>
        </p:nvSpPr>
        <p:spPr>
          <a:xfrm>
            <a:off x="203322" y="766910"/>
            <a:ext cx="61367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C00000"/>
                </a:solidFill>
                <a:ea typeface="等线" panose="02010600030101010101" pitchFamily="2" charset="-122"/>
              </a:rPr>
              <a:t>E</a:t>
            </a:r>
            <a:r>
              <a:rPr lang="en-US" altLang="zh-CN" sz="2000" dirty="0">
                <a:solidFill>
                  <a:srgbClr val="C00000"/>
                </a:solidFill>
                <a:effectLst/>
                <a:ea typeface="等线" panose="02010600030101010101" pitchFamily="2" charset="-122"/>
              </a:rPr>
              <a:t>nhancing the forward scattering </a:t>
            </a:r>
            <a:endParaRPr lang="zh-CN" altLang="en-US" sz="2000" dirty="0">
              <a:solidFill>
                <a:srgbClr val="C00000"/>
              </a:solidFill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065F8FA-B644-0CFD-7FE2-8E3311B2B333}"/>
              </a:ext>
            </a:extLst>
          </p:cNvPr>
          <p:cNvGrpSpPr/>
          <p:nvPr/>
        </p:nvGrpSpPr>
        <p:grpSpPr>
          <a:xfrm>
            <a:off x="487364" y="1288011"/>
            <a:ext cx="2553075" cy="5258024"/>
            <a:chOff x="487364" y="1288011"/>
            <a:chExt cx="2553075" cy="5258024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0E2642A2-6595-475F-564E-B5E567DF1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87364" y="3429000"/>
              <a:ext cx="2518195" cy="3117035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CE4E1439-381D-3E6C-649B-AF436AC54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25228" y="1288011"/>
              <a:ext cx="2415211" cy="2126389"/>
            </a:xfrm>
            <a:prstGeom prst="rect">
              <a:avLst/>
            </a:prstGeom>
          </p:spPr>
        </p:pic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E2AF30D2-87C4-1FEA-B411-2B4D684CCAD4}"/>
                </a:ext>
              </a:extLst>
            </p:cNvPr>
            <p:cNvSpPr/>
            <p:nvPr/>
          </p:nvSpPr>
          <p:spPr>
            <a:xfrm>
              <a:off x="2814399" y="2016110"/>
              <a:ext cx="130628" cy="2044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66FB209-73CE-C70D-F42F-E16A507393EA}"/>
                </a:ext>
              </a:extLst>
            </p:cNvPr>
            <p:cNvSpPr/>
            <p:nvPr/>
          </p:nvSpPr>
          <p:spPr>
            <a:xfrm>
              <a:off x="937933" y="3677962"/>
              <a:ext cx="261748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4C8D149-493E-E4F9-4D6D-5E375CCAB2EB}"/>
                </a:ext>
              </a:extLst>
            </p:cNvPr>
            <p:cNvSpPr/>
            <p:nvPr/>
          </p:nvSpPr>
          <p:spPr>
            <a:xfrm>
              <a:off x="933559" y="4973328"/>
              <a:ext cx="261748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1B073C94-2432-9BFE-B686-59D636AD7A76}"/>
              </a:ext>
            </a:extLst>
          </p:cNvPr>
          <p:cNvSpPr/>
          <p:nvPr/>
        </p:nvSpPr>
        <p:spPr>
          <a:xfrm>
            <a:off x="4527061" y="1165699"/>
            <a:ext cx="261748" cy="2304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A5E6435-B5C4-A5BD-F09C-F198A3C1A1EE}"/>
              </a:ext>
            </a:extLst>
          </p:cNvPr>
          <p:cNvSpPr txBox="1"/>
          <p:nvPr/>
        </p:nvSpPr>
        <p:spPr>
          <a:xfrm>
            <a:off x="4260069" y="762682"/>
            <a:ext cx="46444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000" dirty="0">
                <a:solidFill>
                  <a:srgbClr val="C00000"/>
                </a:solidFill>
              </a:rPr>
              <a:t>Suppressing </a:t>
            </a:r>
            <a:r>
              <a:rPr lang="zh-CN" altLang="en-US" sz="2000" dirty="0">
                <a:solidFill>
                  <a:srgbClr val="C00000"/>
                </a:solidFill>
              </a:rPr>
              <a:t>or </a:t>
            </a:r>
            <a:r>
              <a:rPr lang="en-US" altLang="zh-CN" sz="2000" dirty="0">
                <a:solidFill>
                  <a:srgbClr val="C00000"/>
                </a:solidFill>
                <a:effectLst/>
                <a:ea typeface="等线" panose="02010600030101010101" pitchFamily="2" charset="-122"/>
              </a:rPr>
              <a:t>enhancing </a:t>
            </a:r>
            <a:r>
              <a:rPr lang="zh-CN" altLang="en-US" sz="2000" dirty="0">
                <a:solidFill>
                  <a:srgbClr val="C00000"/>
                </a:solidFill>
              </a:rPr>
              <a:t>the reaction rates by nearly two orders of magnitude.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575CC5AB-695C-ECA8-F03E-7B1FDF994F31}"/>
              </a:ext>
            </a:extLst>
          </p:cNvPr>
          <p:cNvGrpSpPr/>
          <p:nvPr/>
        </p:nvGrpSpPr>
        <p:grpSpPr>
          <a:xfrm>
            <a:off x="3282997" y="1390791"/>
            <a:ext cx="6039226" cy="5075247"/>
            <a:chOff x="3282997" y="1357171"/>
            <a:chExt cx="6039226" cy="5075247"/>
          </a:xfrm>
        </p:grpSpPr>
        <p:pic>
          <p:nvPicPr>
            <p:cNvPr id="2" name="Picture 9">
              <a:extLst>
                <a:ext uri="{FF2B5EF4-FFF2-40B4-BE49-F238E27FC236}">
                  <a16:creationId xmlns:a16="http://schemas.microsoft.com/office/drawing/2014/main" id="{00339FFD-7CB6-F025-E549-65CC9BC49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56482" y="1494584"/>
              <a:ext cx="3352221" cy="2583216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DB00D71C-A39D-A549-A749-1B7788AD071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317534" y="3984418"/>
              <a:ext cx="3361079" cy="2448000"/>
            </a:xfrm>
            <a:prstGeom prst="rect">
              <a:avLst/>
            </a:prstGeom>
          </p:spPr>
        </p:pic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5957C6D-7951-38EB-9EBF-74D75B3C3749}"/>
                </a:ext>
              </a:extLst>
            </p:cNvPr>
            <p:cNvSpPr/>
            <p:nvPr/>
          </p:nvSpPr>
          <p:spPr>
            <a:xfrm>
              <a:off x="3282997" y="3987961"/>
              <a:ext cx="261748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59AB1DA9-8433-BF4E-5017-042FD8CE5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44533" y="3965062"/>
              <a:ext cx="2677690" cy="2448000"/>
            </a:xfrm>
            <a:prstGeom prst="rect">
              <a:avLst/>
            </a:prstGeom>
          </p:spPr>
        </p:pic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2189F910-1037-8B5D-C0F3-417909A32B9D}"/>
                </a:ext>
              </a:extLst>
            </p:cNvPr>
            <p:cNvSpPr/>
            <p:nvPr/>
          </p:nvSpPr>
          <p:spPr>
            <a:xfrm>
              <a:off x="6582276" y="4032450"/>
              <a:ext cx="130874" cy="186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AD7F965C-48D0-8A9D-AD5A-78C22BE9C534}"/>
                </a:ext>
              </a:extLst>
            </p:cNvPr>
            <p:cNvSpPr/>
            <p:nvPr/>
          </p:nvSpPr>
          <p:spPr>
            <a:xfrm>
              <a:off x="4764832" y="1357171"/>
              <a:ext cx="261748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00606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EAE62-5E0D-9DF3-18CC-41271EBE6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2736CBE-8DD0-654E-770B-694C3CA5635B}"/>
              </a:ext>
            </a:extLst>
          </p:cNvPr>
          <p:cNvSpPr txBox="1"/>
          <p:nvPr/>
        </p:nvSpPr>
        <p:spPr>
          <a:xfrm>
            <a:off x="10886" y="58965"/>
            <a:ext cx="110471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dirty="0"/>
              <a:t>The geometric phase effect arises from the sign change of the adiabatic electronic wave function along a closed loop around a conical intersection.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E73000C-47DA-7002-CF4D-6655E9484D0F}"/>
              </a:ext>
            </a:extLst>
          </p:cNvPr>
          <p:cNvSpPr txBox="1"/>
          <p:nvPr/>
        </p:nvSpPr>
        <p:spPr>
          <a:xfrm>
            <a:off x="11615964" y="58965"/>
            <a:ext cx="5651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rgbClr val="5C749B"/>
                </a:solidFill>
              </a:rPr>
              <a:t>2</a:t>
            </a:r>
            <a:endParaRPr lang="zh-CN" altLang="en-US" sz="2200" b="1" dirty="0">
              <a:solidFill>
                <a:srgbClr val="5C749B"/>
              </a:solidFill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8E84971A-0F0C-141D-0F92-FD29C9C24367}"/>
              </a:ext>
            </a:extLst>
          </p:cNvPr>
          <p:cNvGrpSpPr/>
          <p:nvPr/>
        </p:nvGrpSpPr>
        <p:grpSpPr>
          <a:xfrm>
            <a:off x="1372723" y="1275183"/>
            <a:ext cx="5116074" cy="4935201"/>
            <a:chOff x="374650" y="2175409"/>
            <a:chExt cx="4037236" cy="4100985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B5B7D4ED-4867-5450-CCD5-1538E03A9979}"/>
                </a:ext>
              </a:extLst>
            </p:cNvPr>
            <p:cNvGrpSpPr/>
            <p:nvPr/>
          </p:nvGrpSpPr>
          <p:grpSpPr>
            <a:xfrm>
              <a:off x="374650" y="2175409"/>
              <a:ext cx="4037236" cy="4100985"/>
              <a:chOff x="560614" y="604837"/>
              <a:chExt cx="5940741" cy="5876918"/>
            </a:xfrm>
          </p:grpSpPr>
          <p:pic>
            <p:nvPicPr>
              <p:cNvPr id="12" name="Picture 2" descr="Fig. 1">
                <a:extLst>
                  <a:ext uri="{FF2B5EF4-FFF2-40B4-BE49-F238E27FC236}">
                    <a16:creationId xmlns:a16="http://schemas.microsoft.com/office/drawing/2014/main" id="{054B3320-6980-5D74-57B1-87475E2B44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" r="51274"/>
              <a:stretch/>
            </p:blipFill>
            <p:spPr bwMode="auto">
              <a:xfrm>
                <a:off x="560615" y="604837"/>
                <a:ext cx="5940740" cy="58769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A199604-FBF3-36E8-9845-3CF5835A9F08}"/>
                  </a:ext>
                </a:extLst>
              </p:cNvPr>
              <p:cNvSpPr/>
              <p:nvPr/>
            </p:nvSpPr>
            <p:spPr>
              <a:xfrm>
                <a:off x="604157" y="1015091"/>
                <a:ext cx="348342" cy="299357"/>
              </a:xfrm>
              <a:prstGeom prst="rect">
                <a:avLst/>
              </a:prstGeom>
              <a:solidFill>
                <a:srgbClr val="EDF0F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E5B81DA4-A79C-BA67-1266-232A5C90EADC}"/>
                  </a:ext>
                </a:extLst>
              </p:cNvPr>
              <p:cNvSpPr/>
              <p:nvPr/>
            </p:nvSpPr>
            <p:spPr>
              <a:xfrm>
                <a:off x="560614" y="3279322"/>
                <a:ext cx="348342" cy="299357"/>
              </a:xfrm>
              <a:prstGeom prst="rect">
                <a:avLst/>
              </a:prstGeom>
              <a:solidFill>
                <a:srgbClr val="EDF0F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8ED3B49-BABD-81C8-74CE-82803F715E3C}"/>
                </a:ext>
              </a:extLst>
            </p:cNvPr>
            <p:cNvSpPr/>
            <p:nvPr/>
          </p:nvSpPr>
          <p:spPr>
            <a:xfrm>
              <a:off x="2461641" y="2486304"/>
              <a:ext cx="236728" cy="208895"/>
            </a:xfrm>
            <a:prstGeom prst="rect">
              <a:avLst/>
            </a:prstGeom>
            <a:solidFill>
              <a:srgbClr val="EDF0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0999432-6B71-1463-7020-CF6DB96ED328}"/>
                </a:ext>
              </a:extLst>
            </p:cNvPr>
            <p:cNvSpPr/>
            <p:nvPr/>
          </p:nvSpPr>
          <p:spPr>
            <a:xfrm>
              <a:off x="2457450" y="4066312"/>
              <a:ext cx="236728" cy="208895"/>
            </a:xfrm>
            <a:prstGeom prst="rect">
              <a:avLst/>
            </a:prstGeom>
            <a:solidFill>
              <a:srgbClr val="EDF0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70E3F5A0-C526-C7B0-028F-19286309670E}"/>
              </a:ext>
            </a:extLst>
          </p:cNvPr>
          <p:cNvSpPr txBox="1"/>
          <p:nvPr/>
        </p:nvSpPr>
        <p:spPr>
          <a:xfrm>
            <a:off x="1155637" y="6265826"/>
            <a:ext cx="56527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altLang="zh-CN" dirty="0">
                <a:solidFill>
                  <a:srgbClr val="222222"/>
                </a:solidFill>
                <a:effectLst/>
              </a:rPr>
              <a:t>C. H. </a:t>
            </a:r>
            <a:r>
              <a:rPr lang="en-US" altLang="zh-CN" dirty="0" err="1">
                <a:solidFill>
                  <a:srgbClr val="222222"/>
                </a:solidFill>
                <a:effectLst/>
              </a:rPr>
              <a:t>Valahu</a:t>
            </a:r>
            <a:r>
              <a:rPr lang="en-US" altLang="zh-CN" dirty="0">
                <a:solidFill>
                  <a:srgbClr val="222222"/>
                </a:solidFill>
                <a:effectLst/>
              </a:rPr>
              <a:t>, et al. Nat. Chem. 2023, 15, 1503–1508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A08512D-1E28-B9F8-D29E-E747A4732014}"/>
              </a:ext>
            </a:extLst>
          </p:cNvPr>
          <p:cNvSpPr txBox="1"/>
          <p:nvPr/>
        </p:nvSpPr>
        <p:spPr>
          <a:xfrm>
            <a:off x="7108062" y="4201056"/>
            <a:ext cx="37589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n-US" altLang="zh-CN" sz="2400" i="0" dirty="0">
                <a:solidFill>
                  <a:srgbClr val="222222"/>
                </a:solidFill>
                <a:effectLst/>
              </a:rPr>
              <a:t>Destructive interference of nuclear wave packet.</a:t>
            </a:r>
          </a:p>
        </p:txBody>
      </p:sp>
      <p:pic>
        <p:nvPicPr>
          <p:cNvPr id="19" name="Picture 5">
            <a:extLst>
              <a:ext uri="{FF2B5EF4-FFF2-40B4-BE49-F238E27FC236}">
                <a16:creationId xmlns:a16="http://schemas.microsoft.com/office/drawing/2014/main" id="{DDDD346C-CFCA-D8D1-409B-440A9346FB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364" y="2499093"/>
            <a:ext cx="3590925" cy="685800"/>
          </a:xfrm>
          <a:prstGeom prst="rect">
            <a:avLst/>
          </a:prstGeom>
        </p:spPr>
      </p:pic>
      <p:pic>
        <p:nvPicPr>
          <p:cNvPr id="20" name="Picture 1">
            <a:extLst>
              <a:ext uri="{FF2B5EF4-FFF2-40B4-BE49-F238E27FC236}">
                <a16:creationId xmlns:a16="http://schemas.microsoft.com/office/drawing/2014/main" id="{83936745-70E3-F14E-2E9F-C5B25DD2182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18149" y="1411714"/>
            <a:ext cx="1028700" cy="352425"/>
          </a:xfrm>
          <a:prstGeom prst="rect">
            <a:avLst/>
          </a:prstGeom>
        </p:spPr>
      </p:pic>
      <p:sp>
        <p:nvSpPr>
          <p:cNvPr id="21" name="Rectangles 14">
            <a:extLst>
              <a:ext uri="{FF2B5EF4-FFF2-40B4-BE49-F238E27FC236}">
                <a16:creationId xmlns:a16="http://schemas.microsoft.com/office/drawing/2014/main" id="{4EBC441F-7120-1D8B-AAE0-472C751CE886}"/>
              </a:ext>
            </a:extLst>
          </p:cNvPr>
          <p:cNvSpPr/>
          <p:nvPr/>
        </p:nvSpPr>
        <p:spPr>
          <a:xfrm>
            <a:off x="7532729" y="2499093"/>
            <a:ext cx="1214120" cy="1082040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  <a:p>
            <a:pPr algn="ctr"/>
            <a:r>
              <a:rPr lang="en-US">
                <a:solidFill>
                  <a:schemeClr val="tx1"/>
                </a:solidFill>
              </a:rPr>
              <a:t>single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valued</a:t>
            </a:r>
          </a:p>
        </p:txBody>
      </p:sp>
      <p:sp>
        <p:nvSpPr>
          <p:cNvPr id="22" name="Curved Up Arrow 17">
            <a:extLst>
              <a:ext uri="{FF2B5EF4-FFF2-40B4-BE49-F238E27FC236}">
                <a16:creationId xmlns:a16="http://schemas.microsoft.com/office/drawing/2014/main" id="{E57256F5-3E09-3ABF-B916-77D01341B691}"/>
              </a:ext>
            </a:extLst>
          </p:cNvPr>
          <p:cNvSpPr/>
          <p:nvPr/>
        </p:nvSpPr>
        <p:spPr>
          <a:xfrm rot="10800000" flipH="1">
            <a:off x="5535136" y="1807955"/>
            <a:ext cx="4398855" cy="662940"/>
          </a:xfrm>
          <a:prstGeom prst="curvedUpArrow">
            <a:avLst/>
          </a:prstGeom>
          <a:solidFill>
            <a:srgbClr val="004990">
              <a:alpha val="27000"/>
            </a:srgbClr>
          </a:solidFill>
          <a:ln>
            <a:solidFill>
              <a:srgbClr val="0049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ectangles 18">
            <a:extLst>
              <a:ext uri="{FF2B5EF4-FFF2-40B4-BE49-F238E27FC236}">
                <a16:creationId xmlns:a16="http://schemas.microsoft.com/office/drawing/2014/main" id="{241DBC9F-69B1-F0FA-34BB-5409D64CF13B}"/>
              </a:ext>
            </a:extLst>
          </p:cNvPr>
          <p:cNvSpPr/>
          <p:nvPr/>
        </p:nvSpPr>
        <p:spPr>
          <a:xfrm>
            <a:off x="9311273" y="2495283"/>
            <a:ext cx="941796" cy="1085850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change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sign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9418AC7-E7E3-47EB-EC35-490C858E6EE3}"/>
              </a:ext>
            </a:extLst>
          </p:cNvPr>
          <p:cNvSpPr/>
          <p:nvPr/>
        </p:nvSpPr>
        <p:spPr>
          <a:xfrm>
            <a:off x="1" y="883557"/>
            <a:ext cx="12192000" cy="36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10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D35CACEE-1596-7D26-971A-B8FDA1EED1AE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5436637" y="4616555"/>
            <a:ext cx="1671425" cy="14336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81BB2DC8-ECF5-8B7F-DF7F-47D146F321C5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5741437" y="3038208"/>
            <a:ext cx="1366625" cy="157834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0443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693D77A-27AA-C9DB-1E6F-6B24DC2CEC7F}"/>
              </a:ext>
            </a:extLst>
          </p:cNvPr>
          <p:cNvSpPr txBox="1"/>
          <p:nvPr/>
        </p:nvSpPr>
        <p:spPr>
          <a:xfrm>
            <a:off x="10886" y="58965"/>
            <a:ext cx="121756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dirty="0"/>
              <a:t>Challenges of conventional approaches to capture geometric phase effect.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C56C5F7-9B44-325F-0206-5B1A33B01E58}"/>
              </a:ext>
            </a:extLst>
          </p:cNvPr>
          <p:cNvSpPr txBox="1"/>
          <p:nvPr/>
        </p:nvSpPr>
        <p:spPr>
          <a:xfrm>
            <a:off x="11615964" y="58965"/>
            <a:ext cx="5651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rgbClr val="5C749B"/>
                </a:solidFill>
              </a:rPr>
              <a:t>3</a:t>
            </a:r>
            <a:endParaRPr lang="zh-CN" altLang="en-US" sz="2200" b="1" dirty="0">
              <a:solidFill>
                <a:srgbClr val="5C749B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50B875-3CD9-6822-D00D-60A92A991B33}"/>
              </a:ext>
            </a:extLst>
          </p:cNvPr>
          <p:cNvSpPr/>
          <p:nvPr/>
        </p:nvSpPr>
        <p:spPr>
          <a:xfrm>
            <a:off x="1" y="540657"/>
            <a:ext cx="12192000" cy="36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10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DE3202AC-A763-2895-DBEE-2732883E11C9}"/>
              </a:ext>
            </a:extLst>
          </p:cNvPr>
          <p:cNvSpPr txBox="1"/>
          <p:nvPr/>
        </p:nvSpPr>
        <p:spPr>
          <a:xfrm>
            <a:off x="1055298" y="2668927"/>
            <a:ext cx="414591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dirty="0"/>
              <a:t>Vector potential: </a:t>
            </a:r>
            <a:r>
              <a:rPr lang="en-US" sz="2000" i="1" dirty="0"/>
              <a:t>A</a:t>
            </a:r>
            <a:r>
              <a:rPr lang="en-US" sz="2000" i="1" baseline="-25000" dirty="0"/>
              <a:t>n</a:t>
            </a:r>
            <a:r>
              <a:rPr lang="en-US" sz="2000" dirty="0"/>
              <a:t>(</a:t>
            </a:r>
            <a:r>
              <a:rPr lang="en-US" sz="2000" b="1" dirty="0"/>
              <a:t>R</a:t>
            </a:r>
            <a:r>
              <a:rPr lang="en-US" sz="2000" dirty="0"/>
              <a:t>)</a:t>
            </a:r>
          </a:p>
        </p:txBody>
      </p:sp>
      <p:sp>
        <p:nvSpPr>
          <p:cNvPr id="17" name="Text Box 5">
            <a:extLst>
              <a:ext uri="{FF2B5EF4-FFF2-40B4-BE49-F238E27FC236}">
                <a16:creationId xmlns:a16="http://schemas.microsoft.com/office/drawing/2014/main" id="{AA7E279F-E55C-DD47-3DF2-95966E40FE69}"/>
              </a:ext>
            </a:extLst>
          </p:cNvPr>
          <p:cNvSpPr txBox="1"/>
          <p:nvPr/>
        </p:nvSpPr>
        <p:spPr>
          <a:xfrm>
            <a:off x="711915" y="771688"/>
            <a:ext cx="3337773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sz="2000" dirty="0">
                <a:sym typeface="+mn-ea"/>
              </a:rPr>
              <a:t>adiabatic representation:</a:t>
            </a:r>
            <a:endParaRPr lang="en-US" sz="2000" dirty="0"/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337E1630-86CE-CFFF-55D0-12E214C5778C}"/>
              </a:ext>
            </a:extLst>
          </p:cNvPr>
          <p:cNvSpPr txBox="1"/>
          <p:nvPr/>
        </p:nvSpPr>
        <p:spPr>
          <a:xfrm>
            <a:off x="759181" y="5544321"/>
            <a:ext cx="4692101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Divergence of vector potential and derivative coupling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Locate conical intersection seam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2560B653-DB26-15BD-EA04-BAF41CB06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068" y="1144606"/>
            <a:ext cx="4052876" cy="1403101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E9D35A65-0331-F987-25A4-F1648457B7C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74598" y="3092519"/>
            <a:ext cx="2457202" cy="2479500"/>
          </a:xfrm>
          <a:prstGeom prst="rect">
            <a:avLst/>
          </a:prstGeom>
        </p:spPr>
      </p:pic>
      <p:sp>
        <p:nvSpPr>
          <p:cNvPr id="3" name="Text Box 6">
            <a:extLst>
              <a:ext uri="{FF2B5EF4-FFF2-40B4-BE49-F238E27FC236}">
                <a16:creationId xmlns:a16="http://schemas.microsoft.com/office/drawing/2014/main" id="{33A0DBF1-D3A6-FCED-1466-370C495F46DC}"/>
              </a:ext>
            </a:extLst>
          </p:cNvPr>
          <p:cNvSpPr txBox="1"/>
          <p:nvPr/>
        </p:nvSpPr>
        <p:spPr>
          <a:xfrm>
            <a:off x="6361694" y="771688"/>
            <a:ext cx="3238387" cy="4001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sz="2000" dirty="0">
                <a:sym typeface="+mn-ea"/>
              </a:rPr>
              <a:t>Diabatic representation:</a:t>
            </a:r>
            <a:endParaRPr lang="en-US" sz="2000" dirty="0"/>
          </a:p>
        </p:txBody>
      </p:sp>
      <p:sp>
        <p:nvSpPr>
          <p:cNvPr id="5" name="Text Box 20">
            <a:extLst>
              <a:ext uri="{FF2B5EF4-FFF2-40B4-BE49-F238E27FC236}">
                <a16:creationId xmlns:a16="http://schemas.microsoft.com/office/drawing/2014/main" id="{91F90E77-B847-10CA-6DAB-6D36C05A86BB}"/>
              </a:ext>
            </a:extLst>
          </p:cNvPr>
          <p:cNvSpPr txBox="1"/>
          <p:nvPr/>
        </p:nvSpPr>
        <p:spPr>
          <a:xfrm>
            <a:off x="6515045" y="4521773"/>
            <a:ext cx="4272316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ym typeface="+mn-ea"/>
              </a:rPr>
              <a:t>Numerically infeasible for multi-atomic systems</a:t>
            </a:r>
          </a:p>
        </p:txBody>
      </p:sp>
      <p:pic>
        <p:nvPicPr>
          <p:cNvPr id="6" name="Picture 22">
            <a:extLst>
              <a:ext uri="{FF2B5EF4-FFF2-40B4-BE49-F238E27FC236}">
                <a16:creationId xmlns:a16="http://schemas.microsoft.com/office/drawing/2014/main" id="{DFF55E05-5763-B3AE-8CFA-9C4B68F381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6154" y="2033462"/>
            <a:ext cx="2903099" cy="2479501"/>
          </a:xfrm>
          <a:prstGeom prst="rect">
            <a:avLst/>
          </a:prstGeom>
        </p:spPr>
      </p:pic>
      <p:sp>
        <p:nvSpPr>
          <p:cNvPr id="7" name="Text Box 17">
            <a:extLst>
              <a:ext uri="{FF2B5EF4-FFF2-40B4-BE49-F238E27FC236}">
                <a16:creationId xmlns:a16="http://schemas.microsoft.com/office/drawing/2014/main" id="{54B8AD48-323F-FBEF-F721-D11A7285AE67}"/>
              </a:ext>
            </a:extLst>
          </p:cNvPr>
          <p:cNvSpPr txBox="1"/>
          <p:nvPr/>
        </p:nvSpPr>
        <p:spPr>
          <a:xfrm>
            <a:off x="6740720" y="6036764"/>
            <a:ext cx="4746869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dirty="0">
                <a:sym typeface="+mn-ea"/>
              </a:rPr>
              <a:t>Xie et al., J. Chem. Theory </a:t>
            </a:r>
            <a:r>
              <a:rPr lang="en-US" sz="1400" dirty="0" err="1">
                <a:sym typeface="+mn-ea"/>
              </a:rPr>
              <a:t>Comput</a:t>
            </a:r>
            <a:r>
              <a:rPr lang="en-US" sz="1400" dirty="0">
                <a:sym typeface="+mn-ea"/>
              </a:rPr>
              <a:t>. 2017, 13, 1902−1910</a:t>
            </a:r>
          </a:p>
          <a:p>
            <a:r>
              <a:rPr lang="en-US" sz="1400" dirty="0"/>
              <a:t>Mead et al., J. Chem. Phys. 1979, 70, 2284−2296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99BB495-E676-AF53-B24D-11F20BFB4B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5627" y="1252485"/>
            <a:ext cx="3852961" cy="65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942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B6C6761-8FAB-DC46-F3D9-561C373C69E7}"/>
              </a:ext>
            </a:extLst>
          </p:cNvPr>
          <p:cNvSpPr txBox="1"/>
          <p:nvPr/>
        </p:nvSpPr>
        <p:spPr>
          <a:xfrm>
            <a:off x="10886" y="58965"/>
            <a:ext cx="114844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dirty="0"/>
              <a:t>The local diabatic representation (LDR) provides a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divergence-free framework for capturing geometric phase effect.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2C199D-5947-54C0-B7CB-7CB42B6D3F53}"/>
              </a:ext>
            </a:extLst>
          </p:cNvPr>
          <p:cNvSpPr/>
          <p:nvPr/>
        </p:nvSpPr>
        <p:spPr>
          <a:xfrm>
            <a:off x="1" y="883557"/>
            <a:ext cx="12192000" cy="36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10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8D34C9E-AEDB-44B3-C436-BDFF9F39A505}"/>
              </a:ext>
            </a:extLst>
          </p:cNvPr>
          <p:cNvSpPr txBox="1"/>
          <p:nvPr/>
        </p:nvSpPr>
        <p:spPr>
          <a:xfrm>
            <a:off x="11615964" y="58965"/>
            <a:ext cx="5651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rgbClr val="5C749B"/>
                </a:solidFill>
              </a:rPr>
              <a:t>4</a:t>
            </a:r>
            <a:endParaRPr lang="zh-CN" altLang="en-US" sz="2200" b="1" dirty="0">
              <a:solidFill>
                <a:srgbClr val="5C749B"/>
              </a:solidFill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40049B8-51AD-2E61-C927-2A54ABE96C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1875" b="73434"/>
          <a:stretch/>
        </p:blipFill>
        <p:spPr>
          <a:xfrm>
            <a:off x="294244" y="1996585"/>
            <a:ext cx="1818781" cy="49256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7902460-A6D6-EAA3-BD39-18785F2ABE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25" t="52725" r="-1"/>
          <a:stretch/>
        </p:blipFill>
        <p:spPr>
          <a:xfrm>
            <a:off x="2163247" y="1927143"/>
            <a:ext cx="4557538" cy="87653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0DC0560-2CF3-84BC-4F66-19E972F93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965" y="4779112"/>
            <a:ext cx="6934899" cy="88284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9BA12E8-36D7-26A5-087F-BD9851D4B6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9864" y="1946193"/>
            <a:ext cx="4762500" cy="882844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835B320D-B374-6C67-A996-ECEDCD3FAE36}"/>
              </a:ext>
            </a:extLst>
          </p:cNvPr>
          <p:cNvSpPr txBox="1"/>
          <p:nvPr/>
        </p:nvSpPr>
        <p:spPr>
          <a:xfrm>
            <a:off x="228599" y="1340904"/>
            <a:ext cx="2324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400" dirty="0"/>
              <a:t>LDR</a:t>
            </a:r>
            <a:endParaRPr lang="zh-CN" altLang="en-US" sz="24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2D3F0FD-23F6-7236-7072-8516168662F2}"/>
              </a:ext>
            </a:extLst>
          </p:cNvPr>
          <p:cNvSpPr txBox="1"/>
          <p:nvPr/>
        </p:nvSpPr>
        <p:spPr>
          <a:xfrm>
            <a:off x="7194549" y="1340904"/>
            <a:ext cx="4013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400" dirty="0"/>
              <a:t>Born-Huang expansion</a:t>
            </a:r>
            <a:endParaRPr lang="zh-CN" altLang="en-US" sz="2400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CBA32B3-E8EA-7A8B-C3BB-865A64AC0E5B}"/>
              </a:ext>
            </a:extLst>
          </p:cNvPr>
          <p:cNvSpPr/>
          <p:nvPr/>
        </p:nvSpPr>
        <p:spPr>
          <a:xfrm>
            <a:off x="4810125" y="1957331"/>
            <a:ext cx="432000" cy="5334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C3AABFD-5E5E-9BF2-A26C-51FC2C7F5CF2}"/>
              </a:ext>
            </a:extLst>
          </p:cNvPr>
          <p:cNvSpPr/>
          <p:nvPr/>
        </p:nvSpPr>
        <p:spPr>
          <a:xfrm>
            <a:off x="10453053" y="1971066"/>
            <a:ext cx="360000" cy="5334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C944391-A11B-CFE0-0AE4-6F047DB6E901}"/>
                  </a:ext>
                </a:extLst>
              </p:cNvPr>
              <p:cNvSpPr txBox="1"/>
              <p:nvPr/>
            </p:nvSpPr>
            <p:spPr>
              <a:xfrm>
                <a:off x="294244" y="2903715"/>
                <a:ext cx="939585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d>
                      <m:dPr>
                        <m:ctrlPr>
                          <a:rPr lang="en-US" altLang="zh-CN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𝐫</m:t>
                        </m:r>
                        <m:r>
                          <a:rPr lang="en-US" altLang="zh-CN" sz="2400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zh-CN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𝐑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>
                    <a:ea typeface="+mj-ea"/>
                    <a:cs typeface="Arial" panose="020B0604020202020204" pitchFamily="34" charset="0"/>
                  </a:rPr>
                  <a:t>: </a:t>
                </a:r>
                <a:r>
                  <a:rPr lang="en-US" altLang="zh-CN" sz="2400" b="1" dirty="0">
                    <a:latin typeface="Helvetica" pitchFamily="2" charset="0"/>
                  </a:rPr>
                  <a:t>adiabatic</a:t>
                </a:r>
                <a:r>
                  <a:rPr lang="zh-CN" altLang="en-US" sz="2400" dirty="0">
                    <a:latin typeface="Helvetica" pitchFamily="2" charset="0"/>
                  </a:rPr>
                  <a:t> </a:t>
                </a:r>
                <a:r>
                  <a:rPr lang="en-US" altLang="zh-CN" sz="2400" dirty="0">
                    <a:latin typeface="Helvetica" pitchFamily="2" charset="0"/>
                  </a:rPr>
                  <a:t>electronic states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>
                            <a:latin typeface="Cambria Math" panose="02040503050406030204" pitchFamily="18" charset="0"/>
                          </a:rPr>
                          <m:t>𝐑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Helvetica" pitchFamily="2" charset="0"/>
                  </a:rPr>
                  <a:t> </a:t>
                </a:r>
              </a:p>
              <a:p>
                <a:r>
                  <a:rPr lang="en-US" altLang="zh-CN" sz="2400" dirty="0">
                    <a:latin typeface="Helvetica" pitchFamily="2" charset="0"/>
                    <a:ea typeface="+mj-ea"/>
                    <a:cs typeface="Arial" panose="020B0604020202020204" pitchFamily="34" charset="0"/>
                  </a:rPr>
                  <a:t>                  </a:t>
                </a:r>
                <a:r>
                  <a:rPr lang="en-US" altLang="zh-CN" sz="2400" dirty="0">
                    <a:ea typeface="+mj-ea"/>
                    <a:cs typeface="Arial" panose="020B0604020202020204" pitchFamily="34" charset="0"/>
                  </a:rPr>
                  <a:t>remove</a:t>
                </a:r>
                <a:r>
                  <a:rPr lang="zh-CN" altLang="en-US" sz="2400" dirty="0">
                    <a:ea typeface="+mj-ea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ea typeface="+mj-ea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ea typeface="+mj-ea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ea typeface="+mj-ea"/>
                    <a:cs typeface="Arial" panose="020B0604020202020204" pitchFamily="34" charset="0"/>
                  </a:rPr>
                  <a:t>nuclear</a:t>
                </a:r>
                <a:r>
                  <a:rPr lang="zh-CN" altLang="en-US" sz="2400" dirty="0">
                    <a:ea typeface="+mj-ea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ea typeface="+mj-ea"/>
                    <a:cs typeface="Arial" panose="020B0604020202020204" pitchFamily="34" charset="0"/>
                  </a:rPr>
                  <a:t>dependence</a:t>
                </a:r>
                <a:r>
                  <a:rPr lang="zh-CN" altLang="en-US" sz="2400" dirty="0">
                    <a:ea typeface="+mj-ea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ea typeface="+mj-ea"/>
                    <a:cs typeface="Arial" panose="020B0604020202020204" pitchFamily="34" charset="0"/>
                  </a:rPr>
                  <a:t>of</a:t>
                </a:r>
                <a:r>
                  <a:rPr lang="zh-CN" altLang="en-US" sz="2400" dirty="0">
                    <a:ea typeface="+mj-ea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ea typeface="+mj-ea"/>
                    <a:cs typeface="Arial" panose="020B0604020202020204" pitchFamily="34" charset="0"/>
                  </a:rPr>
                  <a:t>electronic</a:t>
                </a:r>
                <a:r>
                  <a:rPr lang="zh-CN" altLang="en-US" sz="2400" dirty="0">
                    <a:ea typeface="+mj-ea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ea typeface="+mj-ea"/>
                    <a:cs typeface="Arial" panose="020B0604020202020204" pitchFamily="34" charset="0"/>
                  </a:rPr>
                  <a:t>states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C944391-A11B-CFE0-0AE4-6F047DB6E9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244" y="2903715"/>
                <a:ext cx="9395856" cy="830997"/>
              </a:xfrm>
              <a:prstGeom prst="rect">
                <a:avLst/>
              </a:prstGeom>
              <a:blipFill>
                <a:blip r:embed="rId6"/>
                <a:stretch>
                  <a:fillRect l="-519" t="-5109" b="-160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602262F7-40A1-EBC4-230C-5E4ABEC557AB}"/>
              </a:ext>
            </a:extLst>
          </p:cNvPr>
          <p:cNvSpPr txBox="1"/>
          <p:nvPr/>
        </p:nvSpPr>
        <p:spPr>
          <a:xfrm>
            <a:off x="228599" y="4197650"/>
            <a:ext cx="6130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dirty="0"/>
              <a:t>equation of motion</a:t>
            </a:r>
            <a:r>
              <a:rPr lang="en-US" altLang="zh-CN" sz="2400" dirty="0"/>
              <a:t>: </a:t>
            </a:r>
            <a:r>
              <a:rPr lang="en-US" altLang="zh-CN" sz="2400" b="1" dirty="0"/>
              <a:t>full quantum </a:t>
            </a:r>
            <a:endParaRPr lang="zh-CN" altLang="en-US" sz="2400" b="1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E11FA72-947B-D6DC-C7B5-8ABAB898C101}"/>
              </a:ext>
            </a:extLst>
          </p:cNvPr>
          <p:cNvSpPr/>
          <p:nvPr/>
        </p:nvSpPr>
        <p:spPr>
          <a:xfrm>
            <a:off x="5464175" y="4761996"/>
            <a:ext cx="895348" cy="59718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DD3D2B83-2142-1D03-522D-FC68556F8D2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75520" b="7113"/>
          <a:stretch/>
        </p:blipFill>
        <p:spPr>
          <a:xfrm>
            <a:off x="324965" y="5652163"/>
            <a:ext cx="958072" cy="468151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13D6DB55-7E50-9090-A83A-AD92A2F9C69D}"/>
              </a:ext>
            </a:extLst>
          </p:cNvPr>
          <p:cNvSpPr txBox="1"/>
          <p:nvPr/>
        </p:nvSpPr>
        <p:spPr>
          <a:xfrm>
            <a:off x="1203634" y="5680563"/>
            <a:ext cx="101374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:</a:t>
            </a:r>
            <a:r>
              <a:rPr lang="en-US" altLang="zh-CN" sz="2400" b="1" dirty="0"/>
              <a:t>  Divergence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free. </a:t>
            </a:r>
            <a:r>
              <a:rPr lang="en-US" altLang="zh-CN" sz="2400" dirty="0"/>
              <a:t>Always</a:t>
            </a:r>
            <a:r>
              <a:rPr lang="zh-CN" altLang="en-US" sz="2400" dirty="0"/>
              <a:t> </a:t>
            </a:r>
            <a:r>
              <a:rPr lang="en-US" altLang="zh-CN" sz="2400" dirty="0"/>
              <a:t>bounded</a:t>
            </a:r>
            <a:r>
              <a:rPr lang="zh-CN" altLang="en-US" sz="2400" dirty="0"/>
              <a:t> </a:t>
            </a:r>
            <a:r>
              <a:rPr lang="en-US" altLang="zh-CN" sz="2400" dirty="0"/>
              <a:t>[-1,1] , even at intersections</a:t>
            </a:r>
          </a:p>
        </p:txBody>
      </p:sp>
    </p:spTree>
    <p:extLst>
      <p:ext uri="{BB962C8B-B14F-4D97-AF65-F5344CB8AC3E}">
        <p14:creationId xmlns:p14="http://schemas.microsoft.com/office/powerpoint/2010/main" val="3857652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17BB8-28AC-2153-323E-F26E443A6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4A504F-5F15-D8EA-D618-8A179D601F60}"/>
              </a:ext>
            </a:extLst>
          </p:cNvPr>
          <p:cNvSpPr txBox="1"/>
          <p:nvPr/>
        </p:nvSpPr>
        <p:spPr>
          <a:xfrm>
            <a:off x="10886" y="58965"/>
            <a:ext cx="110317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dirty="0"/>
              <a:t>Geometric phase effect is encoded in the electronic overlap matrix.</a:t>
            </a:r>
            <a:endParaRPr lang="en-CN" altLang="zh-CN" sz="2400" b="1" dirty="0"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32F95730-A0F9-EB78-2144-E4111D2AA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36" y="4783937"/>
            <a:ext cx="3759112" cy="484096"/>
          </a:xfrm>
          <a:prstGeom prst="rect">
            <a:avLst/>
          </a:prstGeom>
        </p:spPr>
      </p:pic>
      <p:sp>
        <p:nvSpPr>
          <p:cNvPr id="46" name="TextBox 8">
            <a:extLst>
              <a:ext uri="{FF2B5EF4-FFF2-40B4-BE49-F238E27FC236}">
                <a16:creationId xmlns:a16="http://schemas.microsoft.com/office/drawing/2014/main" id="{A51DF243-C0F9-E097-6B76-54F66C074E07}"/>
              </a:ext>
            </a:extLst>
          </p:cNvPr>
          <p:cNvSpPr txBox="1"/>
          <p:nvPr/>
        </p:nvSpPr>
        <p:spPr>
          <a:xfrm>
            <a:off x="807722" y="5319773"/>
            <a:ext cx="41548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Topology of electronic states </a:t>
            </a:r>
            <a:endParaRPr lang="en-CN" sz="2400" dirty="0"/>
          </a:p>
        </p:txBody>
      </p:sp>
      <p:cxnSp>
        <p:nvCxnSpPr>
          <p:cNvPr id="47" name="Straight Arrow Connector 10">
            <a:extLst>
              <a:ext uri="{FF2B5EF4-FFF2-40B4-BE49-F238E27FC236}">
                <a16:creationId xmlns:a16="http://schemas.microsoft.com/office/drawing/2014/main" id="{666D6C40-54DC-4657-CA16-840A93A3C9A0}"/>
              </a:ext>
            </a:extLst>
          </p:cNvPr>
          <p:cNvCxnSpPr>
            <a:cxnSpLocks/>
          </p:cNvCxnSpPr>
          <p:nvPr/>
        </p:nvCxnSpPr>
        <p:spPr>
          <a:xfrm flipV="1">
            <a:off x="4866025" y="5550605"/>
            <a:ext cx="720000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11">
            <a:extLst>
              <a:ext uri="{FF2B5EF4-FFF2-40B4-BE49-F238E27FC236}">
                <a16:creationId xmlns:a16="http://schemas.microsoft.com/office/drawing/2014/main" id="{29226FA3-87A6-0A6A-61D1-41CE57B195EF}"/>
              </a:ext>
            </a:extLst>
          </p:cNvPr>
          <p:cNvSpPr txBox="1"/>
          <p:nvPr/>
        </p:nvSpPr>
        <p:spPr>
          <a:xfrm>
            <a:off x="5569481" y="5319772"/>
            <a:ext cx="42946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/>
              <a:t>Born-Oppenheimer</a:t>
            </a:r>
            <a:r>
              <a:rPr lang="zh-CN" altLang="en-US" sz="2400" dirty="0"/>
              <a:t> </a:t>
            </a:r>
            <a:r>
              <a:rPr lang="en-US" altLang="zh-CN" sz="2400" dirty="0"/>
              <a:t>dynamics</a:t>
            </a:r>
            <a:endParaRPr lang="en-CN" sz="2400" dirty="0"/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DAFB8E6E-9061-61D7-0CDF-950DBFFDDF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4701"/>
          <a:stretch/>
        </p:blipFill>
        <p:spPr>
          <a:xfrm>
            <a:off x="6800085" y="4783937"/>
            <a:ext cx="1326924" cy="484096"/>
          </a:xfrm>
          <a:prstGeom prst="rect">
            <a:avLst/>
          </a:prstGeom>
        </p:spPr>
      </p:pic>
      <p:sp>
        <p:nvSpPr>
          <p:cNvPr id="50" name="文本框 49">
            <a:extLst>
              <a:ext uri="{FF2B5EF4-FFF2-40B4-BE49-F238E27FC236}">
                <a16:creationId xmlns:a16="http://schemas.microsoft.com/office/drawing/2014/main" id="{F08B2E63-079B-8525-69C2-5EF1F1DCAA03}"/>
              </a:ext>
            </a:extLst>
          </p:cNvPr>
          <p:cNvSpPr txBox="1"/>
          <p:nvPr/>
        </p:nvSpPr>
        <p:spPr>
          <a:xfrm>
            <a:off x="8118946" y="4707975"/>
            <a:ext cx="444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64911E7-172C-BC40-DA81-57A40E5D2D3B}"/>
              </a:ext>
            </a:extLst>
          </p:cNvPr>
          <p:cNvSpPr txBox="1"/>
          <p:nvPr/>
        </p:nvSpPr>
        <p:spPr>
          <a:xfrm>
            <a:off x="434832" y="4259070"/>
            <a:ext cx="61309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400" b="1" dirty="0"/>
              <a:t>LDR and BO dynamics</a:t>
            </a:r>
            <a:endParaRPr lang="en-US" altLang="zh-CN" sz="2400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FE00907-7215-A374-EB1A-F827FECBC597}"/>
              </a:ext>
            </a:extLst>
          </p:cNvPr>
          <p:cNvSpPr txBox="1"/>
          <p:nvPr/>
        </p:nvSpPr>
        <p:spPr>
          <a:xfrm>
            <a:off x="11615964" y="58965"/>
            <a:ext cx="5651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rgbClr val="5C749B"/>
                </a:solidFill>
              </a:rPr>
              <a:t>5</a:t>
            </a:r>
            <a:endParaRPr lang="zh-CN" altLang="en-US" sz="2200" b="1" dirty="0">
              <a:solidFill>
                <a:srgbClr val="5C749B"/>
              </a:solidFill>
            </a:endParaRPr>
          </a:p>
        </p:txBody>
      </p:sp>
      <p:pic>
        <p:nvPicPr>
          <p:cNvPr id="57" name="Picture 22" descr="A_S2_S2">
            <a:extLst>
              <a:ext uri="{FF2B5EF4-FFF2-40B4-BE49-F238E27FC236}">
                <a16:creationId xmlns:a16="http://schemas.microsoft.com/office/drawing/2014/main" id="{33E87207-3DCC-782E-4DA9-4D2D3F40D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5806" y="1292128"/>
            <a:ext cx="4339157" cy="3578061"/>
          </a:xfrm>
          <a:prstGeom prst="rect">
            <a:avLst/>
          </a:prstGeom>
        </p:spPr>
      </p:pic>
      <p:sp>
        <p:nvSpPr>
          <p:cNvPr id="59" name="文本框 58">
            <a:extLst>
              <a:ext uri="{FF2B5EF4-FFF2-40B4-BE49-F238E27FC236}">
                <a16:creationId xmlns:a16="http://schemas.microsoft.com/office/drawing/2014/main" id="{C7B6AB4D-1C85-F9BC-E042-B228A3B05778}"/>
              </a:ext>
            </a:extLst>
          </p:cNvPr>
          <p:cNvSpPr txBox="1"/>
          <p:nvPr/>
        </p:nvSpPr>
        <p:spPr>
          <a:xfrm>
            <a:off x="9441859" y="4443452"/>
            <a:ext cx="527050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sz="24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F3ACF0C-89C2-3A5E-9121-E95D9B0D3B1D}"/>
              </a:ext>
            </a:extLst>
          </p:cNvPr>
          <p:cNvSpPr txBox="1"/>
          <p:nvPr/>
        </p:nvSpPr>
        <p:spPr>
          <a:xfrm>
            <a:off x="7478581" y="2554766"/>
            <a:ext cx="58522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CN" altLang="en-US" sz="2400" i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8">
            <a:extLst>
              <a:ext uri="{FF2B5EF4-FFF2-40B4-BE49-F238E27FC236}">
                <a16:creationId xmlns:a16="http://schemas.microsoft.com/office/drawing/2014/main" id="{7BEB3F8F-1FBB-C6C2-63D6-7FC14ACA9B48}"/>
              </a:ext>
            </a:extLst>
          </p:cNvPr>
          <p:cNvSpPr txBox="1"/>
          <p:nvPr/>
        </p:nvSpPr>
        <p:spPr>
          <a:xfrm>
            <a:off x="433303" y="2294274"/>
            <a:ext cx="3059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en-US" sz="2400" b="1" dirty="0"/>
              <a:t>Geometric phase</a:t>
            </a:r>
            <a:endParaRPr lang="en-CN" sz="2400" b="1" dirty="0"/>
          </a:p>
        </p:txBody>
      </p:sp>
      <p:cxnSp>
        <p:nvCxnSpPr>
          <p:cNvPr id="62" name="Straight Arrow Connector 10">
            <a:extLst>
              <a:ext uri="{FF2B5EF4-FFF2-40B4-BE49-F238E27FC236}">
                <a16:creationId xmlns:a16="http://schemas.microsoft.com/office/drawing/2014/main" id="{16C5FFCA-1689-15BB-D3A6-8F7B89108251}"/>
              </a:ext>
            </a:extLst>
          </p:cNvPr>
          <p:cNvCxnSpPr>
            <a:cxnSpLocks/>
          </p:cNvCxnSpPr>
          <p:nvPr/>
        </p:nvCxnSpPr>
        <p:spPr>
          <a:xfrm flipV="1">
            <a:off x="3452777" y="2525106"/>
            <a:ext cx="720000" cy="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11">
            <a:extLst>
              <a:ext uri="{FF2B5EF4-FFF2-40B4-BE49-F238E27FC236}">
                <a16:creationId xmlns:a16="http://schemas.microsoft.com/office/drawing/2014/main" id="{FEFD521D-2658-C064-1553-59882EE40102}"/>
              </a:ext>
            </a:extLst>
          </p:cNvPr>
          <p:cNvSpPr txBox="1"/>
          <p:nvPr/>
        </p:nvSpPr>
        <p:spPr>
          <a:xfrm>
            <a:off x="4202887" y="2109607"/>
            <a:ext cx="2988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dirty="0"/>
              <a:t>Phase of intrastate overlap matrix </a:t>
            </a:r>
            <a:r>
              <a:rPr lang="en-US" altLang="zh-CN" sz="2400" b="1" dirty="0"/>
              <a:t>A</a:t>
            </a:r>
            <a:r>
              <a:rPr lang="en-US" altLang="zh-CN" sz="2400" i="1" baseline="-25000" dirty="0"/>
              <a:t>m</a:t>
            </a:r>
            <a:r>
              <a:rPr lang="el-GR" altLang="zh-CN" sz="2400" i="1" baseline="-25000" dirty="0"/>
              <a:t>α</a:t>
            </a:r>
            <a:r>
              <a:rPr lang="en-US" altLang="zh-CN" sz="2400" i="1" baseline="-25000" dirty="0"/>
              <a:t>,n</a:t>
            </a:r>
            <a:r>
              <a:rPr lang="el-GR" altLang="zh-CN" sz="2400" i="1" baseline="-25000" dirty="0"/>
              <a:t>α</a:t>
            </a:r>
            <a:endParaRPr lang="en-CN" sz="2400" i="1" baseline="-25000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7A3049CB-6D0E-DA33-E3DD-EE3A97174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63" y="1408302"/>
            <a:ext cx="3759112" cy="484096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C4FC977F-F8E0-DDA4-6E85-BB4F5CF8C5C1}"/>
              </a:ext>
            </a:extLst>
          </p:cNvPr>
          <p:cNvSpPr/>
          <p:nvPr/>
        </p:nvSpPr>
        <p:spPr>
          <a:xfrm>
            <a:off x="1" y="540657"/>
            <a:ext cx="12192000" cy="36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10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269A99C-89A5-A518-218F-A72E48762F27}"/>
              </a:ext>
            </a:extLst>
          </p:cNvPr>
          <p:cNvSpPr txBox="1"/>
          <p:nvPr/>
        </p:nvSpPr>
        <p:spPr>
          <a:xfrm>
            <a:off x="8822952" y="6317343"/>
            <a:ext cx="32995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Yujuan Xie, Bing Gu, arXiv:2501.05003</a:t>
            </a:r>
            <a:endParaRPr lang="zh-CN" altLang="en-US" sz="14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FDC27E8-7B41-63CB-5549-676CF494527E}"/>
              </a:ext>
            </a:extLst>
          </p:cNvPr>
          <p:cNvSpPr txBox="1"/>
          <p:nvPr/>
        </p:nvSpPr>
        <p:spPr>
          <a:xfrm>
            <a:off x="8893968" y="936055"/>
            <a:ext cx="15501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sz="2400" dirty="0"/>
              <a:t>α</a:t>
            </a:r>
            <a:r>
              <a:rPr lang="en-US" altLang="zh-CN" sz="2400" dirty="0"/>
              <a:t> = </a:t>
            </a:r>
            <a:r>
              <a:rPr lang="el-GR" altLang="zh-CN" sz="2400" dirty="0"/>
              <a:t>β</a:t>
            </a:r>
            <a:r>
              <a:rPr lang="en-US" altLang="zh-CN" sz="2400" dirty="0"/>
              <a:t> = 1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34422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34E8B01-A68D-F8DE-35A2-0F2AB5F77378}"/>
              </a:ext>
            </a:extLst>
          </p:cNvPr>
          <p:cNvSpPr/>
          <p:nvPr/>
        </p:nvSpPr>
        <p:spPr>
          <a:xfrm>
            <a:off x="3586543" y="2879123"/>
            <a:ext cx="2660167" cy="2229595"/>
          </a:xfrm>
          <a:prstGeom prst="rect">
            <a:avLst/>
          </a:prstGeom>
          <a:solidFill>
            <a:schemeClr val="bg1">
              <a:alpha val="0"/>
            </a:schemeClr>
          </a:solidFill>
          <a:ln w="38100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660167"/>
                      <a:gd name="connsiteY0" fmla="*/ 0 h 2229595"/>
                      <a:gd name="connsiteX1" fmla="*/ 665042 w 2660167"/>
                      <a:gd name="connsiteY1" fmla="*/ 0 h 2229595"/>
                      <a:gd name="connsiteX2" fmla="*/ 1356685 w 2660167"/>
                      <a:gd name="connsiteY2" fmla="*/ 0 h 2229595"/>
                      <a:gd name="connsiteX3" fmla="*/ 1941922 w 2660167"/>
                      <a:gd name="connsiteY3" fmla="*/ 0 h 2229595"/>
                      <a:gd name="connsiteX4" fmla="*/ 2660167 w 2660167"/>
                      <a:gd name="connsiteY4" fmla="*/ 0 h 2229595"/>
                      <a:gd name="connsiteX5" fmla="*/ 2660167 w 2660167"/>
                      <a:gd name="connsiteY5" fmla="*/ 579695 h 2229595"/>
                      <a:gd name="connsiteX6" fmla="*/ 2660167 w 2660167"/>
                      <a:gd name="connsiteY6" fmla="*/ 1092502 h 2229595"/>
                      <a:gd name="connsiteX7" fmla="*/ 2660167 w 2660167"/>
                      <a:gd name="connsiteY7" fmla="*/ 1649900 h 2229595"/>
                      <a:gd name="connsiteX8" fmla="*/ 2660167 w 2660167"/>
                      <a:gd name="connsiteY8" fmla="*/ 2229595 h 2229595"/>
                      <a:gd name="connsiteX9" fmla="*/ 2074930 w 2660167"/>
                      <a:gd name="connsiteY9" fmla="*/ 2229595 h 2229595"/>
                      <a:gd name="connsiteX10" fmla="*/ 1383287 w 2660167"/>
                      <a:gd name="connsiteY10" fmla="*/ 2229595 h 2229595"/>
                      <a:gd name="connsiteX11" fmla="*/ 771448 w 2660167"/>
                      <a:gd name="connsiteY11" fmla="*/ 2229595 h 2229595"/>
                      <a:gd name="connsiteX12" fmla="*/ 0 w 2660167"/>
                      <a:gd name="connsiteY12" fmla="*/ 2229595 h 2229595"/>
                      <a:gd name="connsiteX13" fmla="*/ 0 w 2660167"/>
                      <a:gd name="connsiteY13" fmla="*/ 1694492 h 2229595"/>
                      <a:gd name="connsiteX14" fmla="*/ 0 w 2660167"/>
                      <a:gd name="connsiteY14" fmla="*/ 1137093 h 2229595"/>
                      <a:gd name="connsiteX15" fmla="*/ 0 w 2660167"/>
                      <a:gd name="connsiteY15" fmla="*/ 557399 h 2229595"/>
                      <a:gd name="connsiteX16" fmla="*/ 0 w 2660167"/>
                      <a:gd name="connsiteY16" fmla="*/ 0 h 22295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660167" h="2229595" fill="none" extrusionOk="0">
                        <a:moveTo>
                          <a:pt x="0" y="0"/>
                        </a:moveTo>
                        <a:cubicBezTo>
                          <a:pt x="278157" y="10850"/>
                          <a:pt x="345471" y="-13568"/>
                          <a:pt x="665042" y="0"/>
                        </a:cubicBezTo>
                        <a:cubicBezTo>
                          <a:pt x="984613" y="13568"/>
                          <a:pt x="1101026" y="-15366"/>
                          <a:pt x="1356685" y="0"/>
                        </a:cubicBezTo>
                        <a:cubicBezTo>
                          <a:pt x="1612344" y="15366"/>
                          <a:pt x="1702097" y="-18225"/>
                          <a:pt x="1941922" y="0"/>
                        </a:cubicBezTo>
                        <a:cubicBezTo>
                          <a:pt x="2181747" y="18225"/>
                          <a:pt x="2431611" y="-5460"/>
                          <a:pt x="2660167" y="0"/>
                        </a:cubicBezTo>
                        <a:cubicBezTo>
                          <a:pt x="2687607" y="232016"/>
                          <a:pt x="2650779" y="395257"/>
                          <a:pt x="2660167" y="579695"/>
                        </a:cubicBezTo>
                        <a:cubicBezTo>
                          <a:pt x="2669555" y="764134"/>
                          <a:pt x="2674623" y="950241"/>
                          <a:pt x="2660167" y="1092502"/>
                        </a:cubicBezTo>
                        <a:cubicBezTo>
                          <a:pt x="2645711" y="1234763"/>
                          <a:pt x="2663678" y="1409054"/>
                          <a:pt x="2660167" y="1649900"/>
                        </a:cubicBezTo>
                        <a:cubicBezTo>
                          <a:pt x="2656656" y="1890746"/>
                          <a:pt x="2642148" y="2074792"/>
                          <a:pt x="2660167" y="2229595"/>
                        </a:cubicBezTo>
                        <a:cubicBezTo>
                          <a:pt x="2423892" y="2201092"/>
                          <a:pt x="2319342" y="2232484"/>
                          <a:pt x="2074930" y="2229595"/>
                        </a:cubicBezTo>
                        <a:cubicBezTo>
                          <a:pt x="1830518" y="2226706"/>
                          <a:pt x="1522866" y="2202821"/>
                          <a:pt x="1383287" y="2229595"/>
                        </a:cubicBezTo>
                        <a:cubicBezTo>
                          <a:pt x="1243708" y="2256369"/>
                          <a:pt x="906515" y="2230730"/>
                          <a:pt x="771448" y="2229595"/>
                        </a:cubicBezTo>
                        <a:cubicBezTo>
                          <a:pt x="636381" y="2228460"/>
                          <a:pt x="293339" y="2196164"/>
                          <a:pt x="0" y="2229595"/>
                        </a:cubicBezTo>
                        <a:cubicBezTo>
                          <a:pt x="-6534" y="1992232"/>
                          <a:pt x="10171" y="1855187"/>
                          <a:pt x="0" y="1694492"/>
                        </a:cubicBezTo>
                        <a:cubicBezTo>
                          <a:pt x="-10171" y="1533797"/>
                          <a:pt x="-11811" y="1370688"/>
                          <a:pt x="0" y="1137093"/>
                        </a:cubicBezTo>
                        <a:cubicBezTo>
                          <a:pt x="11811" y="903498"/>
                          <a:pt x="-18439" y="842371"/>
                          <a:pt x="0" y="557399"/>
                        </a:cubicBezTo>
                        <a:cubicBezTo>
                          <a:pt x="18439" y="272427"/>
                          <a:pt x="-7146" y="228581"/>
                          <a:pt x="0" y="0"/>
                        </a:cubicBezTo>
                        <a:close/>
                      </a:path>
                      <a:path w="2660167" h="2229595" stroke="0" extrusionOk="0">
                        <a:moveTo>
                          <a:pt x="0" y="0"/>
                        </a:moveTo>
                        <a:cubicBezTo>
                          <a:pt x="230371" y="18693"/>
                          <a:pt x="402915" y="13861"/>
                          <a:pt x="638440" y="0"/>
                        </a:cubicBezTo>
                        <a:cubicBezTo>
                          <a:pt x="873965" y="-13861"/>
                          <a:pt x="939646" y="-17060"/>
                          <a:pt x="1223677" y="0"/>
                        </a:cubicBezTo>
                        <a:cubicBezTo>
                          <a:pt x="1507708" y="17060"/>
                          <a:pt x="1782826" y="-4133"/>
                          <a:pt x="1941922" y="0"/>
                        </a:cubicBezTo>
                        <a:cubicBezTo>
                          <a:pt x="2101018" y="4133"/>
                          <a:pt x="2492927" y="23875"/>
                          <a:pt x="2660167" y="0"/>
                        </a:cubicBezTo>
                        <a:cubicBezTo>
                          <a:pt x="2674557" y="180593"/>
                          <a:pt x="2636116" y="294610"/>
                          <a:pt x="2660167" y="535103"/>
                        </a:cubicBezTo>
                        <a:cubicBezTo>
                          <a:pt x="2684218" y="775596"/>
                          <a:pt x="2683620" y="846857"/>
                          <a:pt x="2660167" y="1047910"/>
                        </a:cubicBezTo>
                        <a:cubicBezTo>
                          <a:pt x="2636714" y="1248963"/>
                          <a:pt x="2681298" y="1368142"/>
                          <a:pt x="2660167" y="1605308"/>
                        </a:cubicBezTo>
                        <a:cubicBezTo>
                          <a:pt x="2639036" y="1842474"/>
                          <a:pt x="2643403" y="1998607"/>
                          <a:pt x="2660167" y="2229595"/>
                        </a:cubicBezTo>
                        <a:cubicBezTo>
                          <a:pt x="2369946" y="2230989"/>
                          <a:pt x="2260307" y="2249735"/>
                          <a:pt x="2048329" y="2229595"/>
                        </a:cubicBezTo>
                        <a:cubicBezTo>
                          <a:pt x="1836351" y="2209455"/>
                          <a:pt x="1637931" y="2249388"/>
                          <a:pt x="1383287" y="2229595"/>
                        </a:cubicBezTo>
                        <a:cubicBezTo>
                          <a:pt x="1128643" y="2209802"/>
                          <a:pt x="995732" y="2211861"/>
                          <a:pt x="718245" y="2229595"/>
                        </a:cubicBezTo>
                        <a:cubicBezTo>
                          <a:pt x="440758" y="2247329"/>
                          <a:pt x="314909" y="2212754"/>
                          <a:pt x="0" y="2229595"/>
                        </a:cubicBezTo>
                        <a:cubicBezTo>
                          <a:pt x="-12120" y="2097004"/>
                          <a:pt x="8324" y="1772392"/>
                          <a:pt x="0" y="1627604"/>
                        </a:cubicBezTo>
                        <a:cubicBezTo>
                          <a:pt x="-8324" y="1482816"/>
                          <a:pt x="17700" y="1269502"/>
                          <a:pt x="0" y="1025614"/>
                        </a:cubicBezTo>
                        <a:cubicBezTo>
                          <a:pt x="-17700" y="781726"/>
                          <a:pt x="20866" y="494622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10C8D45-4D87-F9E3-159E-DD92AF6D8239}"/>
              </a:ext>
            </a:extLst>
          </p:cNvPr>
          <p:cNvGrpSpPr/>
          <p:nvPr/>
        </p:nvGrpSpPr>
        <p:grpSpPr>
          <a:xfrm>
            <a:off x="1119923" y="619890"/>
            <a:ext cx="8818082" cy="6166135"/>
            <a:chOff x="268657" y="242108"/>
            <a:chExt cx="4978096" cy="45318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/>
                <p:cNvSpPr/>
                <p:nvPr/>
              </p:nvSpPr>
              <p:spPr>
                <a:xfrm>
                  <a:off x="3441700" y="242108"/>
                  <a:ext cx="1576705" cy="462280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Set</a:t>
                  </a:r>
                  <a:r>
                    <a:rPr lang="zh-CN" altLang="en-US" sz="16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en-US" altLang="zh-CN" sz="16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</a:t>
                  </a:r>
                  <a:r>
                    <a:rPr lang="zh-CN" altLang="en-US" sz="16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rimitive nuclear basis set</a:t>
                  </a:r>
                  <a:r>
                    <a:rPr lang="x-none" altLang="zh-CN" sz="16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zh-CN" alt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{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𝜁</m:t>
                          </m:r>
                        </m:e>
                        <m:sub>
                          <m:r>
                            <a:rPr lang="en-US" altLang="zh-CN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DejaVu Math TeX Gyre" panose="02000503000000000000" charset="0"/>
                            </a:rPr>
                            <m:t>𝜇</m:t>
                          </m:r>
                        </m:sub>
                      </m:sSub>
                    </m:oMath>
                  </a14:m>
                  <a:r>
                    <a:rPr lang="x-none" alt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:r>
                    <a:rPr lang="x-none" altLang="en-US" sz="16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</a:t>
                  </a:r>
                  <a:r>
                    <a:rPr lang="x-none" alt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  <a:r>
                    <a:rPr lang="zh-CN" altLang="en-US" sz="16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}</a:t>
                  </a:r>
                </a:p>
              </p:txBody>
            </p:sp>
          </mc:Choice>
          <mc:Fallback xmlns="">
            <p:sp>
              <p:nvSpPr>
                <p:cNvPr id="4" name="矩形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1700" y="242108"/>
                  <a:ext cx="1576705" cy="462280"/>
                </a:xfrm>
                <a:prstGeom prst="rect">
                  <a:avLst/>
                </a:prstGeom>
                <a:blipFill>
                  <a:blip r:embed="rId3"/>
                  <a:stretch>
                    <a:fillRect l="-217" r="-2386" b="-6667"/>
                  </a:stretch>
                </a:blip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/>
            <p:cNvSpPr/>
            <p:nvPr/>
          </p:nvSpPr>
          <p:spPr>
            <a:xfrm>
              <a:off x="3441700" y="1103803"/>
              <a:ext cx="1576705" cy="46228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x-none" sz="16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DVR nuclear basis set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767080" y="1115695"/>
              <a:ext cx="1576705" cy="4622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x-none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Eletronic Structure Calculation</a:t>
              </a:r>
            </a:p>
          </p:txBody>
        </p:sp>
        <p:sp>
          <p:nvSpPr>
            <p:cNvPr id="17" name="直角上箭头 16"/>
            <p:cNvSpPr/>
            <p:nvPr/>
          </p:nvSpPr>
          <p:spPr>
            <a:xfrm rot="10800000">
              <a:off x="739729" y="2089191"/>
              <a:ext cx="122556" cy="269606"/>
            </a:xfrm>
            <a:prstGeom prst="bentUpArrow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8" name="直接连接符 17"/>
            <p:cNvCxnSpPr>
              <a:cxnSpLocks/>
            </p:cNvCxnSpPr>
            <p:nvPr/>
          </p:nvCxnSpPr>
          <p:spPr>
            <a:xfrm flipV="1">
              <a:off x="862285" y="2102486"/>
              <a:ext cx="1501185" cy="6649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 flipV="1">
              <a:off x="1552575" y="1577975"/>
              <a:ext cx="3810" cy="546100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21" name="直角上箭头 20"/>
            <p:cNvSpPr/>
            <p:nvPr/>
          </p:nvSpPr>
          <p:spPr>
            <a:xfrm rot="10800000" flipH="1">
              <a:off x="2296499" y="2088557"/>
              <a:ext cx="107633" cy="281305"/>
            </a:xfrm>
            <a:prstGeom prst="bentUpArrow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268657" y="2372360"/>
              <a:ext cx="1262645" cy="5130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Adiabatic</a:t>
              </a:r>
              <a:r>
                <a:rPr lang="zh-CN" altLang="en-US" sz="16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x-none" sz="16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Potential Energy Surface</a:t>
              </a:r>
              <a:r>
                <a:rPr lang="en-US" altLang="zh-CN" sz="16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endParaRPr lang="x-none"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721485" y="2372360"/>
              <a:ext cx="1246505" cy="39433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x-none" sz="16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Eletronic Wavefunction</a:t>
              </a:r>
            </a:p>
          </p:txBody>
        </p:sp>
        <p:sp>
          <p:nvSpPr>
            <p:cNvPr id="24" name="下箭头 23"/>
            <p:cNvSpPr/>
            <p:nvPr/>
          </p:nvSpPr>
          <p:spPr>
            <a:xfrm>
              <a:off x="2304415" y="2787427"/>
              <a:ext cx="93345" cy="248920"/>
            </a:xfrm>
            <a:prstGeom prst="downArrow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727835" y="3042285"/>
              <a:ext cx="1246505" cy="39433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Electronic</a:t>
              </a:r>
              <a:r>
                <a:rPr lang="zh-CN" altLang="en-US" sz="1600" b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x-none" sz="1600" b="1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Overlap Matrix</a:t>
              </a:r>
            </a:p>
          </p:txBody>
        </p:sp>
        <p:sp>
          <p:nvSpPr>
            <p:cNvPr id="26" name="燕尾形箭头 25"/>
            <p:cNvSpPr/>
            <p:nvPr/>
          </p:nvSpPr>
          <p:spPr>
            <a:xfrm rot="10800000">
              <a:off x="2407920" y="1146174"/>
              <a:ext cx="970610" cy="400685"/>
            </a:xfrm>
            <a:prstGeom prst="notchedRightArrow">
              <a:avLst/>
            </a:prstGeom>
            <a:gradFill>
              <a:gsLst>
                <a:gs pos="0">
                  <a:schemeClr val="accent6">
                    <a:lumMod val="50000"/>
                  </a:schemeClr>
                </a:gs>
                <a:gs pos="72000">
                  <a:schemeClr val="accent6">
                    <a:lumMod val="40000"/>
                    <a:lumOff val="60000"/>
                  </a:schemeClr>
                </a:gs>
                <a:gs pos="54000">
                  <a:schemeClr val="accent6">
                    <a:lumMod val="60000"/>
                    <a:lumOff val="40000"/>
                  </a:schemeClr>
                </a:gs>
                <a:gs pos="100000">
                  <a:schemeClr val="accent6">
                    <a:lumMod val="20000"/>
                    <a:lumOff val="80000"/>
                  </a:scheme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" name="直接连接符 27"/>
            <p:cNvCxnSpPr>
              <a:cxnSpLocks/>
            </p:cNvCxnSpPr>
            <p:nvPr/>
          </p:nvCxnSpPr>
          <p:spPr>
            <a:xfrm flipV="1">
              <a:off x="795020" y="2880995"/>
              <a:ext cx="0" cy="1043623"/>
            </a:xfrm>
            <a:prstGeom prst="line">
              <a:avLst/>
            </a:prstGeom>
            <a:ln w="57150">
              <a:solidFill>
                <a:schemeClr val="accent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31" name="下箭头 30"/>
            <p:cNvSpPr/>
            <p:nvPr/>
          </p:nvSpPr>
          <p:spPr>
            <a:xfrm>
              <a:off x="2304415" y="3447415"/>
              <a:ext cx="93345" cy="248920"/>
            </a:xfrm>
            <a:prstGeom prst="downArrow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1727835" y="3712210"/>
              <a:ext cx="1246505" cy="39433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Time-propagation</a:t>
              </a:r>
              <a:endParaRPr lang="x-none" sz="1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下箭头 32"/>
            <p:cNvSpPr/>
            <p:nvPr/>
          </p:nvSpPr>
          <p:spPr>
            <a:xfrm>
              <a:off x="2123089" y="4108227"/>
              <a:ext cx="480761" cy="273050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1721485" y="4379595"/>
              <a:ext cx="1246505" cy="39433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x-none" sz="1600" b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Observables</a:t>
              </a:r>
            </a:p>
          </p:txBody>
        </p:sp>
        <p:sp>
          <p:nvSpPr>
            <p:cNvPr id="38" name="下箭头 37"/>
            <p:cNvSpPr/>
            <p:nvPr/>
          </p:nvSpPr>
          <p:spPr>
            <a:xfrm>
              <a:off x="4183380" y="706928"/>
              <a:ext cx="93345" cy="383540"/>
            </a:xfrm>
            <a:prstGeom prst="downArrow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0" name="直接连接符 39"/>
            <p:cNvCxnSpPr>
              <a:cxnSpLocks/>
            </p:cNvCxnSpPr>
            <p:nvPr/>
          </p:nvCxnSpPr>
          <p:spPr>
            <a:xfrm flipH="1" flipV="1">
              <a:off x="4229498" y="1566083"/>
              <a:ext cx="22543" cy="2370427"/>
            </a:xfrm>
            <a:prstGeom prst="line">
              <a:avLst/>
            </a:prstGeom>
            <a:ln w="57150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C5D317E-9376-4D37-3ADD-30E159BBE839}"/>
                </a:ext>
              </a:extLst>
            </p:cNvPr>
            <p:cNvSpPr txBox="1"/>
            <p:nvPr/>
          </p:nvSpPr>
          <p:spPr>
            <a:xfrm>
              <a:off x="1727835" y="875461"/>
              <a:ext cx="2476004" cy="248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r>
                <a:rPr lang="en-CN" sz="1600" b="1">
                  <a:latin typeface="Arial" panose="020B0604020202020204" pitchFamily="34" charset="0"/>
                  <a:cs typeface="Arial" panose="020B0604020202020204" pitchFamily="34" charset="0"/>
                </a:rPr>
                <a:t>ef</a:t>
              </a:r>
              <a:r>
                <a:rPr lang="en-US" altLang="zh-CN" sz="1600" b="1" err="1">
                  <a:latin typeface="Arial" panose="020B0604020202020204" pitchFamily="34" charset="0"/>
                  <a:cs typeface="Arial" panose="020B0604020202020204" pitchFamily="34" charset="0"/>
                </a:rPr>
                <a:t>erence</a:t>
              </a:r>
              <a:r>
                <a:rPr lang="zh-CN" altLang="en-US" sz="1600" b="1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600" b="1">
                  <a:latin typeface="Arial" panose="020B0604020202020204" pitchFamily="34" charset="0"/>
                  <a:cs typeface="Arial" panose="020B0604020202020204" pitchFamily="34" charset="0"/>
                </a:rPr>
                <a:t>geometries</a:t>
              </a:r>
              <a:endParaRPr lang="en-CN" sz="16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7F577CB-4A4E-6136-C7C1-28F1207723DD}"/>
                    </a:ext>
                  </a:extLst>
                </p:cNvPr>
                <p:cNvSpPr txBox="1"/>
                <p:nvPr/>
              </p:nvSpPr>
              <p:spPr>
                <a:xfrm>
                  <a:off x="2726217" y="1210087"/>
                  <a:ext cx="2520536" cy="24882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zh-CN" altLang="en-US" sz="1600" dirty="0">
                      <a:latin typeface="Arial" panose="020B0604020202020204" pitchFamily="34" charset="0"/>
                      <a:cs typeface="Arial" panose="020B0604020202020204" pitchFamily="34" charset="0"/>
                      <a:sym typeface="+mn-ea"/>
                    </a:rPr>
                    <a:t>{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0">
                              <a:latin typeface="Cambria Math" panose="02040503050406030204" pitchFamily="18" charset="0"/>
                            </a:rPr>
                            <m:t>𝐑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zh-CN" altLang="en-US" sz="1600" dirty="0">
                      <a:latin typeface="Arial" panose="020B0604020202020204" pitchFamily="34" charset="0"/>
                      <a:cs typeface="Arial" panose="020B0604020202020204" pitchFamily="34" charset="0"/>
                      <a:sym typeface="+mn-ea"/>
                    </a:rPr>
                    <a:t>}</a:t>
                  </a:r>
                  <a:endParaRPr lang="zh-CN" altLang="en-US" sz="16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7F577CB-4A4E-6136-C7C1-28F1207723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6217" y="1210087"/>
                  <a:ext cx="2520536" cy="248822"/>
                </a:xfrm>
                <a:prstGeom prst="rect">
                  <a:avLst/>
                </a:prstGeom>
                <a:blipFill>
                  <a:blip r:embed="rId4"/>
                  <a:stretch>
                    <a:fillRect l="-820" t="-5357" b="-2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下箭头 30">
              <a:extLst>
                <a:ext uri="{FF2B5EF4-FFF2-40B4-BE49-F238E27FC236}">
                  <a16:creationId xmlns:a16="http://schemas.microsoft.com/office/drawing/2014/main" id="{564024BB-4CD0-3107-D98A-0162062C262B}"/>
                </a:ext>
              </a:extLst>
            </p:cNvPr>
            <p:cNvSpPr/>
            <p:nvPr/>
          </p:nvSpPr>
          <p:spPr>
            <a:xfrm rot="16200000">
              <a:off x="1201043" y="3455463"/>
              <a:ext cx="89129" cy="939879"/>
            </a:xfrm>
            <a:prstGeom prst="downArrow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下箭头 30">
              <a:extLst>
                <a:ext uri="{FF2B5EF4-FFF2-40B4-BE49-F238E27FC236}">
                  <a16:creationId xmlns:a16="http://schemas.microsoft.com/office/drawing/2014/main" id="{613420A2-8F7B-2DDD-DB72-8D65A617BAB5}"/>
                </a:ext>
              </a:extLst>
            </p:cNvPr>
            <p:cNvSpPr/>
            <p:nvPr/>
          </p:nvSpPr>
          <p:spPr>
            <a:xfrm rot="5400000">
              <a:off x="3576495" y="3286001"/>
              <a:ext cx="89914" cy="1278018"/>
            </a:xfrm>
            <a:prstGeom prst="downArrow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A681A8A-2818-B08B-9933-B3300B9A58D0}"/>
                  </a:ext>
                </a:extLst>
              </p:cNvPr>
              <p:cNvSpPr txBox="1"/>
              <p:nvPr/>
            </p:nvSpPr>
            <p:spPr>
              <a:xfrm>
                <a:off x="8261494" y="1331841"/>
                <a:ext cx="1285757" cy="4101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𝜁</m:t>
                              </m:r>
                            </m:e>
                            <m:sub>
                              <m:r>
                                <a:rPr lang="zh-CN" altLang="en-US" sz="1800" i="1" smtClean="0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𝜈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acc>
                            <m:accPr>
                              <m:chr m:val="̂"/>
                              <m:ctrlPr>
                                <a:rPr lang="zh-CN" altLang="en-US" sz="18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800" b="1"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</m:acc>
                          <m:r>
                            <a:rPr lang="en-US" altLang="zh-CN" sz="18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𝜁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cs typeface="DejaVu Math TeX Gyre" panose="02000503000000000000" charset="0"/>
                                </a:rPr>
                                <m:t>𝜇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A681A8A-2818-B08B-9933-B3300B9A5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494" y="1331841"/>
                <a:ext cx="1285757" cy="410112"/>
              </a:xfrm>
              <a:prstGeom prst="rect">
                <a:avLst/>
              </a:prstGeom>
              <a:blipFill>
                <a:blip r:embed="rId5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2CE1DCA-F992-5271-5909-01947B025732}"/>
                  </a:ext>
                </a:extLst>
              </p:cNvPr>
              <p:cNvSpPr txBox="1"/>
              <p:nvPr/>
            </p:nvSpPr>
            <p:spPr>
              <a:xfrm>
                <a:off x="8221562" y="2581210"/>
                <a:ext cx="11104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800" dirty="0"/>
                  <a:t>{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altLang="zh-CN" dirty="0"/>
                  <a:t>}</a:t>
                </a:r>
                <a:endParaRPr lang="zh-CN" altLang="en-US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2CE1DCA-F992-5271-5909-01947B025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1562" y="2581210"/>
                <a:ext cx="1110486" cy="369332"/>
              </a:xfrm>
              <a:prstGeom prst="rect">
                <a:avLst/>
              </a:prstGeom>
              <a:blipFill>
                <a:blip r:embed="rId6"/>
                <a:stretch>
                  <a:fillRect l="-4945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2EA8A272-AD7B-5EA7-CD0E-DA43CC463B02}"/>
              </a:ext>
            </a:extLst>
          </p:cNvPr>
          <p:cNvSpPr txBox="1"/>
          <p:nvPr/>
        </p:nvSpPr>
        <p:spPr>
          <a:xfrm>
            <a:off x="7735190" y="6517753"/>
            <a:ext cx="43468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Zhu et al. </a:t>
            </a:r>
            <a:r>
              <a:rPr lang="zh-CN" altLang="en-US" sz="1400" dirty="0"/>
              <a:t>J.Phys. Chem. Lett. 2024, 15, 8487−8493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A7EDECD-40BA-0584-6001-23F9E3B2B2AB}"/>
              </a:ext>
            </a:extLst>
          </p:cNvPr>
          <p:cNvSpPr txBox="1"/>
          <p:nvPr/>
        </p:nvSpPr>
        <p:spPr>
          <a:xfrm>
            <a:off x="10886" y="58965"/>
            <a:ext cx="110317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dirty="0"/>
              <a:t>Workflow of ab initio LDR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71415BD-7AC7-F6D1-4D6A-BBB903FEE151}"/>
              </a:ext>
            </a:extLst>
          </p:cNvPr>
          <p:cNvSpPr/>
          <p:nvPr/>
        </p:nvSpPr>
        <p:spPr>
          <a:xfrm>
            <a:off x="1" y="540657"/>
            <a:ext cx="12192000" cy="36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10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09DDDB6-FEEE-CA5D-E366-255F8A3115E6}"/>
              </a:ext>
            </a:extLst>
          </p:cNvPr>
          <p:cNvSpPr txBox="1"/>
          <p:nvPr/>
        </p:nvSpPr>
        <p:spPr>
          <a:xfrm>
            <a:off x="11615964" y="58965"/>
            <a:ext cx="5651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rgbClr val="5C749B"/>
                </a:solidFill>
              </a:rPr>
              <a:t>6</a:t>
            </a:r>
            <a:endParaRPr lang="zh-CN" altLang="en-US" sz="2200" b="1" dirty="0">
              <a:solidFill>
                <a:srgbClr val="5C749B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267750-48DA-7585-2740-64F3A89E004D}"/>
              </a:ext>
            </a:extLst>
          </p:cNvPr>
          <p:cNvSpPr txBox="1"/>
          <p:nvPr/>
        </p:nvSpPr>
        <p:spPr>
          <a:xfrm>
            <a:off x="10009334" y="1068919"/>
            <a:ext cx="18928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1800" dirty="0">
                <a:effectLst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discrete variable representation </a:t>
            </a:r>
            <a:r>
              <a:rPr lang="en-US" altLang="zh-CN" dirty="0"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(DVR)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8666A1F-92A8-0CDB-6928-922D85F46DE3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9416615" y="1530584"/>
            <a:ext cx="592719" cy="6313"/>
          </a:xfrm>
          <a:prstGeom prst="straightConnector1">
            <a:avLst/>
          </a:prstGeom>
          <a:ln w="38100">
            <a:solidFill>
              <a:srgbClr val="38572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图片 44">
            <a:extLst>
              <a:ext uri="{FF2B5EF4-FFF2-40B4-BE49-F238E27FC236}">
                <a16:creationId xmlns:a16="http://schemas.microsoft.com/office/drawing/2014/main" id="{33E2DFF2-141A-AE52-CDE7-BA921D87E068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176194" y="5725446"/>
            <a:ext cx="5456355" cy="799419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FCA8BEA2-84F0-F848-058E-F5050DC9796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71875" b="73434"/>
          <a:stretch/>
        </p:blipFill>
        <p:spPr>
          <a:xfrm>
            <a:off x="381690" y="888616"/>
            <a:ext cx="1434041" cy="388373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EC4CF10A-0D6C-06C1-EA8D-831A5BA838E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9525" t="52725" r="-1"/>
          <a:stretch/>
        </p:blipFill>
        <p:spPr>
          <a:xfrm>
            <a:off x="1853118" y="819175"/>
            <a:ext cx="3593457" cy="6911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8AEF507-A2CD-052F-DAC9-0BF9BBA661EC}"/>
              </a:ext>
            </a:extLst>
          </p:cNvPr>
          <p:cNvSpPr txBox="1"/>
          <p:nvPr/>
        </p:nvSpPr>
        <p:spPr>
          <a:xfrm>
            <a:off x="11615964" y="58965"/>
            <a:ext cx="5651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rgbClr val="5C749B"/>
                </a:solidFill>
              </a:rPr>
              <a:t>7</a:t>
            </a:r>
            <a:endParaRPr lang="zh-CN" altLang="en-US" sz="2200" b="1" dirty="0">
              <a:solidFill>
                <a:srgbClr val="5C749B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0F1633-BB7F-EFC7-94A8-462A4975CE6A}"/>
              </a:ext>
            </a:extLst>
          </p:cNvPr>
          <p:cNvSpPr txBox="1"/>
          <p:nvPr/>
        </p:nvSpPr>
        <p:spPr>
          <a:xfrm>
            <a:off x="10886" y="58965"/>
            <a:ext cx="11444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Geometric phase captured with only a single state. </a:t>
            </a:r>
            <a:endParaRPr lang="en-CN" altLang="zh-CN" sz="2400" b="1" dirty="0"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EDBAE6D-E6C6-2E76-A96F-0C168061D081}"/>
              </a:ext>
            </a:extLst>
          </p:cNvPr>
          <p:cNvSpPr/>
          <p:nvPr/>
        </p:nvSpPr>
        <p:spPr>
          <a:xfrm>
            <a:off x="1" y="540657"/>
            <a:ext cx="12192000" cy="36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10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C8E886A-0A09-44B3-7957-E8A6C6C09AA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287" b="2300"/>
          <a:stretch/>
        </p:blipFill>
        <p:spPr>
          <a:xfrm>
            <a:off x="4831101" y="712757"/>
            <a:ext cx="3306019" cy="2959147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E021CC38-33DC-E8A0-93EC-DEE535C7C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4634" y="3804352"/>
            <a:ext cx="2866151" cy="2796736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18B2ADAC-5EDE-7F5C-0586-68E5105F877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72" r="1275"/>
          <a:stretch/>
        </p:blipFill>
        <p:spPr>
          <a:xfrm>
            <a:off x="8121014" y="1114526"/>
            <a:ext cx="3285913" cy="2606199"/>
          </a:xfrm>
          <a:prstGeom prst="rect">
            <a:avLst/>
          </a:prstGeom>
        </p:spPr>
      </p:pic>
      <p:sp>
        <p:nvSpPr>
          <p:cNvPr id="47" name="Text Box 24">
            <a:extLst>
              <a:ext uri="{FF2B5EF4-FFF2-40B4-BE49-F238E27FC236}">
                <a16:creationId xmlns:a16="http://schemas.microsoft.com/office/drawing/2014/main" id="{A80AA0DD-DB68-A6D2-DB8A-6292CE99F6C4}"/>
              </a:ext>
            </a:extLst>
          </p:cNvPr>
          <p:cNvSpPr txBox="1"/>
          <p:nvPr/>
        </p:nvSpPr>
        <p:spPr>
          <a:xfrm>
            <a:off x="8971934" y="1196744"/>
            <a:ext cx="17169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  <a:cs typeface="Arial" panose="020B0604020202020204" pitchFamily="34" charset="0"/>
              </a:rPr>
              <a:t>Single-state LDR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C755D15-9946-E9A3-7337-04E3A7EC64D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41" r="24046"/>
          <a:stretch/>
        </p:blipFill>
        <p:spPr>
          <a:xfrm>
            <a:off x="8121014" y="3949802"/>
            <a:ext cx="2525913" cy="2606199"/>
          </a:xfrm>
          <a:prstGeom prst="rect">
            <a:avLst/>
          </a:prstGeom>
        </p:spPr>
      </p:pic>
      <p:sp>
        <p:nvSpPr>
          <p:cNvPr id="49" name="Text Box 22">
            <a:extLst>
              <a:ext uri="{FF2B5EF4-FFF2-40B4-BE49-F238E27FC236}">
                <a16:creationId xmlns:a16="http://schemas.microsoft.com/office/drawing/2014/main" id="{FCB31120-4942-5B99-E1A8-7599AD04B068}"/>
              </a:ext>
            </a:extLst>
          </p:cNvPr>
          <p:cNvSpPr txBox="1"/>
          <p:nvPr/>
        </p:nvSpPr>
        <p:spPr>
          <a:xfrm>
            <a:off x="9297859" y="4054036"/>
            <a:ext cx="15560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BO dynamics</a:t>
            </a:r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EF069FD7-3A6C-453F-C62F-10CE1FEC4E1B}"/>
              </a:ext>
            </a:extLst>
          </p:cNvPr>
          <p:cNvCxnSpPr>
            <a:cxnSpLocks/>
          </p:cNvCxnSpPr>
          <p:nvPr/>
        </p:nvCxnSpPr>
        <p:spPr>
          <a:xfrm>
            <a:off x="9585765" y="2211139"/>
            <a:ext cx="972000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E2D316EE-94EE-E8B8-D3D2-4460FD924C58}"/>
              </a:ext>
            </a:extLst>
          </p:cNvPr>
          <p:cNvCxnSpPr>
            <a:cxnSpLocks/>
            <a:stCxn id="52" idx="0"/>
          </p:cNvCxnSpPr>
          <p:nvPr/>
        </p:nvCxnSpPr>
        <p:spPr>
          <a:xfrm flipH="1" flipV="1">
            <a:off x="10058717" y="2270234"/>
            <a:ext cx="1280869" cy="108756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67DF4199-44E3-7425-EDB9-9C13F7535702}"/>
              </a:ext>
            </a:extLst>
          </p:cNvPr>
          <p:cNvSpPr txBox="1"/>
          <p:nvPr/>
        </p:nvSpPr>
        <p:spPr>
          <a:xfrm>
            <a:off x="10476662" y="3357800"/>
            <a:ext cx="172584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dirty="0">
                <a:solidFill>
                  <a:srgbClr val="FF0000"/>
                </a:solidFill>
              </a:rPr>
              <a:t>Destructive</a:t>
            </a:r>
          </a:p>
          <a:p>
            <a:pPr algn="just"/>
            <a:r>
              <a:rPr lang="en-US" altLang="zh-CN" sz="2200" dirty="0">
                <a:solidFill>
                  <a:srgbClr val="FF0000"/>
                </a:solidFill>
              </a:rPr>
              <a:t>interference </a:t>
            </a:r>
            <a:endParaRPr lang="en-US" altLang="zh-CN" sz="2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91E4B99-D794-6334-F1C5-AEC088858530}"/>
              </a:ext>
            </a:extLst>
          </p:cNvPr>
          <p:cNvSpPr txBox="1"/>
          <p:nvPr/>
        </p:nvSpPr>
        <p:spPr>
          <a:xfrm>
            <a:off x="101731" y="1522487"/>
            <a:ext cx="4729369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Two-state vibronic model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Single-state LDR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en-US" altLang="zh-CN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geometric phase manifested as a nodal line along the </a:t>
            </a:r>
            <a:r>
              <a:rPr lang="en-US" altLang="zh-CN" sz="2200" i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 = 0.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The reaction rate increases in the absence of the geometric phase effect.</a:t>
            </a: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A287F9FC-2ED2-3505-7389-E073E41EA3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233" y="2430057"/>
            <a:ext cx="4261134" cy="634065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AB1C9DA5-843F-1EA9-C990-21475892328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75106"/>
          <a:stretch/>
        </p:blipFill>
        <p:spPr>
          <a:xfrm>
            <a:off x="493233" y="3129391"/>
            <a:ext cx="2981224" cy="3530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D84F4F-BF6F-A08A-8914-B6F440C6DB65}"/>
              </a:ext>
            </a:extLst>
          </p:cNvPr>
          <p:cNvSpPr txBox="1"/>
          <p:nvPr/>
        </p:nvSpPr>
        <p:spPr>
          <a:xfrm>
            <a:off x="8421800" y="664625"/>
            <a:ext cx="26148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G</a:t>
            </a:r>
            <a:r>
              <a:rPr lang="en-CN" sz="2400" dirty="0">
                <a:solidFill>
                  <a:srgbClr val="FF0000"/>
                </a:solidFill>
              </a:rPr>
              <a:t>round state only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9673BE-6D7C-620B-6534-8D244C807653}"/>
              </a:ext>
            </a:extLst>
          </p:cNvPr>
          <p:cNvSpPr txBox="1"/>
          <p:nvPr/>
        </p:nvSpPr>
        <p:spPr>
          <a:xfrm>
            <a:off x="232277" y="6310797"/>
            <a:ext cx="44766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Xie et al., Phys. Rev. A, 95, 022104 (2017)</a:t>
            </a:r>
          </a:p>
          <a:p>
            <a:r>
              <a:rPr lang="en-US" altLang="zh-CN" sz="1400" dirty="0"/>
              <a:t>In preparation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38538747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A94E6-52BE-7E5C-1DFC-02F383034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6FA3F68-34A9-32CA-6EDC-5C71E94F52A8}"/>
              </a:ext>
            </a:extLst>
          </p:cNvPr>
          <p:cNvSpPr txBox="1"/>
          <p:nvPr/>
        </p:nvSpPr>
        <p:spPr>
          <a:xfrm>
            <a:off x="11615964" y="58965"/>
            <a:ext cx="5651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rgbClr val="5C749B"/>
                </a:solidFill>
              </a:rPr>
              <a:t>8</a:t>
            </a:r>
            <a:endParaRPr lang="zh-CN" altLang="en-US" sz="2200" b="1" dirty="0">
              <a:solidFill>
                <a:srgbClr val="5C749B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8943785-2EF6-5B33-4E56-A247199D47F0}"/>
              </a:ext>
            </a:extLst>
          </p:cNvPr>
          <p:cNvSpPr txBox="1"/>
          <p:nvPr/>
        </p:nvSpPr>
        <p:spPr>
          <a:xfrm>
            <a:off x="374347" y="963150"/>
            <a:ext cx="89025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Single-state LDR</a:t>
            </a:r>
          </a:p>
          <a:p>
            <a:pPr marL="342900" indent="-342900" algn="just">
              <a:buFont typeface="Wingdings" panose="05000000000000000000" pitchFamily="2" charset="2"/>
              <a:buChar char="l"/>
            </a:pP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geometric phase manifested as a nodal line along the </a:t>
            </a:r>
            <a:r>
              <a:rPr lang="el-GR" altLang="zh-CN" sz="2200" i="1" dirty="0">
                <a:latin typeface="Arial" panose="020B0604020202020204" pitchFamily="34" charset="0"/>
                <a:cs typeface="Arial" panose="020B0604020202020204" pitchFamily="34" charset="0"/>
              </a:rPr>
              <a:t>ϕ</a:t>
            </a:r>
            <a:r>
              <a:rPr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 = 0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EF0B918-A81F-07E8-4EC6-93302CC1E4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401"/>
          <a:stretch/>
        </p:blipFill>
        <p:spPr>
          <a:xfrm>
            <a:off x="1046283" y="2207524"/>
            <a:ext cx="4091999" cy="370770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88FFD37-EDD3-335A-680E-9F1E24990D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3312" b="17968"/>
          <a:stretch/>
        </p:blipFill>
        <p:spPr>
          <a:xfrm>
            <a:off x="6033311" y="3898114"/>
            <a:ext cx="4818839" cy="189880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462C247-3116-A3E6-B93B-6D2FF7BAF9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185" b="26186"/>
          <a:stretch/>
        </p:blipFill>
        <p:spPr>
          <a:xfrm>
            <a:off x="6021971" y="2300055"/>
            <a:ext cx="5512337" cy="1714604"/>
          </a:xfrm>
          <a:prstGeom prst="rect">
            <a:avLst/>
          </a:prstGeom>
        </p:spPr>
      </p:pic>
      <p:sp>
        <p:nvSpPr>
          <p:cNvPr id="8" name="Text Box 5">
            <a:extLst>
              <a:ext uri="{FF2B5EF4-FFF2-40B4-BE49-F238E27FC236}">
                <a16:creationId xmlns:a16="http://schemas.microsoft.com/office/drawing/2014/main" id="{097FB451-B760-A5E5-7558-AA7D04BF733D}"/>
              </a:ext>
            </a:extLst>
          </p:cNvPr>
          <p:cNvSpPr txBox="1"/>
          <p:nvPr/>
        </p:nvSpPr>
        <p:spPr>
          <a:xfrm>
            <a:off x="8526615" y="4058716"/>
            <a:ext cx="2242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 dynamics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BAE9473-ADE9-AA17-4481-08ED03E6483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862" t="81292" r="47221" b="2899"/>
          <a:stretch/>
        </p:blipFill>
        <p:spPr>
          <a:xfrm>
            <a:off x="8709304" y="5624812"/>
            <a:ext cx="567551" cy="367211"/>
          </a:xfrm>
          <a:prstGeom prst="rect">
            <a:avLst/>
          </a:prstGeom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CACDCC1-838D-799E-99EC-A3ECF79A18AB}"/>
              </a:ext>
            </a:extLst>
          </p:cNvPr>
          <p:cNvCxnSpPr>
            <a:cxnSpLocks/>
          </p:cNvCxnSpPr>
          <p:nvPr/>
        </p:nvCxnSpPr>
        <p:spPr>
          <a:xfrm>
            <a:off x="7535081" y="3150883"/>
            <a:ext cx="2916000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4D0C9A8-5A79-BAB1-DA8A-66E646325531}"/>
              </a:ext>
            </a:extLst>
          </p:cNvPr>
          <p:cNvCxnSpPr>
            <a:cxnSpLocks/>
          </p:cNvCxnSpPr>
          <p:nvPr/>
        </p:nvCxnSpPr>
        <p:spPr>
          <a:xfrm flipH="1">
            <a:off x="8494311" y="2300055"/>
            <a:ext cx="834746" cy="77807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C80BD3DB-2FCF-0FFC-7012-564F1FFAA036}"/>
              </a:ext>
            </a:extLst>
          </p:cNvPr>
          <p:cNvSpPr txBox="1"/>
          <p:nvPr/>
        </p:nvSpPr>
        <p:spPr>
          <a:xfrm>
            <a:off x="8442729" y="1868083"/>
            <a:ext cx="343311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dirty="0">
                <a:solidFill>
                  <a:srgbClr val="FF0000"/>
                </a:solidFill>
              </a:rPr>
              <a:t>D</a:t>
            </a:r>
            <a:r>
              <a:rPr lang="en-US" altLang="zh-CN" sz="2200">
                <a:solidFill>
                  <a:srgbClr val="FF0000"/>
                </a:solidFill>
              </a:rPr>
              <a:t>estructive </a:t>
            </a:r>
            <a:r>
              <a:rPr lang="en-US" altLang="zh-CN" sz="2200" dirty="0">
                <a:solidFill>
                  <a:srgbClr val="FF0000"/>
                </a:solidFill>
              </a:rPr>
              <a:t>interference </a:t>
            </a:r>
            <a:endParaRPr lang="en-US" altLang="zh-CN" sz="2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80DE641-964B-C17A-3CBF-C969E0F949DD}"/>
              </a:ext>
            </a:extLst>
          </p:cNvPr>
          <p:cNvSpPr txBox="1"/>
          <p:nvPr/>
        </p:nvSpPr>
        <p:spPr>
          <a:xfrm>
            <a:off x="10886" y="58965"/>
            <a:ext cx="11444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/>
              <a:t>Geometric phase captured with only a single state. </a:t>
            </a:r>
            <a:endParaRPr lang="en-CN" altLang="zh-CN" sz="2400" b="1" dirty="0"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54362B-F149-0895-3266-733BA0CE5A50}"/>
              </a:ext>
            </a:extLst>
          </p:cNvPr>
          <p:cNvSpPr/>
          <p:nvPr/>
        </p:nvSpPr>
        <p:spPr>
          <a:xfrm>
            <a:off x="1" y="540657"/>
            <a:ext cx="12192000" cy="36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10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13DD8849-46B2-21DB-8F13-93E84506B62D}"/>
              </a:ext>
            </a:extLst>
          </p:cNvPr>
          <p:cNvSpPr txBox="1"/>
          <p:nvPr/>
        </p:nvSpPr>
        <p:spPr>
          <a:xfrm>
            <a:off x="2191241" y="1852693"/>
            <a:ext cx="1906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</a:t>
            </a:r>
            <a:r>
              <a:rPr lang="en-US" sz="2400" baseline="-25000" dirty="0">
                <a:solidFill>
                  <a:srgbClr val="FF0000"/>
                </a:solidFill>
              </a:rPr>
              <a:t>1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CN" sz="2400" dirty="0">
                <a:solidFill>
                  <a:srgbClr val="FF0000"/>
                </a:solidFill>
              </a:rPr>
              <a:t>state only</a:t>
            </a:r>
          </a:p>
        </p:txBody>
      </p:sp>
      <p:sp>
        <p:nvSpPr>
          <p:cNvPr id="17" name="Text Box 24">
            <a:extLst>
              <a:ext uri="{FF2B5EF4-FFF2-40B4-BE49-F238E27FC236}">
                <a16:creationId xmlns:a16="http://schemas.microsoft.com/office/drawing/2014/main" id="{A4F3E314-1F74-8F9A-A8A7-D812CE5342D2}"/>
              </a:ext>
            </a:extLst>
          </p:cNvPr>
          <p:cNvSpPr txBox="1"/>
          <p:nvPr/>
        </p:nvSpPr>
        <p:spPr>
          <a:xfrm>
            <a:off x="8783141" y="2494458"/>
            <a:ext cx="2007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Single-state LDR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46B1676-37FC-71CE-0D21-8ED648054951}"/>
              </a:ext>
            </a:extLst>
          </p:cNvPr>
          <p:cNvSpPr txBox="1"/>
          <p:nvPr/>
        </p:nvSpPr>
        <p:spPr>
          <a:xfrm>
            <a:off x="174885" y="6328316"/>
            <a:ext cx="51808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1400" dirty="0"/>
              <a:t>Lan et al., J. Chem. Phys. 122, 224315 (2005)</a:t>
            </a:r>
            <a:endParaRPr lang="en-US" altLang="zh-CN" sz="1400" dirty="0"/>
          </a:p>
          <a:p>
            <a:r>
              <a:rPr lang="en-US" altLang="zh-CN" sz="1400" dirty="0"/>
              <a:t>In preparation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5576665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5FD1D-899F-5EE2-524D-CD86EDC86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361BC43-CB75-D783-F257-DD0D1DE8C059}"/>
              </a:ext>
            </a:extLst>
          </p:cNvPr>
          <p:cNvSpPr txBox="1"/>
          <p:nvPr/>
        </p:nvSpPr>
        <p:spPr>
          <a:xfrm>
            <a:off x="10886" y="58965"/>
            <a:ext cx="115461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dirty="0"/>
              <a:t>The geometric phase in nonadiabatic dynamics is incorporated by LDR. </a:t>
            </a:r>
            <a:endParaRPr lang="en-CN" altLang="zh-CN" sz="2400" b="1" dirty="0"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5711006-5F76-218D-A27D-F012A1C0BC33}"/>
              </a:ext>
            </a:extLst>
          </p:cNvPr>
          <p:cNvSpPr txBox="1"/>
          <p:nvPr/>
        </p:nvSpPr>
        <p:spPr>
          <a:xfrm>
            <a:off x="11615964" y="58965"/>
            <a:ext cx="5651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rgbClr val="5C749B"/>
                </a:solidFill>
              </a:rPr>
              <a:t>9</a:t>
            </a:r>
            <a:endParaRPr lang="zh-CN" altLang="en-US" sz="2200" b="1" dirty="0">
              <a:solidFill>
                <a:srgbClr val="5C749B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2A984695-151E-5A5A-A231-A84E6E8DFE79}"/>
                  </a:ext>
                </a:extLst>
              </p:cNvPr>
              <p:cNvSpPr txBox="1"/>
              <p:nvPr/>
            </p:nvSpPr>
            <p:spPr>
              <a:xfrm>
                <a:off x="9760275" y="1746882"/>
                <a:ext cx="1732230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fontAlgn="auto">
                  <a:spcBef>
                    <a:spcPts val="1200"/>
                  </a:spcBef>
                  <a:spcAft>
                    <a:spcPts val="12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CN" sz="2000" b="0" i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+</m:t>
                          </m:r>
                        </m:sup>
                      </m:sSubSup>
                    </m:oMath>
                  </m:oMathPara>
                </a14:m>
                <a:endPara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 fontAlgn="auto">
                  <a:spcBef>
                    <a:spcPts val="1200"/>
                  </a:spcBef>
                  <a:spcAft>
                    <a:spcPts val="1200"/>
                  </a:spcAft>
                </a:pP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FCI/cc-</a:t>
                </a:r>
                <a:r>
                  <a:rPr lang="en-US" altLang="zh-CN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pVTZ</a:t>
                </a:r>
                <a:endPara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8" name="TextBox 18">
                <a:extLst>
                  <a:ext uri="{FF2B5EF4-FFF2-40B4-BE49-F238E27FC236}">
                    <a16:creationId xmlns:a16="http://schemas.microsoft.com/office/drawing/2014/main" id="{2A984695-151E-5A5A-A231-A84E6E8DF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0275" y="1746882"/>
                <a:ext cx="1732230" cy="1015663"/>
              </a:xfrm>
              <a:prstGeom prst="rect">
                <a:avLst/>
              </a:prstGeom>
              <a:blipFill>
                <a:blip r:embed="rId3"/>
                <a:stretch>
                  <a:fillRect l="-1056" r="-1056" b="-10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图片 19">
            <a:extLst>
              <a:ext uri="{FF2B5EF4-FFF2-40B4-BE49-F238E27FC236}">
                <a16:creationId xmlns:a16="http://schemas.microsoft.com/office/drawing/2014/main" id="{F64CCBA1-491F-1080-4D39-FA5C7094D0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4966"/>
          <a:stretch/>
        </p:blipFill>
        <p:spPr>
          <a:xfrm>
            <a:off x="7264803" y="4044825"/>
            <a:ext cx="2495472" cy="275182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E51655DA-75BA-457D-C563-5EDECD122D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7078" y="4044826"/>
            <a:ext cx="2892685" cy="2751826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3A7552AF-AD59-E704-9577-AB0C0731F641}"/>
              </a:ext>
            </a:extLst>
          </p:cNvPr>
          <p:cNvSpPr txBox="1"/>
          <p:nvPr/>
        </p:nvSpPr>
        <p:spPr>
          <a:xfrm>
            <a:off x="9050957" y="4367836"/>
            <a:ext cx="543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S1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9DD0748-497B-482C-61FC-235E42B5CA49}"/>
              </a:ext>
            </a:extLst>
          </p:cNvPr>
          <p:cNvSpPr/>
          <p:nvPr/>
        </p:nvSpPr>
        <p:spPr>
          <a:xfrm>
            <a:off x="1" y="540657"/>
            <a:ext cx="12192000" cy="36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10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AC59F63F-CB43-8173-98B1-D7518E030C43}"/>
              </a:ext>
            </a:extLst>
          </p:cNvPr>
          <p:cNvCxnSpPr>
            <a:cxnSpLocks/>
          </p:cNvCxnSpPr>
          <p:nvPr/>
        </p:nvCxnSpPr>
        <p:spPr>
          <a:xfrm rot="5400000">
            <a:off x="8361312" y="4724918"/>
            <a:ext cx="720000" cy="0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630FF095-0CCC-3F12-EE89-940EFC7F79D1}"/>
              </a:ext>
            </a:extLst>
          </p:cNvPr>
          <p:cNvSpPr txBox="1"/>
          <p:nvPr/>
        </p:nvSpPr>
        <p:spPr>
          <a:xfrm>
            <a:off x="122038" y="6488875"/>
            <a:ext cx="32995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In preparation</a:t>
            </a:r>
            <a:endParaRPr lang="zh-CN" altLang="en-US" sz="1400" dirty="0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1ADBCDD-3C5B-707F-637B-FA05B372B424}"/>
              </a:ext>
            </a:extLst>
          </p:cNvPr>
          <p:cNvCxnSpPr>
            <a:cxnSpLocks/>
          </p:cNvCxnSpPr>
          <p:nvPr/>
        </p:nvCxnSpPr>
        <p:spPr>
          <a:xfrm flipH="1" flipV="1">
            <a:off x="8749711" y="4804072"/>
            <a:ext cx="1144947" cy="14470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05AAD134-3A32-23CE-B7C5-A3A4F59D041F}"/>
              </a:ext>
            </a:extLst>
          </p:cNvPr>
          <p:cNvSpPr txBox="1"/>
          <p:nvPr/>
        </p:nvSpPr>
        <p:spPr>
          <a:xfrm>
            <a:off x="9824770" y="4564055"/>
            <a:ext cx="17322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200" dirty="0">
                <a:solidFill>
                  <a:srgbClr val="FF0000"/>
                </a:solidFill>
              </a:rPr>
              <a:t>destructive interference </a:t>
            </a:r>
            <a:endParaRPr lang="en-US" altLang="zh-CN" sz="2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3691498-4698-8428-308E-1953A330285E}"/>
              </a:ext>
            </a:extLst>
          </p:cNvPr>
          <p:cNvSpPr txBox="1"/>
          <p:nvPr/>
        </p:nvSpPr>
        <p:spPr>
          <a:xfrm>
            <a:off x="675794" y="4684904"/>
            <a:ext cx="16473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1200"/>
              </a:spcBef>
              <a:spcAft>
                <a:spcPts val="1200"/>
              </a:spcAft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Electronic nonadiabatic transition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0E4863B-3035-495D-1836-E2A7262E1AA7}"/>
              </a:ext>
            </a:extLst>
          </p:cNvPr>
          <p:cNvSpPr txBox="1"/>
          <p:nvPr/>
        </p:nvSpPr>
        <p:spPr>
          <a:xfrm>
            <a:off x="5546909" y="4768512"/>
            <a:ext cx="15638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1200"/>
              </a:spcBef>
              <a:spcAft>
                <a:spcPts val="1200"/>
              </a:spcAft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Geometric phase effect</a:t>
            </a:r>
          </a:p>
        </p:txBody>
      </p:sp>
      <p:pic>
        <p:nvPicPr>
          <p:cNvPr id="16" name="Picture 4" descr="Figure 2">
            <a:extLst>
              <a:ext uri="{FF2B5EF4-FFF2-40B4-BE49-F238E27FC236}">
                <a16:creationId xmlns:a16="http://schemas.microsoft.com/office/drawing/2014/main" id="{3C4AD105-4656-0CCA-77EE-4A543BD89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677" y="1107820"/>
            <a:ext cx="5670452" cy="226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7">
            <a:extLst>
              <a:ext uri="{FF2B5EF4-FFF2-40B4-BE49-F238E27FC236}">
                <a16:creationId xmlns:a16="http://schemas.microsoft.com/office/drawing/2014/main" id="{5A7DD7F6-D000-A98A-5884-E7E161A7C87B}"/>
              </a:ext>
            </a:extLst>
          </p:cNvPr>
          <p:cNvSpPr/>
          <p:nvPr/>
        </p:nvSpPr>
        <p:spPr>
          <a:xfrm>
            <a:off x="808741" y="3342726"/>
            <a:ext cx="37545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/>
              <a:t>Polli et al. </a:t>
            </a:r>
            <a:r>
              <a:rPr lang="en-US" sz="1400" i="1" dirty="0"/>
              <a:t>Nature</a:t>
            </a:r>
            <a:r>
              <a:rPr lang="en-US" sz="1400" dirty="0"/>
              <a:t> 2010, </a:t>
            </a:r>
            <a:r>
              <a:rPr lang="en-US" sz="1400" i="1" dirty="0"/>
              <a:t>467</a:t>
            </a:r>
            <a:r>
              <a:rPr lang="en-US" sz="1400" dirty="0"/>
              <a:t> (7314), 440–443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CAFA5578-66E6-07AD-C809-2B9324A334B3}"/>
              </a:ext>
            </a:extLst>
          </p:cNvPr>
          <p:cNvGrpSpPr/>
          <p:nvPr/>
        </p:nvGrpSpPr>
        <p:grpSpPr>
          <a:xfrm>
            <a:off x="6904340" y="690300"/>
            <a:ext cx="2765698" cy="3218383"/>
            <a:chOff x="6904340" y="690300"/>
            <a:chExt cx="2765698" cy="3218383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EAE99527-2897-3444-90E6-494A0476FB8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904340" y="1694429"/>
              <a:ext cx="2765698" cy="2214254"/>
            </a:xfrm>
            <a:prstGeom prst="rect">
              <a:avLst/>
            </a:prstGeom>
          </p:spPr>
        </p:pic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67ACE1EB-A010-D24D-1281-7135664D6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689" r="55982" b="81863"/>
            <a:stretch/>
          </p:blipFill>
          <p:spPr>
            <a:xfrm>
              <a:off x="7066205" y="690300"/>
              <a:ext cx="2418628" cy="899559"/>
            </a:xfrm>
            <a:prstGeom prst="rect">
              <a:avLst/>
            </a:prstGeom>
          </p:spPr>
        </p:pic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393F4926-0BAD-3A9D-D3DD-274FDA075A99}"/>
                </a:ext>
              </a:extLst>
            </p:cNvPr>
            <p:cNvSpPr/>
            <p:nvPr/>
          </p:nvSpPr>
          <p:spPr>
            <a:xfrm>
              <a:off x="6937999" y="1380459"/>
              <a:ext cx="653608" cy="209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36F30101-1EEF-C07F-BDDA-9AB7CC86BC25}"/>
                </a:ext>
              </a:extLst>
            </p:cNvPr>
            <p:cNvSpPr/>
            <p:nvPr/>
          </p:nvSpPr>
          <p:spPr>
            <a:xfrm>
              <a:off x="8995380" y="1349108"/>
              <a:ext cx="653608" cy="209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3875505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603363" y="1835673"/>
            <a:ext cx="10985274" cy="27392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en-US" sz="2200" dirty="0"/>
              <a:t>The local diabatic representation provides a numerically exact approach for exact quantum dynamic simulation without singularities.</a:t>
            </a:r>
          </a:p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en-US" sz="2200" dirty="0"/>
              <a:t>The single-state local diabatic representation enables the incorporation of the geometric phase effect using only a single potential energy surface.</a:t>
            </a:r>
          </a:p>
          <a:p>
            <a:pPr marL="342900" indent="-342900" algn="just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l"/>
            </a:pPr>
            <a:r>
              <a:rPr lang="en-US" sz="2200" dirty="0"/>
              <a:t>The local diabatic representation captures the geometric phase effect in nonadiabatic reactions.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E0FF1B2-188C-4D5C-483C-CFBF2B1875CC}"/>
              </a:ext>
            </a:extLst>
          </p:cNvPr>
          <p:cNvSpPr txBox="1"/>
          <p:nvPr/>
        </p:nvSpPr>
        <p:spPr>
          <a:xfrm>
            <a:off x="11615964" y="58965"/>
            <a:ext cx="5651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rgbClr val="5C749B"/>
                </a:solidFill>
              </a:rPr>
              <a:t>10</a:t>
            </a:r>
            <a:endParaRPr lang="zh-CN" altLang="en-US" sz="2200" b="1" dirty="0">
              <a:solidFill>
                <a:srgbClr val="5C749B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AFAB3D-78E4-D9D0-18D6-44DCC84550DF}"/>
              </a:ext>
            </a:extLst>
          </p:cNvPr>
          <p:cNvSpPr/>
          <p:nvPr/>
        </p:nvSpPr>
        <p:spPr>
          <a:xfrm>
            <a:off x="1" y="540657"/>
            <a:ext cx="12192000" cy="36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10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6340FDE-410C-7B49-234E-57F5FC7BE072}"/>
              </a:ext>
            </a:extLst>
          </p:cNvPr>
          <p:cNvSpPr txBox="1"/>
          <p:nvPr/>
        </p:nvSpPr>
        <p:spPr>
          <a:xfrm>
            <a:off x="112486" y="58965"/>
            <a:ext cx="10841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dirty="0"/>
              <a:t>Conclusions</a:t>
            </a:r>
            <a:endParaRPr lang="en-CN" altLang="zh-CN" sz="2400" b="1" dirty="0"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57E1383-B705-2CE1-A9F7-FCB2791BF6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3" r="3539"/>
          <a:stretch/>
        </p:blipFill>
        <p:spPr bwMode="auto">
          <a:xfrm>
            <a:off x="4492487" y="921499"/>
            <a:ext cx="7360635" cy="5334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9715744-E551-AD48-7360-ED781C4FE1DC}"/>
              </a:ext>
            </a:extLst>
          </p:cNvPr>
          <p:cNvSpPr txBox="1"/>
          <p:nvPr/>
        </p:nvSpPr>
        <p:spPr>
          <a:xfrm>
            <a:off x="11615964" y="58965"/>
            <a:ext cx="5651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>
                <a:solidFill>
                  <a:srgbClr val="5C749B"/>
                </a:solidFill>
              </a:rPr>
              <a:t>11</a:t>
            </a:r>
            <a:endParaRPr lang="zh-CN" altLang="en-US" sz="2200" b="1" dirty="0">
              <a:solidFill>
                <a:srgbClr val="5C749B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8C2F54-5AFA-966F-F6C4-9C39E28089EB}"/>
              </a:ext>
            </a:extLst>
          </p:cNvPr>
          <p:cNvSpPr/>
          <p:nvPr/>
        </p:nvSpPr>
        <p:spPr>
          <a:xfrm>
            <a:off x="1" y="540657"/>
            <a:ext cx="12192000" cy="36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10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8D7E63D-BC0C-C5FE-E066-17DB4FD27AFC}"/>
              </a:ext>
            </a:extLst>
          </p:cNvPr>
          <p:cNvSpPr txBox="1"/>
          <p:nvPr/>
        </p:nvSpPr>
        <p:spPr>
          <a:xfrm>
            <a:off x="112486" y="58965"/>
            <a:ext cx="108412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dirty="0"/>
              <a:t>Acknowledgments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9A9C37-59A5-12AA-AEC8-CCDBAB57607C}"/>
              </a:ext>
            </a:extLst>
          </p:cNvPr>
          <p:cNvSpPr txBox="1"/>
          <p:nvPr/>
        </p:nvSpPr>
        <p:spPr>
          <a:xfrm>
            <a:off x="471542" y="1069663"/>
            <a:ext cx="333888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Advisor: 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Prof. Bing Gu</a:t>
            </a:r>
          </a:p>
          <a:p>
            <a:endParaRPr lang="en-US" altLang="zh-CN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Group Members: 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Dr.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Xiang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Li</a:t>
            </a:r>
          </a:p>
          <a:p>
            <a:pPr lvl="2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Xiaotong Zhu</a:t>
            </a:r>
          </a:p>
          <a:p>
            <a:pPr lvl="2"/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Ruoxi Liu</a:t>
            </a:r>
          </a:p>
          <a:p>
            <a:pPr lvl="2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Mo Sha</a:t>
            </a:r>
          </a:p>
          <a:p>
            <a:pPr lvl="2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Junzhe Zhang</a:t>
            </a:r>
          </a:p>
          <a:p>
            <a:pPr lvl="2"/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Shuoyi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Hu</a:t>
            </a:r>
          </a:p>
          <a:p>
            <a:pPr lvl="2"/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Li Huang</a:t>
            </a:r>
          </a:p>
        </p:txBody>
      </p:sp>
    </p:spTree>
    <p:extLst>
      <p:ext uri="{BB962C8B-B14F-4D97-AF65-F5344CB8AC3E}">
        <p14:creationId xmlns:p14="http://schemas.microsoft.com/office/powerpoint/2010/main" val="270495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"/>
          <p:cNvSpPr txBox="1"/>
          <p:nvPr/>
        </p:nvSpPr>
        <p:spPr>
          <a:xfrm>
            <a:off x="770255" y="3106420"/>
            <a:ext cx="106521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Thanks for your attention.</a:t>
            </a:r>
          </a:p>
        </p:txBody>
      </p:sp>
      <p:sp>
        <p:nvSpPr>
          <p:cNvPr id="2" name="AutoShape 2" descr="国家自然科学基金委员会矢量徽标图片_Logo_LOGO标识-图行天下素材网">
            <a:extLst>
              <a:ext uri="{FF2B5EF4-FFF2-40B4-BE49-F238E27FC236}">
                <a16:creationId xmlns:a16="http://schemas.microsoft.com/office/drawing/2014/main" id="{A0F6F4A6-1693-9837-6429-FE360FB2A0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49171" y="782171"/>
            <a:ext cx="2799229" cy="2799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6C344-7AE8-C355-56E1-B2AB5E6A6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id="{05B802E9-A8A7-1723-DCC8-C8009EAD0D67}"/>
              </a:ext>
            </a:extLst>
          </p:cNvPr>
          <p:cNvGrpSpPr/>
          <p:nvPr/>
        </p:nvGrpSpPr>
        <p:grpSpPr>
          <a:xfrm>
            <a:off x="1390648" y="-300796"/>
            <a:ext cx="8148163" cy="7044496"/>
            <a:chOff x="1390648" y="-300796"/>
            <a:chExt cx="8148163" cy="7044496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3A91A7C4-3B03-5E24-B279-003ED0F6F4B8}"/>
                </a:ext>
              </a:extLst>
            </p:cNvPr>
            <p:cNvSpPr/>
            <p:nvPr/>
          </p:nvSpPr>
          <p:spPr>
            <a:xfrm>
              <a:off x="1390648" y="-300796"/>
              <a:ext cx="8007351" cy="70444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49297097-1618-6B64-7428-4E3B92266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77767B"/>
                </a:clrFrom>
                <a:clrTo>
                  <a:srgbClr val="77767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13164" y="3432175"/>
              <a:ext cx="2762104" cy="2952000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DE075E5C-8B2C-8745-BAFE-A6A333F9B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clrChange>
                <a:clrFrom>
                  <a:srgbClr val="77767B"/>
                </a:clrFrom>
                <a:clrTo>
                  <a:srgbClr val="77767B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3026" y="3432175"/>
              <a:ext cx="2728207" cy="2952000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561EC9D8-7CF6-7666-357B-769E38D40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3276" y="-300796"/>
              <a:ext cx="3398899" cy="3276000"/>
            </a:xfrm>
            <a:prstGeom prst="rect">
              <a:avLst/>
            </a:prstGeom>
          </p:spPr>
        </p:pic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82894F40-6E72-9D96-9ADA-20B77E82DE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94560" y="5310374"/>
              <a:ext cx="749069" cy="630455"/>
            </a:xfrm>
            <a:prstGeom prst="line">
              <a:avLst/>
            </a:prstGeom>
            <a:ln w="3810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1EC94237-E7F1-6B63-9A9A-91CAB3AB0C4A}"/>
                </a:ext>
              </a:extLst>
            </p:cNvPr>
            <p:cNvSpPr txBox="1"/>
            <p:nvPr/>
          </p:nvSpPr>
          <p:spPr>
            <a:xfrm>
              <a:off x="1531417" y="6312813"/>
              <a:ext cx="381643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/>
                <a:t>With geometric phase effect</a:t>
              </a:r>
              <a:endParaRPr lang="zh-CN" altLang="en-US" sz="2200" dirty="0"/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AFB6386C-E7E3-3484-8713-F13A9A4A8888}"/>
                </a:ext>
              </a:extLst>
            </p:cNvPr>
            <p:cNvSpPr txBox="1"/>
            <p:nvPr/>
          </p:nvSpPr>
          <p:spPr>
            <a:xfrm>
              <a:off x="5408072" y="6312812"/>
              <a:ext cx="410848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/>
                <a:t>Without geometric phase effect</a:t>
              </a:r>
              <a:endParaRPr lang="zh-CN" altLang="en-US" sz="2200" dirty="0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F843A68B-A214-0307-D355-74C18BF90326}"/>
                </a:ext>
              </a:extLst>
            </p:cNvPr>
            <p:cNvSpPr txBox="1"/>
            <p:nvPr/>
          </p:nvSpPr>
          <p:spPr>
            <a:xfrm>
              <a:off x="5039974" y="4486048"/>
              <a:ext cx="46859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/>
                <a:t>vs.</a:t>
              </a:r>
              <a:endParaRPr lang="zh-CN" altLang="en-US" sz="2200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074F2D1-15CC-D6CC-B1F5-139AE84567BC}"/>
                </a:ext>
              </a:extLst>
            </p:cNvPr>
            <p:cNvSpPr txBox="1"/>
            <p:nvPr/>
          </p:nvSpPr>
          <p:spPr>
            <a:xfrm>
              <a:off x="1531460" y="3039575"/>
              <a:ext cx="376167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/>
                <a:t>Local diabatic representation</a:t>
              </a:r>
              <a:endParaRPr lang="zh-CN" altLang="en-US" sz="22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9507169-920E-A97B-D23F-CED4FCCE6463}"/>
                </a:ext>
              </a:extLst>
            </p:cNvPr>
            <p:cNvSpPr txBox="1"/>
            <p:nvPr/>
          </p:nvSpPr>
          <p:spPr>
            <a:xfrm>
              <a:off x="5469407" y="3039574"/>
              <a:ext cx="406940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dirty="0"/>
                <a:t>Born−Oppenheimer dynamics</a:t>
              </a:r>
              <a:endParaRPr lang="zh-CN" altLang="en-US" sz="2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76099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13403</TotalTime>
  <Words>673</Words>
  <Application>Microsoft Office PowerPoint</Application>
  <PresentationFormat>宽屏</PresentationFormat>
  <Paragraphs>136</Paragraphs>
  <Slides>14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Helvetica Neue</vt:lpstr>
      <vt:lpstr>Helvetica Neue Light</vt:lpstr>
      <vt:lpstr>Optima</vt:lpstr>
      <vt:lpstr>等线</vt:lpstr>
      <vt:lpstr>宋体</vt:lpstr>
      <vt:lpstr>Arial</vt:lpstr>
      <vt:lpstr>Arial Black</vt:lpstr>
      <vt:lpstr>Calibri</vt:lpstr>
      <vt:lpstr>Cambria Math</vt:lpstr>
      <vt:lpstr>Helvetica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yjuanxie@163.com</cp:lastModifiedBy>
  <cp:revision>1279</cp:revision>
  <dcterms:created xsi:type="dcterms:W3CDTF">2025-03-17T05:04:39Z</dcterms:created>
  <dcterms:modified xsi:type="dcterms:W3CDTF">2025-03-26T14:30:34Z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1033-11.1.0.11698</vt:lpwstr>
  </property>
  <property fmtid="{D5CDD505-2E9C-101B-9397-08002B2CF9AE}" pid="3" name="ICV">
    <vt:lpwstr/>
  </property>
</Properties>
</file>