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63" r:id="rId5"/>
    <p:sldId id="262" r:id="rId6"/>
    <p:sldId id="264" r:id="rId7"/>
    <p:sldId id="265" r:id="rId8"/>
    <p:sldId id="270" r:id="rId9"/>
    <p:sldId id="267" r:id="rId10"/>
    <p:sldId id="268" r:id="rId11"/>
    <p:sldId id="269" r:id="rId12"/>
    <p:sldId id="27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0322"/>
  </p:normalViewPr>
  <p:slideViewPr>
    <p:cSldViewPr snapToGrid="0">
      <p:cViewPr varScale="1">
        <p:scale>
          <a:sx n="89" d="100"/>
          <a:sy n="89" d="100"/>
        </p:scale>
        <p:origin x="1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1A3F0-AF31-3443-B009-5542DC6296EB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D0DA4-6816-F54B-A4CB-C62BBE5CD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6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0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F096-BE13-ADCB-7FFD-2CC83215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9B6CC-A512-1D29-7927-EBA275709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BF3ED-67A5-AB74-B813-1E1773A26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SHOW EXPERIMENTAL WORK</a:t>
            </a:r>
            <a:br>
              <a:rPr lang="en-US" dirty="0"/>
            </a:br>
            <a:endParaRPr lang="en-US" dirty="0"/>
          </a:p>
          <a:p>
            <a:r>
              <a:rPr lang="en-US" dirty="0"/>
              <a:t>PARA VS OTHER POSITIONS</a:t>
            </a:r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7F461-B649-FB8C-AD2C-1C9F01787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84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63AEA-37C8-725D-D16C-46DC0A9BD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94A22-484C-42E8-0F9E-25A769FA6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4456D-ADCE-C67D-79FD-B4EAE76B2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45F08-83FD-5AC8-F486-5B614F0A9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13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7004-69DF-94D3-F551-CBBFCA73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847BC-532B-5C72-7AC7-5EE5B6B30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761B9-F5CE-F1CC-A9CD-77EB9458B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DB276-0B0A-1C10-366F-AA72E69E2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25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A118C-2000-33CE-9277-3A2EC39D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873BE-79F7-15D4-3942-2093CDAB7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EFF97-12B5-2A9E-FB4D-9ECDF5573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C7CD3-A18B-4CEC-F50E-C042336D0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63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9E909-9295-4629-B38E-6E30C083F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B1D60-FC8C-0CB2-1770-08289423C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4E95B-9891-AE80-BAA5-B6E2C39B5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4587A-A4E1-1E07-ED5C-FE5002B22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65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FEE3-77ED-30D3-23DB-A9103540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AECB8-F217-F349-50DD-D640FA287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01EFE-E58D-D13E-AFF8-A6C41F647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D755E-9E71-E816-324D-E40C58A57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64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A58AB-6ED9-D097-9B20-560394855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BA0EE-BA69-E1FD-DA64-D6911A118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60E58-909E-33F5-E39B-861576DE0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20F57-0B15-10BE-82C7-93DA7731D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4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62194-5A5B-92E3-E378-F62C1A12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25609-AD7C-A2AF-4876-1C25AFC1A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75736-F313-A8FF-4740-3CE98455F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79115-5D03-4259-D64E-D8780435B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10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F50C-8925-3632-335F-4D1FE002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8BFF3-48B7-E30B-0413-AEAA2EC8C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08A3C-1E2E-19C9-B338-43B719D9C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/figure/Schematic-illustration-for-2D-perovskites-3D-perovskites-and-mixed-dimensional_fig1_356789331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12760-D769-B3E0-F23B-BEB65740C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28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</a:t>
            </a:r>
            <a:r>
              <a:rPr lang="en-US" dirty="0" err="1"/>
              <a:t>pubs.acs.org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/10.1021/acs.chemmater.2c00146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D0DA4-6816-F54B-A4CB-C62BBE5CD1C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4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CC09-FCA6-5025-3546-29DF46400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89F09-0C02-617D-4712-4DF8D7C46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B3073-BD4F-A5DB-26EC-8A008EA0C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530E3-F29D-61BE-C9BF-75E7C614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CAF72-5421-E4F6-907F-3A01E325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37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EA75-05C4-C078-A675-FB0FFD9B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644D-08D0-F4C0-728E-E0FA5FCB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C36C-1029-8DC5-20FF-AB5BE0DAA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EBF6-6B9A-88B5-F3DA-5D0B029C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3E2D7-8901-3493-F4A1-4266DD68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3E5373B7-C7B7-3C4E-A901-FDD6F761C7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2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5324-58EC-661E-B17A-344F82F7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BA1E7-C3C0-39FD-515C-C26EE8FB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E7D94-E482-EAC3-3246-58F95213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B7E11-C5DD-3729-D740-2E08124A9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C2283-2390-B1C7-FBBE-46F2F36F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4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C11B-7059-47EB-1638-477FFD30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D47DC-004E-71B8-41ED-CD2989D2C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E3524-9C24-A3A0-2CE1-87EBC8558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CC84B-EAB8-E42B-298F-7F26D628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39B4D-7F22-707A-F4D5-C031780A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A01D1-BC1E-2F4C-0433-4B4AB237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9E641-5054-DA6A-CA3D-228BE8893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60B7E-6EC1-F44C-7C42-D66C8EB42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C270D-3622-8ADE-E9A6-9F5F7E351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CF2775-900E-D277-A850-11D58CE40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33436-4DC9-756B-279D-66296B5FE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BE108-E80B-9FF6-1851-19E8945E0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A49ECC-7930-B241-80B5-819B2F4D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C73839-60ED-AFA2-C483-D96A3685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7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8105-757F-0629-41AF-F0D60ABD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D1656-CFEC-21FC-A008-8167913B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6CE26-F524-5B44-7664-62440E43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C5B1C-E947-A7B7-DBDD-A5A1E5CC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2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F9161-C00B-59A0-1534-65E9E1D1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71180-DF67-99EF-2AB5-68DE62C9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01D43-FD15-78C9-8BFD-8CE80C81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4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5FE9-03E2-6FED-C52A-A008798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FEC71-DD7B-8799-471A-FA633F87A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024B1-EC3D-6179-CBBA-5D6D2148C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2C5BD-1D6B-556E-9033-148C2715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B21D2-B254-7E4B-5959-DFD76A9C9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6F669-B00D-6E95-7121-A700BCEF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0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D4FD-AE7B-4A1B-0C8E-7F140590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8A1AC-E817-BF5A-E93A-185A11231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151DF-2747-0531-F3EA-5AE8C80FE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10EC-5CD0-45FD-E5E0-4F409AC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F2157-94A4-4A93-DFFA-5B1FFDBD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B7369-3420-23EE-5D40-4C40A56B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BFFB-7DB1-D49F-B0A0-5410AD2B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DFFF7-F712-4EDC-771B-BB973F869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166E4-58FC-DEEB-9980-42A728A34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DCF3-A9E1-D960-34D8-F965D6E1B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440B3-71C0-2B61-D6DB-F7C692AE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4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88C8CE-FCB1-62E8-DD2B-78EE53F2C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ED670-2614-32A7-E8FA-BAA1D4ED0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8450C-4D53-D8C1-1249-7CF705AB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BB82-29D0-A0AA-0550-A5072915C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0910C-846B-772D-04B2-9D65C9DE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03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23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1B472-EA58-F9BE-4EF8-453099D2C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B018D-4AE3-10F9-FFB8-8AD2E87A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9CF6C-01EB-9D8E-8FAE-2BE0BEFC5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22F1F-4D11-A3B9-EAB6-10F28017C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4AF0A-357B-C29C-5DA4-6C886AB52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373B7-C7B7-3C4E-A901-FDD6F761C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2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4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31351" y="1338794"/>
            <a:ext cx="9129299" cy="2200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defRPr/>
            </a:pPr>
            <a:r>
              <a:rPr lang="en-US" sz="3200" b="1" dirty="0">
                <a:solidFill>
                  <a:srgbClr val="990000"/>
                </a:solidFill>
                <a:latin typeface="Arial"/>
                <a:ea typeface="+mj-ea"/>
                <a:cs typeface="Arial"/>
              </a:rPr>
              <a:t>Enhancing Interlayer Charge Transport of Two-Dimensional Perovskites by Structural Stabilization via Fluorine Substitution</a:t>
            </a:r>
            <a:endParaRPr lang="en-US" sz="2750" dirty="0">
              <a:solidFill>
                <a:srgbClr val="990000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531350" y="3390900"/>
            <a:ext cx="9129299" cy="95209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ctr" defTabSz="457200">
              <a:spcBef>
                <a:spcPct val="20000"/>
              </a:spcBef>
              <a:defRPr/>
            </a:pP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Liz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Stippell</a:t>
            </a:r>
            <a:endParaRPr lang="en-US" sz="2400" i="1" dirty="0">
              <a:solidFill>
                <a:schemeClr val="bg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algn="ctr" defTabSz="457200">
              <a:spcBef>
                <a:spcPct val="20000"/>
              </a:spcBef>
              <a:defRPr/>
            </a:pP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PhD Candidate: University of Southern California</a:t>
            </a:r>
          </a:p>
          <a:p>
            <a:pPr algn="ctr" defTabSz="457200">
              <a:spcBef>
                <a:spcPct val="20000"/>
              </a:spcBef>
              <a:defRPr/>
            </a:pP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Advisor: Prof. Oleg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Prezhdo</a:t>
            </a:r>
            <a:endParaRPr lang="en-US" sz="2400" i="1" dirty="0">
              <a:solidFill>
                <a:schemeClr val="bg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1026" name="Picture 2" descr="Academic Logotypes - USC Brand and Identity Guidelines">
            <a:extLst>
              <a:ext uri="{FF2B5EF4-FFF2-40B4-BE49-F238E27FC236}">
                <a16:creationId xmlns:a16="http://schemas.microsoft.com/office/drawing/2014/main" id="{82E5E3FB-88F8-FCFA-F8C3-4C6574E38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7" y="5591175"/>
            <a:ext cx="3751263" cy="952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SC the Shield mark">
            <a:extLst>
              <a:ext uri="{FF2B5EF4-FFF2-40B4-BE49-F238E27FC236}">
                <a16:creationId xmlns:a16="http://schemas.microsoft.com/office/drawing/2014/main" id="{E5DD9F43-D11B-A07F-E605-FE4684304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511" y="257175"/>
            <a:ext cx="1117351" cy="144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0A2B-C90B-E49C-4DC6-6024DF55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The Search for Better Energy Materials: Two-Dimensional Perovskites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CA9375-1F29-C117-E1EC-16FBA3A3CDAF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Schematic illustration for 2D perovskites, 3D perovskites, and mixed... |  Download Scientific Diagram">
            <a:extLst>
              <a:ext uri="{FF2B5EF4-FFF2-40B4-BE49-F238E27FC236}">
                <a16:creationId xmlns:a16="http://schemas.microsoft.com/office/drawing/2014/main" id="{D5463F8F-0234-62B0-7EC6-09CA1DAAB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19517"/>
            <a:ext cx="5584785" cy="357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A3342FD9-DC90-60A2-A697-72E3E222942C}"/>
              </a:ext>
            </a:extLst>
          </p:cNvPr>
          <p:cNvSpPr/>
          <p:nvPr/>
        </p:nvSpPr>
        <p:spPr>
          <a:xfrm>
            <a:off x="7801336" y="2404580"/>
            <a:ext cx="2743200" cy="1090914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Question: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How can we improve the efficiency of 2D perovskites?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6B8506-47B4-8CF2-FE2E-7ED85E4BFBA3}"/>
              </a:ext>
            </a:extLst>
          </p:cNvPr>
          <p:cNvSpPr/>
          <p:nvPr/>
        </p:nvSpPr>
        <p:spPr>
          <a:xfrm>
            <a:off x="838200" y="2942803"/>
            <a:ext cx="1256818" cy="5324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336B25E1-19E4-BC52-8D9F-B0F08B768969}"/>
              </a:ext>
            </a:extLst>
          </p:cNvPr>
          <p:cNvSpPr/>
          <p:nvPr/>
        </p:nvSpPr>
        <p:spPr>
          <a:xfrm>
            <a:off x="8977353" y="3556075"/>
            <a:ext cx="391165" cy="813554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lternate Process 16">
            <a:extLst>
              <a:ext uri="{FF2B5EF4-FFF2-40B4-BE49-F238E27FC236}">
                <a16:creationId xmlns:a16="http://schemas.microsoft.com/office/drawing/2014/main" id="{5E610754-74F2-4F78-561A-1B353DD0ACD0}"/>
              </a:ext>
            </a:extLst>
          </p:cNvPr>
          <p:cNvSpPr/>
          <p:nvPr/>
        </p:nvSpPr>
        <p:spPr>
          <a:xfrm>
            <a:off x="7801336" y="4430211"/>
            <a:ext cx="2743200" cy="1090914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Answer: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Adjust the organic spacers to enhance charge transfer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97604-6643-DA22-C9A6-18BBEA1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FDE5C-BBAF-877B-04EB-D72B85A775FB}"/>
              </a:ext>
            </a:extLst>
          </p:cNvPr>
          <p:cNvSpPr txBox="1"/>
          <p:nvPr/>
        </p:nvSpPr>
        <p:spPr>
          <a:xfrm>
            <a:off x="838200" y="6433718"/>
            <a:ext cx="5816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</a:rPr>
              <a:t>Wu, G. et al.  </a:t>
            </a:r>
            <a:r>
              <a:rPr lang="en-US" sz="1000" i="1" dirty="0">
                <a:effectLst/>
              </a:rPr>
              <a:t>Advanced Materials</a:t>
            </a:r>
            <a:r>
              <a:rPr lang="en-US" sz="1000" dirty="0">
                <a:effectLst/>
              </a:rPr>
              <a:t> </a:t>
            </a:r>
            <a:r>
              <a:rPr lang="en-US" sz="1000" b="1" dirty="0">
                <a:effectLst/>
              </a:rPr>
              <a:t>2022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34</a:t>
            </a:r>
            <a:r>
              <a:rPr lang="en-US" sz="1000" dirty="0">
                <a:effectLst/>
              </a:rPr>
              <a:t> (8), 2105635.</a:t>
            </a:r>
          </a:p>
        </p:txBody>
      </p:sp>
    </p:spTree>
    <p:extLst>
      <p:ext uri="{BB962C8B-B14F-4D97-AF65-F5344CB8AC3E}">
        <p14:creationId xmlns:p14="http://schemas.microsoft.com/office/powerpoint/2010/main" val="53731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960CF-0F25-17F5-B3D9-AE4B8779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C169-7B50-4EB4-4C5D-7A2CA3B6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Using Fluorine to Enhance Charge Transfer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B894F6-7851-9A4D-5A91-A22653771BC2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ChemSpider 2D Image | benzylammonium | C7H10N">
            <a:extLst>
              <a:ext uri="{FF2B5EF4-FFF2-40B4-BE49-F238E27FC236}">
                <a16:creationId xmlns:a16="http://schemas.microsoft.com/office/drawing/2014/main" id="{16BA1845-7762-E6DA-E17F-567D593FF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188" y="3747263"/>
            <a:ext cx="2639317" cy="263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DF0D02-E135-2F3C-9A15-71C9F78270BD}"/>
              </a:ext>
            </a:extLst>
          </p:cNvPr>
          <p:cNvSpPr txBox="1"/>
          <p:nvPr/>
        </p:nvSpPr>
        <p:spPr>
          <a:xfrm>
            <a:off x="1699267" y="3951074"/>
            <a:ext cx="256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Benzylammonium</a:t>
            </a:r>
            <a:r>
              <a:rPr lang="en-US" dirty="0"/>
              <a:t> (BZA)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334D7-863A-6BC1-0C0B-18FFC17ADF32}"/>
              </a:ext>
            </a:extLst>
          </p:cNvPr>
          <p:cNvGrpSpPr/>
          <p:nvPr/>
        </p:nvGrpSpPr>
        <p:grpSpPr>
          <a:xfrm>
            <a:off x="1618768" y="1602858"/>
            <a:ext cx="3065298" cy="2639317"/>
            <a:chOff x="5930275" y="2794120"/>
            <a:chExt cx="3756288" cy="3175000"/>
          </a:xfrm>
        </p:grpSpPr>
        <p:pic>
          <p:nvPicPr>
            <p:cNvPr id="7" name="Picture 2" descr="ChemSpider 2D Image | benzylammonium | C7H10N">
              <a:extLst>
                <a:ext uri="{FF2B5EF4-FFF2-40B4-BE49-F238E27FC236}">
                  <a16:creationId xmlns:a16="http://schemas.microsoft.com/office/drawing/2014/main" id="{5359C19F-A42D-35E8-1782-C804E0537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1563" y="2794120"/>
              <a:ext cx="3175000" cy="317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6B56058-466A-2AC7-B8BA-4BBEFBF114F2}"/>
                </a:ext>
              </a:extLst>
            </p:cNvPr>
            <p:cNvCxnSpPr/>
            <p:nvPr/>
          </p:nvCxnSpPr>
          <p:spPr>
            <a:xfrm flipH="1">
              <a:off x="6257563" y="4695945"/>
              <a:ext cx="419100" cy="228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37A0D8-9D89-682E-84C4-6A3F5F8185E1}"/>
                </a:ext>
              </a:extLst>
            </p:cNvPr>
            <p:cNvSpPr txBox="1"/>
            <p:nvPr/>
          </p:nvSpPr>
          <p:spPr>
            <a:xfrm>
              <a:off x="5930275" y="4695945"/>
              <a:ext cx="3497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F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51E7FF2-32A1-7E01-D0E8-8B93C92A7749}"/>
              </a:ext>
            </a:extLst>
          </p:cNvPr>
          <p:cNvSpPr txBox="1"/>
          <p:nvPr/>
        </p:nvSpPr>
        <p:spPr>
          <a:xfrm>
            <a:off x="1005086" y="1900471"/>
            <a:ext cx="3984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Fluorinated-</a:t>
            </a:r>
            <a:r>
              <a:rPr lang="en-US" dirty="0" err="1"/>
              <a:t>Benzylammonium</a:t>
            </a:r>
            <a:r>
              <a:rPr lang="en-US" dirty="0"/>
              <a:t> (F-BZA)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D1BB8E-D386-4548-B099-DA76FD939B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595" r="32292"/>
          <a:stretch/>
        </p:blipFill>
        <p:spPr>
          <a:xfrm rot="19630415">
            <a:off x="3870690" y="1976667"/>
            <a:ext cx="3782664" cy="3545230"/>
          </a:xfrm>
          <a:prstGeom prst="rect">
            <a:avLst/>
          </a:prstGeom>
        </p:spPr>
      </p:pic>
      <p:pic>
        <p:nvPicPr>
          <p:cNvPr id="3" name="Picture 2" descr="Abstract Image">
            <a:extLst>
              <a:ext uri="{FF2B5EF4-FFF2-40B4-BE49-F238E27FC236}">
                <a16:creationId xmlns:a16="http://schemas.microsoft.com/office/drawing/2014/main" id="{1697A77D-5714-675C-3B8E-6BB8F2CFD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300" y="2696464"/>
            <a:ext cx="4438500" cy="30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6FDEBB-3201-92B3-540E-310AE212A30B}"/>
              </a:ext>
            </a:extLst>
          </p:cNvPr>
          <p:cNvSpPr txBox="1"/>
          <p:nvPr/>
        </p:nvSpPr>
        <p:spPr>
          <a:xfrm>
            <a:off x="8158335" y="2178029"/>
            <a:ext cx="25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Why the para- position?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691FB7-1C4C-D2E2-61BF-D2E95F67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2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B4B4C8-99E8-DFCD-4E99-D1E708822E98}"/>
              </a:ext>
            </a:extLst>
          </p:cNvPr>
          <p:cNvSpPr txBox="1"/>
          <p:nvPr/>
        </p:nvSpPr>
        <p:spPr>
          <a:xfrm>
            <a:off x="6803952" y="6342899"/>
            <a:ext cx="4194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Yan, G. Chemistry of Materials 2022, 34 (7), 3346-3356.</a:t>
            </a:r>
          </a:p>
          <a:p>
            <a:r>
              <a:rPr lang="en-US" sz="1000" dirty="0"/>
              <a:t>Wang, Z. ACS Applied Materials &amp; Interfaces 2022, 14 (6), 7917-7925. </a:t>
            </a:r>
          </a:p>
        </p:txBody>
      </p:sp>
      <p:sp>
        <p:nvSpPr>
          <p:cNvPr id="17" name="Up Arrow 16">
            <a:extLst>
              <a:ext uri="{FF2B5EF4-FFF2-40B4-BE49-F238E27FC236}">
                <a16:creationId xmlns:a16="http://schemas.microsoft.com/office/drawing/2014/main" id="{F918B926-263A-644C-BBFA-27F8C8E86243}"/>
              </a:ext>
            </a:extLst>
          </p:cNvPr>
          <p:cNvSpPr/>
          <p:nvPr/>
        </p:nvSpPr>
        <p:spPr>
          <a:xfrm>
            <a:off x="91552" y="2727615"/>
            <a:ext cx="1295471" cy="203929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PCE</a:t>
            </a:r>
          </a:p>
        </p:txBody>
      </p:sp>
      <p:sp>
        <p:nvSpPr>
          <p:cNvPr id="21" name="Alternate Process 20">
            <a:extLst>
              <a:ext uri="{FF2B5EF4-FFF2-40B4-BE49-F238E27FC236}">
                <a16:creationId xmlns:a16="http://schemas.microsoft.com/office/drawing/2014/main" id="{48D6D211-8526-3262-734B-2F7A1BDC7C97}"/>
              </a:ext>
            </a:extLst>
          </p:cNvPr>
          <p:cNvSpPr/>
          <p:nvPr/>
        </p:nvSpPr>
        <p:spPr>
          <a:xfrm>
            <a:off x="1604507" y="5887870"/>
            <a:ext cx="4772373" cy="836346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Question: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HOW does fluorine improve charge transfer and efficiencies?</a:t>
            </a:r>
          </a:p>
        </p:txBody>
      </p:sp>
    </p:spTree>
    <p:extLst>
      <p:ext uri="{BB962C8B-B14F-4D97-AF65-F5344CB8AC3E}">
        <p14:creationId xmlns:p14="http://schemas.microsoft.com/office/powerpoint/2010/main" val="382404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FA989-A50B-C9CA-8B54-45889FF3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7304-A966-2569-98AA-23D7A600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Understanding Charge Transfer: Marcus Theory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DAEE51-0E1E-E38A-DCD8-53EF3B86E741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665944-5D8B-DBCF-41E9-998958EF6C9F}"/>
                  </a:ext>
                </a:extLst>
              </p:cNvPr>
              <p:cNvSpPr txBox="1"/>
              <p:nvPr/>
            </p:nvSpPr>
            <p:spPr>
              <a:xfrm>
                <a:off x="431689" y="3255501"/>
                <a:ext cx="7138684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𝑀𝑎𝑟𝑐𝑢𝑠</m:t>
                          </m:r>
                        </m:sub>
                      </m:sSub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𝑘𝑙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i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den>
                          </m:f>
                        </m:e>
                      </m:d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rad>
                      <m:r>
                        <a:rPr lang="en-US" sz="280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800" i="0" smtClean="0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λ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665944-5D8B-DBCF-41E9-998958EF6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689" y="3255501"/>
                <a:ext cx="7138684" cy="136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8EEBF39-92DF-1297-753D-A54F73B8EB16}"/>
                  </a:ext>
                </a:extLst>
              </p:cNvPr>
              <p:cNvSpPr/>
              <p:nvPr/>
            </p:nvSpPr>
            <p:spPr>
              <a:xfrm>
                <a:off x="347289" y="2239760"/>
                <a:ext cx="3194613" cy="90467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Marcus rate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coupling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8EEBF39-92DF-1297-753D-A54F73B8EB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89" y="2239760"/>
                <a:ext cx="3194613" cy="9046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9FC1BB-C7A4-9D0B-C532-934746A44D1E}"/>
                  </a:ext>
                </a:extLst>
              </p:cNvPr>
              <p:cNvSpPr/>
              <p:nvPr/>
            </p:nvSpPr>
            <p:spPr>
              <a:xfrm>
                <a:off x="4460162" y="2239760"/>
                <a:ext cx="3794567" cy="90467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Marcus rate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site energies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-1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9FC1BB-C7A4-9D0B-C532-934746A44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162" y="2239760"/>
                <a:ext cx="3794567" cy="904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98893F-5800-DC70-5741-8174156EFDED}"/>
              </a:ext>
            </a:extLst>
          </p:cNvPr>
          <p:cNvCxnSpPr>
            <a:cxnSpLocks/>
          </p:cNvCxnSpPr>
          <p:nvPr/>
        </p:nvCxnSpPr>
        <p:spPr>
          <a:xfrm>
            <a:off x="2801122" y="3144436"/>
            <a:ext cx="0" cy="32045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0D556C-3E16-25B7-9254-13ED325C886E}"/>
              </a:ext>
            </a:extLst>
          </p:cNvPr>
          <p:cNvCxnSpPr>
            <a:cxnSpLocks/>
          </p:cNvCxnSpPr>
          <p:nvPr/>
        </p:nvCxnSpPr>
        <p:spPr>
          <a:xfrm>
            <a:off x="6724940" y="3144436"/>
            <a:ext cx="0" cy="320452"/>
          </a:xfrm>
          <a:prstGeom prst="straightConnector1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2EF60E-B2B8-DD3B-826D-AE28D18AE59C}"/>
                  </a:ext>
                </a:extLst>
              </p:cNvPr>
              <p:cNvSpPr txBox="1"/>
              <p:nvPr/>
            </p:nvSpPr>
            <p:spPr>
              <a:xfrm>
                <a:off x="1809559" y="4905137"/>
                <a:ext cx="1319514" cy="693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2EF60E-B2B8-DD3B-826D-AE28D18AE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559" y="4905137"/>
                <a:ext cx="1319514" cy="693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E81D0-DC31-EC1D-681D-A8D12A9C8BF2}"/>
                  </a:ext>
                </a:extLst>
              </p:cNvPr>
              <p:cNvSpPr txBox="1"/>
              <p:nvPr/>
            </p:nvSpPr>
            <p:spPr>
              <a:xfrm>
                <a:off x="3426155" y="5067201"/>
                <a:ext cx="20921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𝑑𝐸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〈"/>
                                      <m:endChr m:val="〉"/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𝑑𝐸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E81D0-DC31-EC1D-681D-A8D12A9C8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155" y="5067201"/>
                <a:ext cx="209212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68514779-1FF5-341A-A6BD-C7B55AEC4BA9}"/>
              </a:ext>
            </a:extLst>
          </p:cNvPr>
          <p:cNvSpPr/>
          <p:nvPr/>
        </p:nvSpPr>
        <p:spPr>
          <a:xfrm>
            <a:off x="1809559" y="4731940"/>
            <a:ext cx="3794567" cy="112274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DC11FF-FFB7-A246-C74F-FDCB9269BF1D}"/>
                  </a:ext>
                </a:extLst>
              </p:cNvPr>
              <p:cNvSpPr txBox="1"/>
              <p:nvPr/>
            </p:nvSpPr>
            <p:spPr>
              <a:xfrm>
                <a:off x="7125184" y="4566150"/>
                <a:ext cx="4228616" cy="893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h𝑜𝑝𝑝𝑖𝑛𝑔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𝑒𝐷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𝑀𝑎𝑟𝑐𝑢𝑠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7DC11FF-FFB7-A246-C74F-FDCB9269B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184" y="4566150"/>
                <a:ext cx="4228616" cy="893899"/>
              </a:xfrm>
              <a:prstGeom prst="rect">
                <a:avLst/>
              </a:prstGeom>
              <a:blipFill>
                <a:blip r:embed="rId8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0F735EA0-F61E-2B7F-03E4-CCC3241E8A37}"/>
              </a:ext>
            </a:extLst>
          </p:cNvPr>
          <p:cNvCxnSpPr>
            <a:cxnSpLocks/>
            <a:stCxn id="4" idx="3"/>
            <a:endCxn id="22" idx="0"/>
          </p:cNvCxnSpPr>
          <p:nvPr/>
        </p:nvCxnSpPr>
        <p:spPr>
          <a:xfrm>
            <a:off x="7570373" y="3938188"/>
            <a:ext cx="1669119" cy="627962"/>
          </a:xfrm>
          <a:prstGeom prst="curvedConnector2">
            <a:avLst/>
          </a:prstGeom>
          <a:ln w="381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114FE90-A48B-E827-5C4B-DD19E6837818}"/>
              </a:ext>
            </a:extLst>
          </p:cNvPr>
          <p:cNvSpPr txBox="1"/>
          <p:nvPr/>
        </p:nvSpPr>
        <p:spPr>
          <a:xfrm>
            <a:off x="7644653" y="5617545"/>
            <a:ext cx="3353547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Charge Carrier Hopping Mobility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3B233-94BA-C4E2-FA0A-F543D35B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72988-AD4D-7BA1-FE9F-C7E273A0688E}"/>
              </a:ext>
            </a:extLst>
          </p:cNvPr>
          <p:cNvSpPr txBox="1"/>
          <p:nvPr/>
        </p:nvSpPr>
        <p:spPr>
          <a:xfrm>
            <a:off x="431689" y="6292691"/>
            <a:ext cx="4075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Marcus, R. A. The Journal of Chemical Physics 1965, 43 (8), 2654-2657.</a:t>
            </a:r>
          </a:p>
        </p:txBody>
      </p:sp>
    </p:spTree>
    <p:extLst>
      <p:ext uri="{BB962C8B-B14F-4D97-AF65-F5344CB8AC3E}">
        <p14:creationId xmlns:p14="http://schemas.microsoft.com/office/powerpoint/2010/main" val="399799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7" grpId="0"/>
      <p:bldP spid="19" grpId="0"/>
      <p:bldP spid="20" grpId="0" animBg="1"/>
      <p:bldP spid="22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E257-A117-1CE6-D342-A370D602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CCCE-9B65-B38F-4FD1-3CE16D69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Projection Diabatization Method (POD): Computing Nonadiabatic Couplings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99E1A7-9783-8C57-E08A-6980F13D37A3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diagram&#10;&#10;Description automatically generated">
            <a:extLst>
              <a:ext uri="{FF2B5EF4-FFF2-40B4-BE49-F238E27FC236}">
                <a16:creationId xmlns:a16="http://schemas.microsoft.com/office/drawing/2014/main" id="{C0423027-F119-C1AD-D402-09CD847B9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70" y="1875099"/>
            <a:ext cx="2023484" cy="4617776"/>
          </a:xfrm>
          <a:prstGeom prst="rect">
            <a:avLst/>
          </a:prstGeom>
        </p:spPr>
      </p:pic>
      <p:sp>
        <p:nvSpPr>
          <p:cNvPr id="15" name="Curved Up Arrow 14">
            <a:extLst>
              <a:ext uri="{FF2B5EF4-FFF2-40B4-BE49-F238E27FC236}">
                <a16:creationId xmlns:a16="http://schemas.microsoft.com/office/drawing/2014/main" id="{14942313-ED67-6222-1208-072F9E06161F}"/>
              </a:ext>
            </a:extLst>
          </p:cNvPr>
          <p:cNvSpPr/>
          <p:nvPr/>
        </p:nvSpPr>
        <p:spPr>
          <a:xfrm rot="16200000">
            <a:off x="2917602" y="3651731"/>
            <a:ext cx="1134480" cy="89157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89C0F-7C8B-70FD-8277-07E6478CEF61}"/>
              </a:ext>
            </a:extLst>
          </p:cNvPr>
          <p:cNvSpPr txBox="1"/>
          <p:nvPr/>
        </p:nvSpPr>
        <p:spPr>
          <a:xfrm>
            <a:off x="4999618" y="1875099"/>
            <a:ext cx="398878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Fragment-based diabatization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5FF051-E5CA-225D-BA33-C689C822B5CB}"/>
                  </a:ext>
                </a:extLst>
              </p:cNvPr>
              <p:cNvSpPr txBox="1"/>
              <p:nvPr/>
            </p:nvSpPr>
            <p:spPr>
              <a:xfrm>
                <a:off x="4999618" y="2808791"/>
                <a:ext cx="3988784" cy="98571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Create donor and acceptor blocks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</m:acc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𝐷𝐷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𝐷𝐴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𝐴𝐷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𝐴𝐴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effectLst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5FF051-E5CA-225D-BA33-C689C822B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618" y="2808791"/>
                <a:ext cx="3988784" cy="985719"/>
              </a:xfrm>
              <a:prstGeom prst="rect">
                <a:avLst/>
              </a:prstGeom>
              <a:blipFill>
                <a:blip r:embed="rId4"/>
                <a:stretch>
                  <a:fillRect t="-1235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0948DF-67B8-6419-A54F-1D30949FE85A}"/>
                  </a:ext>
                </a:extLst>
              </p:cNvPr>
              <p:cNvSpPr txBox="1"/>
              <p:nvPr/>
            </p:nvSpPr>
            <p:spPr>
              <a:xfrm>
                <a:off x="5014718" y="4358870"/>
                <a:ext cx="3958584" cy="214699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Diagonalize each block separately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1,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  <m:e/>
                            <m:e/>
                            <m:e/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  <m:e/>
                            <m:e/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𝐷𝐴</m:t>
                                  </m:r>
                                </m:sub>
                              </m:sSub>
                            </m:e>
                            <m:e/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  <m:e/>
                            <m:e/>
                          </m:mr>
                          <m:mr>
                            <m:e/>
                            <m:e/>
                            <m:e/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</m:mr>
                          <m:mr>
                            <m:e/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𝐴𝐷</m:t>
                                  </m:r>
                                </m:sub>
                              </m:sSub>
                            </m:e>
                            <m:e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/>
                          </m:mr>
                          <m:mr>
                            <m:e/>
                            <m:e/>
                            <m:e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effectLst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0948DF-67B8-6419-A54F-1D30949FE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718" y="4358870"/>
                <a:ext cx="3958584" cy="2146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0D9B95-9B8C-1000-6EC1-67896EB1575B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994010" y="2244431"/>
            <a:ext cx="0" cy="5643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C23F44-7F13-1366-7098-735B887B726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994010" y="3794510"/>
            <a:ext cx="0" cy="5643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0199187-E00D-79E3-B909-1380C26583C5}"/>
              </a:ext>
            </a:extLst>
          </p:cNvPr>
          <p:cNvSpPr txBox="1"/>
          <p:nvPr/>
        </p:nvSpPr>
        <p:spPr>
          <a:xfrm>
            <a:off x="3530519" y="506303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AD916A-7C56-2E0D-F7CF-7F8BE0F9A599}"/>
              </a:ext>
            </a:extLst>
          </p:cNvPr>
          <p:cNvSpPr txBox="1"/>
          <p:nvPr/>
        </p:nvSpPr>
        <p:spPr>
          <a:xfrm>
            <a:off x="3383619" y="2822864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Acceptor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2CE24B-31CA-F102-D944-C9E08B8BBDE6}"/>
              </a:ext>
            </a:extLst>
          </p:cNvPr>
          <p:cNvSpPr/>
          <p:nvPr/>
        </p:nvSpPr>
        <p:spPr>
          <a:xfrm>
            <a:off x="838200" y="4076690"/>
            <a:ext cx="2200854" cy="1072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C0D18B4-A9FA-DBB3-F51A-10606921D517}"/>
              </a:ext>
            </a:extLst>
          </p:cNvPr>
          <p:cNvSpPr/>
          <p:nvPr/>
        </p:nvSpPr>
        <p:spPr>
          <a:xfrm>
            <a:off x="5553716" y="4664758"/>
            <a:ext cx="1714500" cy="935942"/>
          </a:xfrm>
          <a:custGeom>
            <a:avLst/>
            <a:gdLst>
              <a:gd name="connsiteX0" fmla="*/ 0 w 1714500"/>
              <a:gd name="connsiteY0" fmla="*/ 155993 h 935942"/>
              <a:gd name="connsiteX1" fmla="*/ 155993 w 1714500"/>
              <a:gd name="connsiteY1" fmla="*/ 0 h 935942"/>
              <a:gd name="connsiteX2" fmla="*/ 1558507 w 1714500"/>
              <a:gd name="connsiteY2" fmla="*/ 0 h 935942"/>
              <a:gd name="connsiteX3" fmla="*/ 1714500 w 1714500"/>
              <a:gd name="connsiteY3" fmla="*/ 155993 h 935942"/>
              <a:gd name="connsiteX4" fmla="*/ 1714500 w 1714500"/>
              <a:gd name="connsiteY4" fmla="*/ 779949 h 935942"/>
              <a:gd name="connsiteX5" fmla="*/ 1558507 w 1714500"/>
              <a:gd name="connsiteY5" fmla="*/ 935942 h 935942"/>
              <a:gd name="connsiteX6" fmla="*/ 155993 w 1714500"/>
              <a:gd name="connsiteY6" fmla="*/ 935942 h 935942"/>
              <a:gd name="connsiteX7" fmla="*/ 0 w 1714500"/>
              <a:gd name="connsiteY7" fmla="*/ 779949 h 935942"/>
              <a:gd name="connsiteX8" fmla="*/ 0 w 1714500"/>
              <a:gd name="connsiteY8" fmla="*/ 155993 h 9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4500" h="935942" extrusionOk="0">
                <a:moveTo>
                  <a:pt x="0" y="155993"/>
                </a:moveTo>
                <a:cubicBezTo>
                  <a:pt x="-14621" y="60821"/>
                  <a:pt x="66425" y="1282"/>
                  <a:pt x="155993" y="0"/>
                </a:cubicBezTo>
                <a:cubicBezTo>
                  <a:pt x="705382" y="52281"/>
                  <a:pt x="1178140" y="-42135"/>
                  <a:pt x="1558507" y="0"/>
                </a:cubicBezTo>
                <a:cubicBezTo>
                  <a:pt x="1633921" y="10487"/>
                  <a:pt x="1713844" y="73466"/>
                  <a:pt x="1714500" y="155993"/>
                </a:cubicBezTo>
                <a:cubicBezTo>
                  <a:pt x="1750491" y="297673"/>
                  <a:pt x="1759192" y="586680"/>
                  <a:pt x="1714500" y="779949"/>
                </a:cubicBezTo>
                <a:cubicBezTo>
                  <a:pt x="1728888" y="867809"/>
                  <a:pt x="1650878" y="923146"/>
                  <a:pt x="1558507" y="935942"/>
                </a:cubicBezTo>
                <a:cubicBezTo>
                  <a:pt x="1355071" y="1008421"/>
                  <a:pt x="668415" y="933973"/>
                  <a:pt x="155993" y="935942"/>
                </a:cubicBezTo>
                <a:cubicBezTo>
                  <a:pt x="69301" y="930799"/>
                  <a:pt x="-9051" y="878680"/>
                  <a:pt x="0" y="779949"/>
                </a:cubicBezTo>
                <a:cubicBezTo>
                  <a:pt x="-12235" y="525394"/>
                  <a:pt x="1446" y="365757"/>
                  <a:pt x="0" y="155993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6DA09E6-5204-A6A9-1A6D-BD805F2D66B6}"/>
              </a:ext>
            </a:extLst>
          </p:cNvPr>
          <p:cNvSpPr/>
          <p:nvPr/>
        </p:nvSpPr>
        <p:spPr>
          <a:xfrm>
            <a:off x="7251351" y="5554539"/>
            <a:ext cx="1714500" cy="935942"/>
          </a:xfrm>
          <a:custGeom>
            <a:avLst/>
            <a:gdLst>
              <a:gd name="connsiteX0" fmla="*/ 0 w 1714500"/>
              <a:gd name="connsiteY0" fmla="*/ 155993 h 935942"/>
              <a:gd name="connsiteX1" fmla="*/ 155993 w 1714500"/>
              <a:gd name="connsiteY1" fmla="*/ 0 h 935942"/>
              <a:gd name="connsiteX2" fmla="*/ 1558507 w 1714500"/>
              <a:gd name="connsiteY2" fmla="*/ 0 h 935942"/>
              <a:gd name="connsiteX3" fmla="*/ 1714500 w 1714500"/>
              <a:gd name="connsiteY3" fmla="*/ 155993 h 935942"/>
              <a:gd name="connsiteX4" fmla="*/ 1714500 w 1714500"/>
              <a:gd name="connsiteY4" fmla="*/ 779949 h 935942"/>
              <a:gd name="connsiteX5" fmla="*/ 1558507 w 1714500"/>
              <a:gd name="connsiteY5" fmla="*/ 935942 h 935942"/>
              <a:gd name="connsiteX6" fmla="*/ 155993 w 1714500"/>
              <a:gd name="connsiteY6" fmla="*/ 935942 h 935942"/>
              <a:gd name="connsiteX7" fmla="*/ 0 w 1714500"/>
              <a:gd name="connsiteY7" fmla="*/ 779949 h 935942"/>
              <a:gd name="connsiteX8" fmla="*/ 0 w 1714500"/>
              <a:gd name="connsiteY8" fmla="*/ 155993 h 9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4500" h="935942" extrusionOk="0">
                <a:moveTo>
                  <a:pt x="0" y="155993"/>
                </a:moveTo>
                <a:cubicBezTo>
                  <a:pt x="-14621" y="60821"/>
                  <a:pt x="66425" y="1282"/>
                  <a:pt x="155993" y="0"/>
                </a:cubicBezTo>
                <a:cubicBezTo>
                  <a:pt x="705382" y="52281"/>
                  <a:pt x="1178140" y="-42135"/>
                  <a:pt x="1558507" y="0"/>
                </a:cubicBezTo>
                <a:cubicBezTo>
                  <a:pt x="1633921" y="10487"/>
                  <a:pt x="1713844" y="73466"/>
                  <a:pt x="1714500" y="155993"/>
                </a:cubicBezTo>
                <a:cubicBezTo>
                  <a:pt x="1750491" y="297673"/>
                  <a:pt x="1759192" y="586680"/>
                  <a:pt x="1714500" y="779949"/>
                </a:cubicBezTo>
                <a:cubicBezTo>
                  <a:pt x="1728888" y="867809"/>
                  <a:pt x="1650878" y="923146"/>
                  <a:pt x="1558507" y="935942"/>
                </a:cubicBezTo>
                <a:cubicBezTo>
                  <a:pt x="1355071" y="1008421"/>
                  <a:pt x="668415" y="933973"/>
                  <a:pt x="155993" y="935942"/>
                </a:cubicBezTo>
                <a:cubicBezTo>
                  <a:pt x="69301" y="930799"/>
                  <a:pt x="-9051" y="878680"/>
                  <a:pt x="0" y="779949"/>
                </a:cubicBezTo>
                <a:cubicBezTo>
                  <a:pt x="-12235" y="525394"/>
                  <a:pt x="1446" y="365757"/>
                  <a:pt x="0" y="155993"/>
                </a:cubicBezTo>
                <a:close/>
              </a:path>
            </a:pathLst>
          </a:custGeom>
          <a:noFill/>
          <a:ln w="38100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3FA3A69-1938-726E-2E98-2EE11BA6346A}"/>
              </a:ext>
            </a:extLst>
          </p:cNvPr>
          <p:cNvSpPr/>
          <p:nvPr/>
        </p:nvSpPr>
        <p:spPr>
          <a:xfrm>
            <a:off x="5529400" y="5569926"/>
            <a:ext cx="1714500" cy="935942"/>
          </a:xfrm>
          <a:custGeom>
            <a:avLst/>
            <a:gdLst>
              <a:gd name="connsiteX0" fmla="*/ 0 w 1714500"/>
              <a:gd name="connsiteY0" fmla="*/ 155993 h 935942"/>
              <a:gd name="connsiteX1" fmla="*/ 155993 w 1714500"/>
              <a:gd name="connsiteY1" fmla="*/ 0 h 935942"/>
              <a:gd name="connsiteX2" fmla="*/ 1558507 w 1714500"/>
              <a:gd name="connsiteY2" fmla="*/ 0 h 935942"/>
              <a:gd name="connsiteX3" fmla="*/ 1714500 w 1714500"/>
              <a:gd name="connsiteY3" fmla="*/ 155993 h 935942"/>
              <a:gd name="connsiteX4" fmla="*/ 1714500 w 1714500"/>
              <a:gd name="connsiteY4" fmla="*/ 779949 h 935942"/>
              <a:gd name="connsiteX5" fmla="*/ 1558507 w 1714500"/>
              <a:gd name="connsiteY5" fmla="*/ 935942 h 935942"/>
              <a:gd name="connsiteX6" fmla="*/ 155993 w 1714500"/>
              <a:gd name="connsiteY6" fmla="*/ 935942 h 935942"/>
              <a:gd name="connsiteX7" fmla="*/ 0 w 1714500"/>
              <a:gd name="connsiteY7" fmla="*/ 779949 h 935942"/>
              <a:gd name="connsiteX8" fmla="*/ 0 w 1714500"/>
              <a:gd name="connsiteY8" fmla="*/ 155993 h 9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4500" h="935942" extrusionOk="0">
                <a:moveTo>
                  <a:pt x="0" y="155993"/>
                </a:moveTo>
                <a:cubicBezTo>
                  <a:pt x="-14621" y="60821"/>
                  <a:pt x="66425" y="1282"/>
                  <a:pt x="155993" y="0"/>
                </a:cubicBezTo>
                <a:cubicBezTo>
                  <a:pt x="705382" y="52281"/>
                  <a:pt x="1178140" y="-42135"/>
                  <a:pt x="1558507" y="0"/>
                </a:cubicBezTo>
                <a:cubicBezTo>
                  <a:pt x="1633921" y="10487"/>
                  <a:pt x="1713844" y="73466"/>
                  <a:pt x="1714500" y="155993"/>
                </a:cubicBezTo>
                <a:cubicBezTo>
                  <a:pt x="1750491" y="297673"/>
                  <a:pt x="1759192" y="586680"/>
                  <a:pt x="1714500" y="779949"/>
                </a:cubicBezTo>
                <a:cubicBezTo>
                  <a:pt x="1728888" y="867809"/>
                  <a:pt x="1650878" y="923146"/>
                  <a:pt x="1558507" y="935942"/>
                </a:cubicBezTo>
                <a:cubicBezTo>
                  <a:pt x="1355071" y="1008421"/>
                  <a:pt x="668415" y="933973"/>
                  <a:pt x="155993" y="935942"/>
                </a:cubicBezTo>
                <a:cubicBezTo>
                  <a:pt x="69301" y="930799"/>
                  <a:pt x="-9051" y="878680"/>
                  <a:pt x="0" y="779949"/>
                </a:cubicBezTo>
                <a:cubicBezTo>
                  <a:pt x="-12235" y="525394"/>
                  <a:pt x="1446" y="365757"/>
                  <a:pt x="0" y="155993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48A9F9A-5455-2DD6-18C2-32D6B6CE7B23}"/>
              </a:ext>
            </a:extLst>
          </p:cNvPr>
          <p:cNvSpPr/>
          <p:nvPr/>
        </p:nvSpPr>
        <p:spPr>
          <a:xfrm>
            <a:off x="7268216" y="4613570"/>
            <a:ext cx="1714500" cy="935942"/>
          </a:xfrm>
          <a:custGeom>
            <a:avLst/>
            <a:gdLst>
              <a:gd name="connsiteX0" fmla="*/ 0 w 1714500"/>
              <a:gd name="connsiteY0" fmla="*/ 155993 h 935942"/>
              <a:gd name="connsiteX1" fmla="*/ 155993 w 1714500"/>
              <a:gd name="connsiteY1" fmla="*/ 0 h 935942"/>
              <a:gd name="connsiteX2" fmla="*/ 1558507 w 1714500"/>
              <a:gd name="connsiteY2" fmla="*/ 0 h 935942"/>
              <a:gd name="connsiteX3" fmla="*/ 1714500 w 1714500"/>
              <a:gd name="connsiteY3" fmla="*/ 155993 h 935942"/>
              <a:gd name="connsiteX4" fmla="*/ 1714500 w 1714500"/>
              <a:gd name="connsiteY4" fmla="*/ 779949 h 935942"/>
              <a:gd name="connsiteX5" fmla="*/ 1558507 w 1714500"/>
              <a:gd name="connsiteY5" fmla="*/ 935942 h 935942"/>
              <a:gd name="connsiteX6" fmla="*/ 155993 w 1714500"/>
              <a:gd name="connsiteY6" fmla="*/ 935942 h 935942"/>
              <a:gd name="connsiteX7" fmla="*/ 0 w 1714500"/>
              <a:gd name="connsiteY7" fmla="*/ 779949 h 935942"/>
              <a:gd name="connsiteX8" fmla="*/ 0 w 1714500"/>
              <a:gd name="connsiteY8" fmla="*/ 155993 h 9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4500" h="935942" extrusionOk="0">
                <a:moveTo>
                  <a:pt x="0" y="155993"/>
                </a:moveTo>
                <a:cubicBezTo>
                  <a:pt x="-14621" y="60821"/>
                  <a:pt x="66425" y="1282"/>
                  <a:pt x="155993" y="0"/>
                </a:cubicBezTo>
                <a:cubicBezTo>
                  <a:pt x="705382" y="52281"/>
                  <a:pt x="1178140" y="-42135"/>
                  <a:pt x="1558507" y="0"/>
                </a:cubicBezTo>
                <a:cubicBezTo>
                  <a:pt x="1633921" y="10487"/>
                  <a:pt x="1713844" y="73466"/>
                  <a:pt x="1714500" y="155993"/>
                </a:cubicBezTo>
                <a:cubicBezTo>
                  <a:pt x="1750491" y="297673"/>
                  <a:pt x="1759192" y="586680"/>
                  <a:pt x="1714500" y="779949"/>
                </a:cubicBezTo>
                <a:cubicBezTo>
                  <a:pt x="1728888" y="867809"/>
                  <a:pt x="1650878" y="923146"/>
                  <a:pt x="1558507" y="935942"/>
                </a:cubicBezTo>
                <a:cubicBezTo>
                  <a:pt x="1355071" y="1008421"/>
                  <a:pt x="668415" y="933973"/>
                  <a:pt x="155993" y="935942"/>
                </a:cubicBezTo>
                <a:cubicBezTo>
                  <a:pt x="69301" y="930799"/>
                  <a:pt x="-9051" y="878680"/>
                  <a:pt x="0" y="779949"/>
                </a:cubicBezTo>
                <a:cubicBezTo>
                  <a:pt x="-12235" y="525394"/>
                  <a:pt x="1446" y="365757"/>
                  <a:pt x="0" y="155993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B8A207-315D-452B-BD6C-AC724184A7DF}"/>
              </a:ext>
            </a:extLst>
          </p:cNvPr>
          <p:cNvSpPr txBox="1"/>
          <p:nvPr/>
        </p:nvSpPr>
        <p:spPr>
          <a:xfrm>
            <a:off x="9624319" y="4763397"/>
            <a:ext cx="16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Donor Energies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77BB29-837C-4050-03B8-834B490CD153}"/>
              </a:ext>
            </a:extLst>
          </p:cNvPr>
          <p:cNvSpPr txBox="1"/>
          <p:nvPr/>
        </p:nvSpPr>
        <p:spPr>
          <a:xfrm>
            <a:off x="9470067" y="5364846"/>
            <a:ext cx="199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Acceptor Energies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0D4526-2B8A-C20D-C254-BB76B0BC3C46}"/>
              </a:ext>
            </a:extLst>
          </p:cNvPr>
          <p:cNvSpPr txBox="1"/>
          <p:nvPr/>
        </p:nvSpPr>
        <p:spPr>
          <a:xfrm>
            <a:off x="9055445" y="5966295"/>
            <a:ext cx="283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Donor-Acceptor Couplings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5810B2C-6555-2A6C-C5A3-AFFC66F9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4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28CDF7-F969-3465-A330-6B2D3B4259DF}"/>
              </a:ext>
            </a:extLst>
          </p:cNvPr>
          <p:cNvSpPr txBox="1"/>
          <p:nvPr/>
        </p:nvSpPr>
        <p:spPr>
          <a:xfrm>
            <a:off x="642335" y="6445793"/>
            <a:ext cx="43572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Kondov</a:t>
            </a:r>
            <a:r>
              <a:rPr lang="en-US" sz="1000" dirty="0"/>
              <a:t>, I. The Journal of Physical Chemistry C 2007, 111 (32), 11970-11981.</a:t>
            </a:r>
          </a:p>
        </p:txBody>
      </p:sp>
    </p:spTree>
    <p:extLst>
      <p:ext uri="{BB962C8B-B14F-4D97-AF65-F5344CB8AC3E}">
        <p14:creationId xmlns:p14="http://schemas.microsoft.com/office/powerpoint/2010/main" val="96960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6" grpId="0" animBg="1"/>
      <p:bldP spid="7" grpId="0" animBg="1"/>
      <p:bldP spid="19" grpId="0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8471-7382-3189-16E9-825B2636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7D7238-F0E8-D145-82A8-D888F56CD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6943" y="3783518"/>
            <a:ext cx="2835910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3546EE-583E-558D-C59C-5C23F1FFBE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89"/>
          <a:stretch/>
        </p:blipFill>
        <p:spPr>
          <a:xfrm>
            <a:off x="878253" y="1468557"/>
            <a:ext cx="2823210" cy="2535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3C7798-83DC-079A-8493-8814C15E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Fluorine’s Effects on Electronic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D2AE2E-4739-A106-23EB-CCB2DB881DFB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C316749-2DB2-5B37-C547-84C9D28D6F49}"/>
              </a:ext>
            </a:extLst>
          </p:cNvPr>
          <p:cNvGrpSpPr>
            <a:grpSpLocks noChangeAspect="1"/>
          </p:cNvGrpSpPr>
          <p:nvPr/>
        </p:nvGrpSpPr>
        <p:grpSpPr>
          <a:xfrm>
            <a:off x="4610100" y="1699169"/>
            <a:ext cx="2971799" cy="2304415"/>
            <a:chOff x="0" y="0"/>
            <a:chExt cx="5676081" cy="44024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09CB1EE-B516-881A-E733-840440563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-8364"/>
            <a:stretch/>
          </p:blipFill>
          <p:spPr>
            <a:xfrm>
              <a:off x="0" y="71748"/>
              <a:ext cx="3519683" cy="4330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8C968B-A3A6-F03C-F7D1-FDD8A49DC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4147"/>
            <a:stretch/>
          </p:blipFill>
          <p:spPr>
            <a:xfrm rot="5400000">
              <a:off x="2334958" y="837685"/>
              <a:ext cx="4178808" cy="2503438"/>
            </a:xfrm>
            <a:prstGeom prst="rect">
              <a:avLst/>
            </a:prstGeom>
          </p:spPr>
        </p:pic>
        <p:pic>
          <p:nvPicPr>
            <p:cNvPr id="9" name="Picture 8" descr="A close-up of a white card&#10;&#10;Description automatically generated">
              <a:extLst>
                <a:ext uri="{FF2B5EF4-FFF2-40B4-BE49-F238E27FC236}">
                  <a16:creationId xmlns:a16="http://schemas.microsoft.com/office/drawing/2014/main" id="{9F8D82E0-F689-09D5-FE52-72C61F839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4168253" y="403783"/>
              <a:ext cx="1699069" cy="118685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83EC58-2F94-679C-FE92-6F5F61766192}"/>
              </a:ext>
            </a:extLst>
          </p:cNvPr>
          <p:cNvGrpSpPr>
            <a:grpSpLocks noChangeAspect="1"/>
          </p:cNvGrpSpPr>
          <p:nvPr/>
        </p:nvGrpSpPr>
        <p:grpSpPr>
          <a:xfrm>
            <a:off x="4610099" y="4169620"/>
            <a:ext cx="2971800" cy="2299970"/>
            <a:chOff x="0" y="0"/>
            <a:chExt cx="5734253" cy="443910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2A6846-7875-ADA4-123C-6A056F985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-6806"/>
            <a:stretch/>
          </p:blipFill>
          <p:spPr>
            <a:xfrm>
              <a:off x="0" y="70914"/>
              <a:ext cx="3499094" cy="436818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3C2EA4-EEFC-835C-32D9-7D497B1464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4149"/>
            <a:stretch/>
          </p:blipFill>
          <p:spPr>
            <a:xfrm rot="5400000">
              <a:off x="2364487" y="844897"/>
              <a:ext cx="4214664" cy="2524869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BD69CC-B582-9A3A-ED93-71232DF8B2D8}"/>
                </a:ext>
              </a:extLst>
            </p:cNvPr>
            <p:cNvSpPr/>
            <p:nvPr/>
          </p:nvSpPr>
          <p:spPr>
            <a:xfrm>
              <a:off x="4378709" y="166775"/>
              <a:ext cx="549613" cy="6793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pic>
          <p:nvPicPr>
            <p:cNvPr id="14" name="Picture 13" descr="A close-up of a number&#10;&#10;Description automatically generated">
              <a:extLst>
                <a:ext uri="{FF2B5EF4-FFF2-40B4-BE49-F238E27FC236}">
                  <a16:creationId xmlns:a16="http://schemas.microsoft.com/office/drawing/2014/main" id="{BB1A2B31-9F6A-F699-AEF3-3FC6F1008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6200000">
              <a:off x="4332640" y="504674"/>
              <a:ext cx="1700784" cy="937440"/>
            </a:xfrm>
            <a:prstGeom prst="rect">
              <a:avLst/>
            </a:prstGeom>
          </p:spPr>
        </p:pic>
      </p:grp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9595325-29C0-8C44-2EBF-EC43D91ACBE1}"/>
              </a:ext>
            </a:extLst>
          </p:cNvPr>
          <p:cNvSpPr/>
          <p:nvPr/>
        </p:nvSpPr>
        <p:spPr>
          <a:xfrm>
            <a:off x="7684886" y="5638848"/>
            <a:ext cx="232012" cy="71445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206C42-31DC-14AC-D657-A8DA8B52CDB3}"/>
              </a:ext>
            </a:extLst>
          </p:cNvPr>
          <p:cNvCxnSpPr>
            <a:cxnSpLocks/>
            <a:stCxn id="16" idx="1"/>
            <a:endCxn id="19" idx="1"/>
          </p:cNvCxnSpPr>
          <p:nvPr/>
        </p:nvCxnSpPr>
        <p:spPr>
          <a:xfrm flipV="1">
            <a:off x="7916898" y="5281620"/>
            <a:ext cx="247094" cy="714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12D09A19-C641-6BCE-A9B9-B6E17621BABE}"/>
              </a:ext>
            </a:extLst>
          </p:cNvPr>
          <p:cNvSpPr/>
          <p:nvPr/>
        </p:nvSpPr>
        <p:spPr>
          <a:xfrm flipH="1">
            <a:off x="8163992" y="4924391"/>
            <a:ext cx="232012" cy="71445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graph showing different colored lines&#10;&#10;Description automatically generated">
            <a:extLst>
              <a:ext uri="{FF2B5EF4-FFF2-40B4-BE49-F238E27FC236}">
                <a16:creationId xmlns:a16="http://schemas.microsoft.com/office/drawing/2014/main" id="{5AB64CEA-D016-E0B7-9B43-918B62E5A38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848292" y="3422061"/>
            <a:ext cx="2676642" cy="16679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4B81B6E-11F5-7F86-A335-C6935276D39A}"/>
              </a:ext>
            </a:extLst>
          </p:cNvPr>
          <p:cNvSpPr txBox="1"/>
          <p:nvPr/>
        </p:nvSpPr>
        <p:spPr>
          <a:xfrm>
            <a:off x="613619" y="6096414"/>
            <a:ext cx="3638239" cy="61555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Charge density migrates to fluorine</a:t>
            </a:r>
          </a:p>
          <a:p>
            <a:pPr algn="ctr"/>
            <a:r>
              <a:rPr lang="en-US" sz="1600" i="1" dirty="0"/>
              <a:t>Potential to enhance charge transfer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75E4E698-3E65-39AF-E6DA-02A833B78902}"/>
              </a:ext>
            </a:extLst>
          </p:cNvPr>
          <p:cNvCxnSpPr>
            <a:cxnSpLocks/>
            <a:stCxn id="23" idx="3"/>
          </p:cNvCxnSpPr>
          <p:nvPr/>
        </p:nvCxnSpPr>
        <p:spPr>
          <a:xfrm flipH="1" flipV="1">
            <a:off x="3151069" y="5218081"/>
            <a:ext cx="1100789" cy="1186110"/>
          </a:xfrm>
          <a:prstGeom prst="curvedConnector4">
            <a:avLst>
              <a:gd name="adj1" fmla="val -20767"/>
              <a:gd name="adj2" fmla="val 9289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377DCFF-A1A0-A147-5AD7-6987B6105A94}"/>
              </a:ext>
            </a:extLst>
          </p:cNvPr>
          <p:cNvSpPr txBox="1"/>
          <p:nvPr/>
        </p:nvSpPr>
        <p:spPr>
          <a:xfrm>
            <a:off x="8875930" y="1904257"/>
            <a:ext cx="2579427" cy="9233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Fluorine does NOT contribute to band edge states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4E8749-1F6A-5D45-454F-5015D4A596FE}"/>
              </a:ext>
            </a:extLst>
          </p:cNvPr>
          <p:cNvSpPr txBox="1"/>
          <p:nvPr/>
        </p:nvSpPr>
        <p:spPr>
          <a:xfrm>
            <a:off x="8163992" y="5743874"/>
            <a:ext cx="3059353" cy="64633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Fluorine has minimal influence in coupling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1BE27B-7661-D032-9BAB-0652101C3402}"/>
              </a:ext>
            </a:extLst>
          </p:cNvPr>
          <p:cNvSpPr txBox="1"/>
          <p:nvPr/>
        </p:nvSpPr>
        <p:spPr>
          <a:xfrm>
            <a:off x="10129409" y="507416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4A5DD8-D628-A2B1-F39B-E6C156607002}"/>
              </a:ext>
            </a:extLst>
          </p:cNvPr>
          <p:cNvSpPr txBox="1"/>
          <p:nvPr/>
        </p:nvSpPr>
        <p:spPr>
          <a:xfrm>
            <a:off x="10195709" y="3224785"/>
            <a:ext cx="801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LUMO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1AA3B2-87FB-8442-7F17-019B768323FE}"/>
              </a:ext>
            </a:extLst>
          </p:cNvPr>
          <p:cNvSpPr txBox="1"/>
          <p:nvPr/>
        </p:nvSpPr>
        <p:spPr>
          <a:xfrm rot="16200000">
            <a:off x="-429680" y="2892893"/>
            <a:ext cx="182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Non-Fluorinated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68F9B5-C888-3D60-8217-AA8A23702CF5}"/>
              </a:ext>
            </a:extLst>
          </p:cNvPr>
          <p:cNvSpPr txBox="1"/>
          <p:nvPr/>
        </p:nvSpPr>
        <p:spPr>
          <a:xfrm rot="16200000" flipH="1">
            <a:off x="-183153" y="5093712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Fluorinated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B2845B4-0A13-DCCC-D39E-5C860265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5</a:t>
            </a:fld>
            <a:endParaRPr lang="en-US" dirty="0"/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0BA357-2F58-F90A-0247-82933D6BBEFB}"/>
              </a:ext>
            </a:extLst>
          </p:cNvPr>
          <p:cNvCxnSpPr>
            <a:stCxn id="30" idx="3"/>
            <a:endCxn id="31" idx="3"/>
          </p:cNvCxnSpPr>
          <p:nvPr/>
        </p:nvCxnSpPr>
        <p:spPr>
          <a:xfrm flipH="1">
            <a:off x="11223345" y="2365922"/>
            <a:ext cx="232012" cy="3701118"/>
          </a:xfrm>
          <a:prstGeom prst="curvedConnector3">
            <a:avLst>
              <a:gd name="adj1" fmla="val -98529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02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3" grpId="0" animBg="1"/>
      <p:bldP spid="30" grpId="0" animBg="1"/>
      <p:bldP spid="31" grpId="0" animBg="1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469B1-8DD8-31C2-057B-488DE9D9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ADA2-43AF-6DEF-68AD-E704FB27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Fluorine’s Effects on Marcus Rate: Nonadiabatic Coupling &amp; Reorganization Energy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CA4A2-05D9-3E8B-C289-D88292EFA36C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99318A9E-C160-3E1A-C610-233695AB5C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" t="11777" b="9078"/>
          <a:stretch/>
        </p:blipFill>
        <p:spPr bwMode="auto">
          <a:xfrm>
            <a:off x="510287" y="1790447"/>
            <a:ext cx="3039110" cy="24237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 descr="A diagram of a red and black color&#10;&#10;Description automatically generated with medium confidence">
            <a:extLst>
              <a:ext uri="{FF2B5EF4-FFF2-40B4-BE49-F238E27FC236}">
                <a16:creationId xmlns:a16="http://schemas.microsoft.com/office/drawing/2014/main" id="{CC1ACC25-4A20-2237-1587-223DF9D599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6" b="8814"/>
          <a:stretch/>
        </p:blipFill>
        <p:spPr bwMode="auto">
          <a:xfrm>
            <a:off x="8619108" y="1790447"/>
            <a:ext cx="3062605" cy="2415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D4E710-CDA4-F411-3B34-0F90E5B85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02" y="4506087"/>
            <a:ext cx="2926080" cy="21558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D3C714-8985-8685-38BC-8CBDB20EE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9118" y="4506086"/>
            <a:ext cx="2926080" cy="2155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D374916-B9FE-3AD1-0014-A5263C332F5E}"/>
                  </a:ext>
                </a:extLst>
              </p:cNvPr>
              <p:cNvSpPr txBox="1"/>
              <p:nvPr/>
            </p:nvSpPr>
            <p:spPr>
              <a:xfrm>
                <a:off x="4198716" y="5192904"/>
                <a:ext cx="1319514" cy="693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D374916-B9FE-3AD1-0014-A5263C33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716" y="5192904"/>
                <a:ext cx="1319514" cy="693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137A3C-98D6-01C4-A942-AEB96C9386EA}"/>
                  </a:ext>
                </a:extLst>
              </p:cNvPr>
              <p:cNvSpPr txBox="1"/>
              <p:nvPr/>
            </p:nvSpPr>
            <p:spPr>
              <a:xfrm>
                <a:off x="5815312" y="5354968"/>
                <a:ext cx="20921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𝑑𝐸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〈"/>
                                      <m:endChr m:val="〉"/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𝑑𝐸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137A3C-98D6-01C4-A942-AEB96C938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312" y="5354968"/>
                <a:ext cx="209212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63486CD8-5F4F-173D-5FDD-CBF050D03248}"/>
              </a:ext>
            </a:extLst>
          </p:cNvPr>
          <p:cNvSpPr/>
          <p:nvPr/>
        </p:nvSpPr>
        <p:spPr>
          <a:xfrm>
            <a:off x="4198716" y="5019707"/>
            <a:ext cx="3794567" cy="112274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3746B2-0F52-75AE-1649-D553DC6750BB}"/>
              </a:ext>
            </a:extLst>
          </p:cNvPr>
          <p:cNvSpPr txBox="1"/>
          <p:nvPr/>
        </p:nvSpPr>
        <p:spPr>
          <a:xfrm>
            <a:off x="3549397" y="6292579"/>
            <a:ext cx="1768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HOMO ~ -2.5 eV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578A05-2347-85BE-48DB-8501296D496D}"/>
              </a:ext>
            </a:extLst>
          </p:cNvPr>
          <p:cNvSpPr txBox="1"/>
          <p:nvPr/>
        </p:nvSpPr>
        <p:spPr>
          <a:xfrm>
            <a:off x="7194025" y="6292579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HOMO ~ -2.75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7456BC-1B37-7105-152F-F92C7D338F0F}"/>
              </a:ext>
            </a:extLst>
          </p:cNvPr>
          <p:cNvSpPr txBox="1"/>
          <p:nvPr/>
        </p:nvSpPr>
        <p:spPr>
          <a:xfrm rot="16200000">
            <a:off x="-585045" y="3889108"/>
            <a:ext cx="182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Non-Fluorinated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C53C67-B477-31E5-61EF-99F563196BF9}"/>
              </a:ext>
            </a:extLst>
          </p:cNvPr>
          <p:cNvSpPr txBox="1"/>
          <p:nvPr/>
        </p:nvSpPr>
        <p:spPr>
          <a:xfrm rot="5400000">
            <a:off x="11146862" y="387575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Fluorinated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34C249-D6C6-D5B7-FF52-1847C7151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2414FE-DBED-2195-450F-823187FBCBF9}"/>
                  </a:ext>
                </a:extLst>
              </p:cNvPr>
              <p:cNvSpPr txBox="1"/>
              <p:nvPr/>
            </p:nvSpPr>
            <p:spPr>
              <a:xfrm>
                <a:off x="4104960" y="1966841"/>
                <a:ext cx="3958584" cy="214699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/>
                  <a:t>POD Method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1,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  <m:e/>
                            <m:e/>
                            <m:e/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  <m:e/>
                            <m:e/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𝐷𝐴</m:t>
                                  </m:r>
                                </m:sub>
                              </m:sSub>
                            </m:e>
                            <m:e/>
                          </m:mr>
                          <m:m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  <m:e/>
                            <m:e/>
                          </m:mr>
                          <m:mr>
                            <m:e/>
                            <m:e/>
                            <m:e/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</m:mr>
                          <m:mr>
                            <m:e/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𝐴𝐷</m:t>
                                  </m:r>
                                </m:sub>
                              </m:sSub>
                            </m:e>
                            <m:e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/>
                          </m:mr>
                          <m:mr>
                            <m:e/>
                            <m:e/>
                            <m:e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⋮</m:t>
                              </m:r>
                            </m:e>
                            <m:e/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effectLst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2414FE-DBED-2195-450F-823187FBC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960" y="1966841"/>
                <a:ext cx="3958584" cy="2146998"/>
              </a:xfrm>
              <a:prstGeom prst="rect">
                <a:avLst/>
              </a:prstGeom>
              <a:blipFill>
                <a:blip r:embed="rId9"/>
                <a:stretch>
                  <a:fillRect t="-578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17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23" grpId="0"/>
      <p:bldP spid="24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A1B4A-EC36-A8CE-C6B3-3D58410C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8B8E-227F-F4FD-5812-08AAD62B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Putting the pieces together: charge transfer rates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4B156D-4CFC-A436-5F50-ACEED1036C13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794B41-642C-5635-A579-08F0EF1CFE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0156653"/>
                  </p:ext>
                </p:extLst>
              </p:nvPr>
            </p:nvGraphicFramePr>
            <p:xfrm>
              <a:off x="647700" y="2210307"/>
              <a:ext cx="10515601" cy="2759012"/>
            </p:xfrm>
            <a:graphic>
              <a:graphicData uri="http://schemas.openxmlformats.org/drawingml/2006/table">
                <a:tbl>
                  <a:tblPr firstRow="1" firstCol="1" bandRow="1">
                    <a:tableStyleId>{F5AB1C69-6EDB-4FF4-983F-18BD219EF322}</a:tableStyleId>
                  </a:tblPr>
                  <a:tblGrid>
                    <a:gridCol w="1915942">
                      <a:extLst>
                        <a:ext uri="{9D8B030D-6E8A-4147-A177-3AD203B41FA5}">
                          <a16:colId xmlns:a16="http://schemas.microsoft.com/office/drawing/2014/main" val="579728154"/>
                        </a:ext>
                      </a:extLst>
                    </a:gridCol>
                    <a:gridCol w="941558">
                      <a:extLst>
                        <a:ext uri="{9D8B030D-6E8A-4147-A177-3AD203B41FA5}">
                          <a16:colId xmlns:a16="http://schemas.microsoft.com/office/drawing/2014/main" val="1867478650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80323346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51315133"/>
                        </a:ext>
                      </a:extLst>
                    </a:gridCol>
                    <a:gridCol w="1638300">
                      <a:extLst>
                        <a:ext uri="{9D8B030D-6E8A-4147-A177-3AD203B41FA5}">
                          <a16:colId xmlns:a16="http://schemas.microsoft.com/office/drawing/2014/main" val="4213193580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838560204"/>
                        </a:ext>
                      </a:extLst>
                    </a:gridCol>
                    <a:gridCol w="1752601">
                      <a:extLst>
                        <a:ext uri="{9D8B030D-6E8A-4147-A177-3AD203B41FA5}">
                          <a16:colId xmlns:a16="http://schemas.microsoft.com/office/drawing/2014/main" val="2630721107"/>
                        </a:ext>
                      </a:extLst>
                    </a:gridCol>
                  </a:tblGrid>
                  <a:tr h="6398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〈"/>
                                      <m:endChr m:val="〉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i="1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kern="1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𝑘𝑙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400" kern="1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kern="1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oMath>
                          </a14:m>
                          <a:r>
                            <a:rPr lang="en-US" sz="2400" kern="100" dirty="0">
                              <a:effectLst/>
                            </a:rPr>
                            <a:t> (</a:t>
                          </a:r>
                          <a:r>
                            <a:rPr lang="en-US" sz="2400" kern="100" dirty="0" err="1">
                              <a:effectLst/>
                            </a:rPr>
                            <a:t>meV</a:t>
                          </a:r>
                          <a:r>
                            <a:rPr lang="en-US" sz="2400" kern="100" dirty="0">
                              <a:effectLst/>
                            </a:rPr>
                            <a:t>)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kern="100">
                                  <a:effectLst/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oMath>
                          </a14:m>
                          <a:r>
                            <a:rPr lang="en-US" sz="2400" kern="100" dirty="0">
                              <a:effectLst/>
                            </a:rPr>
                            <a:t> (eV)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𝑀𝑎𝑟𝑐𝑢𝑠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L (Å)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h𝑜𝑝𝑝𝑖𝑛𝑔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kern="100" dirty="0">
                              <a:effectLst/>
                            </a:rPr>
                            <a:t> (cm</a:t>
                          </a:r>
                          <a:r>
                            <a:rPr lang="en-US" sz="2400" kern="100" baseline="30000" dirty="0">
                              <a:effectLst/>
                            </a:rPr>
                            <a:t>2</a:t>
                          </a:r>
                          <a:r>
                            <a:rPr lang="en-US" sz="2400" kern="100" dirty="0">
                              <a:effectLst/>
                            </a:rPr>
                            <a:t> V</a:t>
                          </a:r>
                          <a:r>
                            <a:rPr lang="en-US" sz="2400" kern="100" baseline="30000" dirty="0">
                              <a:effectLst/>
                            </a:rPr>
                            <a:t>-1</a:t>
                          </a:r>
                          <a:r>
                            <a:rPr lang="en-US" sz="2400" kern="100" dirty="0">
                              <a:effectLst/>
                            </a:rPr>
                            <a:t> s</a:t>
                          </a:r>
                          <a:r>
                            <a:rPr lang="en-US" sz="2400" kern="100" baseline="30000" dirty="0">
                              <a:effectLst/>
                            </a:rPr>
                            <a:t>-1</a:t>
                          </a:r>
                          <a:r>
                            <a:rPr lang="en-US" sz="2400" kern="100" dirty="0">
                              <a:effectLst/>
                            </a:rPr>
                            <a:t>)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43501813"/>
                      </a:ext>
                    </a:extLst>
                  </a:tr>
                  <a:tr h="202121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Non-Fluorinated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LUMO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0.442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0.907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1.790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kern="0">
                                  <a:effectLst/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oMath>
                          </a14:m>
                          <a:r>
                            <a:rPr lang="en-US" sz="2000" kern="0">
                              <a:effectLst/>
                            </a:rPr>
                            <a:t>s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14.073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4.255*10</a:t>
                          </a:r>
                          <a:r>
                            <a:rPr lang="en-US" sz="2000" kern="0" baseline="30000">
                              <a:effectLst/>
                            </a:rPr>
                            <a:t>-7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98327858"/>
                      </a:ext>
                    </a:extLst>
                  </a:tr>
                  <a:tr h="20212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HOMO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4.261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0.632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1.142 ns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6.668*10</a:t>
                          </a:r>
                          <a:r>
                            <a:rPr lang="en-US" sz="2000" kern="0" baseline="30000">
                              <a:effectLst/>
                            </a:rPr>
                            <a:t>-4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41957098"/>
                      </a:ext>
                    </a:extLst>
                  </a:tr>
                  <a:tr h="202121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Fluorinated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LUMO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0.435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0.547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44.812 ns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13.482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1.560*10</a:t>
                          </a:r>
                          <a:r>
                            <a:rPr lang="en-US" sz="2000" kern="0" baseline="30000" dirty="0">
                              <a:effectLst/>
                            </a:rPr>
                            <a:t>-5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76112048"/>
                      </a:ext>
                    </a:extLst>
                  </a:tr>
                  <a:tr h="20212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HOMO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3.663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0.498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0.377 ns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1.852*10</a:t>
                          </a:r>
                          <a:r>
                            <a:rPr lang="en-US" sz="2000" kern="0" baseline="30000" dirty="0">
                              <a:effectLst/>
                            </a:rPr>
                            <a:t>-3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78077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8794B41-642C-5635-A579-08F0EF1CFE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0156653"/>
                  </p:ext>
                </p:extLst>
              </p:nvPr>
            </p:nvGraphicFramePr>
            <p:xfrm>
              <a:off x="647700" y="2210307"/>
              <a:ext cx="10515601" cy="2764664"/>
            </p:xfrm>
            <a:graphic>
              <a:graphicData uri="http://schemas.openxmlformats.org/drawingml/2006/table">
                <a:tbl>
                  <a:tblPr firstRow="1" firstCol="1" bandRow="1">
                    <a:tableStyleId>{F5AB1C69-6EDB-4FF4-983F-18BD219EF322}</a:tableStyleId>
                  </a:tblPr>
                  <a:tblGrid>
                    <a:gridCol w="1915942">
                      <a:extLst>
                        <a:ext uri="{9D8B030D-6E8A-4147-A177-3AD203B41FA5}">
                          <a16:colId xmlns:a16="http://schemas.microsoft.com/office/drawing/2014/main" val="579728154"/>
                        </a:ext>
                      </a:extLst>
                    </a:gridCol>
                    <a:gridCol w="941558">
                      <a:extLst>
                        <a:ext uri="{9D8B030D-6E8A-4147-A177-3AD203B41FA5}">
                          <a16:colId xmlns:a16="http://schemas.microsoft.com/office/drawing/2014/main" val="1867478650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803233468"/>
                        </a:ext>
                      </a:extLst>
                    </a:gridCol>
                    <a:gridCol w="1257300">
                      <a:extLst>
                        <a:ext uri="{9D8B030D-6E8A-4147-A177-3AD203B41FA5}">
                          <a16:colId xmlns:a16="http://schemas.microsoft.com/office/drawing/2014/main" val="51315133"/>
                        </a:ext>
                      </a:extLst>
                    </a:gridCol>
                    <a:gridCol w="1638300">
                      <a:extLst>
                        <a:ext uri="{9D8B030D-6E8A-4147-A177-3AD203B41FA5}">
                          <a16:colId xmlns:a16="http://schemas.microsoft.com/office/drawing/2014/main" val="4213193580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2838560204"/>
                        </a:ext>
                      </a:extLst>
                    </a:gridCol>
                    <a:gridCol w="1752601">
                      <a:extLst>
                        <a:ext uri="{9D8B030D-6E8A-4147-A177-3AD203B41FA5}">
                          <a16:colId xmlns:a16="http://schemas.microsoft.com/office/drawing/2014/main" val="2630721107"/>
                        </a:ext>
                      </a:extLst>
                    </a:gridCol>
                  </a:tblGrid>
                  <a:tr h="128009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 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44872" t="-990" r="-288462" b="-1287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2000" t="-990" r="-350000" b="-1287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3643" t="-990" r="-171318" b="-1287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L (Å)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449" t="-990" r="-1449" b="-1287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3501813"/>
                      </a:ext>
                    </a:extLst>
                  </a:tr>
                  <a:tr h="332486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Non-Fluorinated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LUMO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0.442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0.907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73643" t="-392308" r="-171318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14.073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4.255*10</a:t>
                          </a:r>
                          <a:r>
                            <a:rPr lang="en-US" sz="2000" kern="0" baseline="30000">
                              <a:effectLst/>
                            </a:rPr>
                            <a:t>-7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98327858"/>
                      </a:ext>
                    </a:extLst>
                  </a:tr>
                  <a:tr h="48710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HOMO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4.261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0.632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1.142 ns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6.668*10</a:t>
                          </a:r>
                          <a:r>
                            <a:rPr lang="en-US" sz="2000" kern="0" baseline="30000">
                              <a:effectLst/>
                            </a:rPr>
                            <a:t>-4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41957098"/>
                      </a:ext>
                    </a:extLst>
                  </a:tr>
                  <a:tr h="332486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effectLst/>
                            </a:rPr>
                            <a:t>Fluorinated</a:t>
                          </a:r>
                          <a:endParaRPr lang="en-US" sz="2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LUMO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0.435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0.547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44.812 ns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13.482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1.560*10</a:t>
                          </a:r>
                          <a:r>
                            <a:rPr lang="en-US" sz="2000" kern="0" baseline="30000" dirty="0">
                              <a:effectLst/>
                            </a:rPr>
                            <a:t>-5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76112048"/>
                      </a:ext>
                    </a:extLst>
                  </a:tr>
                  <a:tr h="3324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HOMO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3.663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>
                              <a:effectLst/>
                            </a:rPr>
                            <a:t>0.498</a:t>
                          </a:r>
                          <a:endParaRPr lang="en-US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0.377 ns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0" dirty="0">
                              <a:effectLst/>
                            </a:rPr>
                            <a:t>1.852*10</a:t>
                          </a:r>
                          <a:r>
                            <a:rPr lang="en-US" sz="2000" kern="0" baseline="30000" dirty="0">
                              <a:effectLst/>
                            </a:rPr>
                            <a:t>-3</a:t>
                          </a:r>
                          <a:endParaRPr lang="en-US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78077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D511CBB-74F2-AEC6-B30E-647BA1B1E7C1}"/>
              </a:ext>
            </a:extLst>
          </p:cNvPr>
          <p:cNvSpPr txBox="1"/>
          <p:nvPr/>
        </p:nvSpPr>
        <p:spPr>
          <a:xfrm rot="2820000">
            <a:off x="4028690" y="5701349"/>
            <a:ext cx="2097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RMS Electronic Coupling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68BD-51E4-7CF1-4865-30097B58B3E3}"/>
              </a:ext>
            </a:extLst>
          </p:cNvPr>
          <p:cNvSpPr txBox="1"/>
          <p:nvPr/>
        </p:nvSpPr>
        <p:spPr>
          <a:xfrm rot="2820000">
            <a:off x="5691558" y="5655595"/>
            <a:ext cx="1896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Reorganization Energy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0AFC0-A5A0-3B28-720D-8D45513E7BF1}"/>
              </a:ext>
            </a:extLst>
          </p:cNvPr>
          <p:cNvSpPr txBox="1"/>
          <p:nvPr/>
        </p:nvSpPr>
        <p:spPr>
          <a:xfrm rot="2820000">
            <a:off x="7167712" y="5384314"/>
            <a:ext cx="1153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Marcus 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31A4B8-CB19-1B41-CF1A-5667D84A9DA2}"/>
              </a:ext>
            </a:extLst>
          </p:cNvPr>
          <p:cNvSpPr txBox="1"/>
          <p:nvPr/>
        </p:nvSpPr>
        <p:spPr>
          <a:xfrm rot="2820000">
            <a:off x="8377906" y="5693158"/>
            <a:ext cx="2136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Distance Between Layers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38B08-70AB-9C0C-10C8-210DF2FE2D4D}"/>
              </a:ext>
            </a:extLst>
          </p:cNvPr>
          <p:cNvSpPr txBox="1"/>
          <p:nvPr/>
        </p:nvSpPr>
        <p:spPr>
          <a:xfrm rot="2820000">
            <a:off x="9909264" y="5547875"/>
            <a:ext cx="2009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Charge Carrier Hopping</a:t>
            </a:r>
          </a:p>
          <a:p>
            <a:pPr algn="ctr"/>
            <a:r>
              <a:rPr lang="en-US" sz="1400" dirty="0"/>
              <a:t>Mobility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A0DC89C-5A30-6563-F8AC-1CFE4A51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7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97512-D462-C576-893C-D65C5AAD8890}"/>
              </a:ext>
            </a:extLst>
          </p:cNvPr>
          <p:cNvSpPr/>
          <p:nvPr/>
        </p:nvSpPr>
        <p:spPr>
          <a:xfrm>
            <a:off x="3481137" y="2021305"/>
            <a:ext cx="2021305" cy="298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8468C7-627A-2D03-1D6B-00AEFDCD8EF3}"/>
              </a:ext>
            </a:extLst>
          </p:cNvPr>
          <p:cNvSpPr/>
          <p:nvPr/>
        </p:nvSpPr>
        <p:spPr>
          <a:xfrm>
            <a:off x="5502442" y="2094851"/>
            <a:ext cx="1206261" cy="298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2F3DC7-E28D-136A-7F0D-AD33D1C803E3}"/>
              </a:ext>
            </a:extLst>
          </p:cNvPr>
          <p:cNvSpPr/>
          <p:nvPr/>
        </p:nvSpPr>
        <p:spPr>
          <a:xfrm>
            <a:off x="6715382" y="2141035"/>
            <a:ext cx="1620497" cy="298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C5F2E5-883E-6B63-4F9D-B4AAF8BE22F9}"/>
              </a:ext>
            </a:extLst>
          </p:cNvPr>
          <p:cNvSpPr/>
          <p:nvPr/>
        </p:nvSpPr>
        <p:spPr>
          <a:xfrm>
            <a:off x="8320384" y="2058429"/>
            <a:ext cx="1087961" cy="298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C74EB1-1BF7-1E50-B29F-4223141914EC}"/>
              </a:ext>
            </a:extLst>
          </p:cNvPr>
          <p:cNvSpPr/>
          <p:nvPr/>
        </p:nvSpPr>
        <p:spPr>
          <a:xfrm>
            <a:off x="9408345" y="1979395"/>
            <a:ext cx="2021305" cy="29897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2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79BA-41D9-EB86-F5BE-A3AF1336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C0D7-7B24-B77E-C394-1C95CE34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Fluorine as a Structural Stabilizer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BC85B7-E552-B935-9118-53D057E602FD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44870E-BCC4-C715-2D57-3E9330CAC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34811"/>
              </p:ext>
            </p:extLst>
          </p:nvPr>
        </p:nvGraphicFramePr>
        <p:xfrm>
          <a:off x="838200" y="2319901"/>
          <a:ext cx="9884784" cy="2300543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893425">
                  <a:extLst>
                    <a:ext uri="{9D8B030D-6E8A-4147-A177-3AD203B41FA5}">
                      <a16:colId xmlns:a16="http://schemas.microsoft.com/office/drawing/2014/main" val="268835185"/>
                    </a:ext>
                  </a:extLst>
                </a:gridCol>
                <a:gridCol w="1178451">
                  <a:extLst>
                    <a:ext uri="{9D8B030D-6E8A-4147-A177-3AD203B41FA5}">
                      <a16:colId xmlns:a16="http://schemas.microsoft.com/office/drawing/2014/main" val="3129544462"/>
                    </a:ext>
                  </a:extLst>
                </a:gridCol>
                <a:gridCol w="895786">
                  <a:extLst>
                    <a:ext uri="{9D8B030D-6E8A-4147-A177-3AD203B41FA5}">
                      <a16:colId xmlns:a16="http://schemas.microsoft.com/office/drawing/2014/main" val="282354579"/>
                    </a:ext>
                  </a:extLst>
                </a:gridCol>
                <a:gridCol w="910822">
                  <a:extLst>
                    <a:ext uri="{9D8B030D-6E8A-4147-A177-3AD203B41FA5}">
                      <a16:colId xmlns:a16="http://schemas.microsoft.com/office/drawing/2014/main" val="2562816194"/>
                    </a:ext>
                  </a:extLst>
                </a:gridCol>
                <a:gridCol w="910822">
                  <a:extLst>
                    <a:ext uri="{9D8B030D-6E8A-4147-A177-3AD203B41FA5}">
                      <a16:colId xmlns:a16="http://schemas.microsoft.com/office/drawing/2014/main" val="2193184400"/>
                    </a:ext>
                  </a:extLst>
                </a:gridCol>
                <a:gridCol w="908674">
                  <a:extLst>
                    <a:ext uri="{9D8B030D-6E8A-4147-A177-3AD203B41FA5}">
                      <a16:colId xmlns:a16="http://schemas.microsoft.com/office/drawing/2014/main" val="4237929094"/>
                    </a:ext>
                  </a:extLst>
                </a:gridCol>
                <a:gridCol w="904378">
                  <a:extLst>
                    <a:ext uri="{9D8B030D-6E8A-4147-A177-3AD203B41FA5}">
                      <a16:colId xmlns:a16="http://schemas.microsoft.com/office/drawing/2014/main" val="3026815837"/>
                    </a:ext>
                  </a:extLst>
                </a:gridCol>
                <a:gridCol w="1062267">
                  <a:extLst>
                    <a:ext uri="{9D8B030D-6E8A-4147-A177-3AD203B41FA5}">
                      <a16:colId xmlns:a16="http://schemas.microsoft.com/office/drawing/2014/main" val="3094313128"/>
                    </a:ext>
                  </a:extLst>
                </a:gridCol>
                <a:gridCol w="1220159">
                  <a:extLst>
                    <a:ext uri="{9D8B030D-6E8A-4147-A177-3AD203B41FA5}">
                      <a16:colId xmlns:a16="http://schemas.microsoft.com/office/drawing/2014/main" val="1559348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Average Displacement (Å)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Pb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I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N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F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Organic Spacers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Inorganic Crystals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1787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Non-Fluorinated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0.71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0.83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1.04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1.46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0.91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-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1.25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0.81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2849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Fluorinated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0.63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0.74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0.86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1.21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0.73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1.01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1.02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0.72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3063951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5A6D70AF-8E27-2F28-6DFE-10950DE17E85}"/>
              </a:ext>
            </a:extLst>
          </p:cNvPr>
          <p:cNvSpPr/>
          <p:nvPr/>
        </p:nvSpPr>
        <p:spPr>
          <a:xfrm>
            <a:off x="8589384" y="4102100"/>
            <a:ext cx="2133600" cy="660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53EA8C-79E3-0229-09CE-2CEF3AD450F1}"/>
              </a:ext>
            </a:extLst>
          </p:cNvPr>
          <p:cNvSpPr/>
          <p:nvPr/>
        </p:nvSpPr>
        <p:spPr>
          <a:xfrm>
            <a:off x="2743200" y="4239779"/>
            <a:ext cx="8255000" cy="8061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B73EB-178E-60A1-9424-5E146F5A81B1}"/>
              </a:ext>
            </a:extLst>
          </p:cNvPr>
          <p:cNvSpPr txBox="1"/>
          <p:nvPr/>
        </p:nvSpPr>
        <p:spPr>
          <a:xfrm>
            <a:off x="7184396" y="5405521"/>
            <a:ext cx="4169404" cy="707886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Displacement decreases with addition of fluorine atoms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2D75E2CA-2DE8-3285-3923-C671BEC3F2FE}"/>
              </a:ext>
            </a:extLst>
          </p:cNvPr>
          <p:cNvSpPr/>
          <p:nvPr/>
        </p:nvSpPr>
        <p:spPr>
          <a:xfrm>
            <a:off x="11095630" y="3470172"/>
            <a:ext cx="436728" cy="1150272"/>
          </a:xfrm>
          <a:prstGeom prst="downArrow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E15E7C-D036-978D-2E5C-6E9F0CB1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67005D-9513-5A61-5B37-C1CC7D89DB2B}"/>
              </a:ext>
            </a:extLst>
          </p:cNvPr>
          <p:cNvSpPr/>
          <p:nvPr/>
        </p:nvSpPr>
        <p:spPr>
          <a:xfrm>
            <a:off x="2743200" y="3429000"/>
            <a:ext cx="8255000" cy="8061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ChemSpider 2D Image | benzylammonium | C7H10N">
            <a:extLst>
              <a:ext uri="{FF2B5EF4-FFF2-40B4-BE49-F238E27FC236}">
                <a16:creationId xmlns:a16="http://schemas.microsoft.com/office/drawing/2014/main" id="{94F97977-8628-F251-83D9-83C811C10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54" y="4357810"/>
            <a:ext cx="2639317" cy="263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17764EF-7096-A4E0-6F95-2A03293CC14B}"/>
              </a:ext>
            </a:extLst>
          </p:cNvPr>
          <p:cNvGrpSpPr/>
          <p:nvPr/>
        </p:nvGrpSpPr>
        <p:grpSpPr>
          <a:xfrm>
            <a:off x="3474956" y="4432300"/>
            <a:ext cx="3065298" cy="2639317"/>
            <a:chOff x="5930275" y="2794120"/>
            <a:chExt cx="3756288" cy="3175000"/>
          </a:xfrm>
        </p:grpSpPr>
        <p:pic>
          <p:nvPicPr>
            <p:cNvPr id="13" name="Picture 2" descr="ChemSpider 2D Image | benzylammonium | C7H10N">
              <a:extLst>
                <a:ext uri="{FF2B5EF4-FFF2-40B4-BE49-F238E27FC236}">
                  <a16:creationId xmlns:a16="http://schemas.microsoft.com/office/drawing/2014/main" id="{B4C1901A-3B30-6F06-D679-6B529D916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1563" y="2794120"/>
              <a:ext cx="3175000" cy="317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9590DFE-2172-BB2D-C587-99A1A5ABFDFE}"/>
                </a:ext>
              </a:extLst>
            </p:cNvPr>
            <p:cNvCxnSpPr/>
            <p:nvPr/>
          </p:nvCxnSpPr>
          <p:spPr>
            <a:xfrm flipH="1">
              <a:off x="6257563" y="4695945"/>
              <a:ext cx="419100" cy="228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007C12-6ABC-4380-B60C-2D530E9AA7E6}"/>
                </a:ext>
              </a:extLst>
            </p:cNvPr>
            <p:cNvSpPr txBox="1"/>
            <p:nvPr/>
          </p:nvSpPr>
          <p:spPr>
            <a:xfrm>
              <a:off x="5930275" y="4695945"/>
              <a:ext cx="3497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494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6" grpId="0" animBg="1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DAED-C935-BDDC-3773-316DBD66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4517-6062-329C-FC38-EB24E007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Conclusions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121075-B7C7-9AA6-FD3E-868FB4BC1A88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68EAE3-9D5B-0137-BB8C-BD514818C5F8}"/>
              </a:ext>
            </a:extLst>
          </p:cNvPr>
          <p:cNvSpPr txBox="1"/>
          <p:nvPr/>
        </p:nvSpPr>
        <p:spPr>
          <a:xfrm>
            <a:off x="838200" y="2258854"/>
            <a:ext cx="10160000" cy="120032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Fluorine substitution enhances the PCE of the 2D perovskite </a:t>
            </a:r>
            <a:r>
              <a:rPr lang="en-US" b="1" dirty="0"/>
              <a:t>not</a:t>
            </a:r>
            <a:r>
              <a:rPr lang="en-US" dirty="0"/>
              <a:t> through coupling effects but through </a:t>
            </a:r>
            <a:r>
              <a:rPr lang="en-US" b="1" dirty="0"/>
              <a:t>reorganization energy and structural stabilization</a:t>
            </a:r>
            <a:r>
              <a:rPr lang="en-US" dirty="0"/>
              <a:t>.</a:t>
            </a:r>
          </a:p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411A0-075B-E911-EAAD-87C3B033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0CA1D5-DA33-5EA6-987F-10DF43E9D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02" y="3829854"/>
            <a:ext cx="2926080" cy="2155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92480-BBDB-0E74-3EE7-9F5248E4E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065" y="3829854"/>
            <a:ext cx="2926080" cy="2155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84DAD8-FA34-0231-C20B-C2558B0BA543}"/>
              </a:ext>
            </a:extLst>
          </p:cNvPr>
          <p:cNvSpPr txBox="1"/>
          <p:nvPr/>
        </p:nvSpPr>
        <p:spPr>
          <a:xfrm>
            <a:off x="1341144" y="6123543"/>
            <a:ext cx="1768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HOMO ~ -2.5 eV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3CDCF-0996-4EB2-2C3F-D5EFB645D318}"/>
              </a:ext>
            </a:extLst>
          </p:cNvPr>
          <p:cNvSpPr txBox="1"/>
          <p:nvPr/>
        </p:nvSpPr>
        <p:spPr>
          <a:xfrm>
            <a:off x="4618819" y="6133318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HOMO ~ -2.75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9EBE91-BDBF-081E-DFF7-BAD5060E9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113291"/>
              </p:ext>
            </p:extLst>
          </p:nvPr>
        </p:nvGraphicFramePr>
        <p:xfrm>
          <a:off x="7303168" y="4238748"/>
          <a:ext cx="3441032" cy="134797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92864">
                  <a:extLst>
                    <a:ext uri="{9D8B030D-6E8A-4147-A177-3AD203B41FA5}">
                      <a16:colId xmlns:a16="http://schemas.microsoft.com/office/drawing/2014/main" val="841921657"/>
                    </a:ext>
                  </a:extLst>
                </a:gridCol>
                <a:gridCol w="1092864">
                  <a:extLst>
                    <a:ext uri="{9D8B030D-6E8A-4147-A177-3AD203B41FA5}">
                      <a16:colId xmlns:a16="http://schemas.microsoft.com/office/drawing/2014/main" val="574340550"/>
                    </a:ext>
                  </a:extLst>
                </a:gridCol>
                <a:gridCol w="1255304">
                  <a:extLst>
                    <a:ext uri="{9D8B030D-6E8A-4147-A177-3AD203B41FA5}">
                      <a16:colId xmlns:a16="http://schemas.microsoft.com/office/drawing/2014/main" val="4157438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Organic Spacers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Inorganic Crystals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126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BZA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1.25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0.81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7958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F-BZA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1.02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0.72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474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39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42756-B754-2CDB-C9D3-A21D5D74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9902-3854-24C3-3CFC-AAA7A55B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990000"/>
                </a:solidFill>
              </a:rPr>
              <a:t>Thank you!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7EF5AA-65E0-5817-86B1-52D4D1879799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7795D-162F-3016-9B3E-61927EA1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734E3-025C-C7BD-A491-4AC919979ADB}"/>
              </a:ext>
            </a:extLst>
          </p:cNvPr>
          <p:cNvSpPr txBox="1"/>
          <p:nvPr/>
        </p:nvSpPr>
        <p:spPr>
          <a:xfrm>
            <a:off x="838200" y="2600722"/>
            <a:ext cx="22204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Collaborators</a:t>
            </a:r>
          </a:p>
          <a:p>
            <a:pPr algn="ctr"/>
            <a:r>
              <a:rPr lang="en-US" sz="2400" dirty="0"/>
              <a:t>Wei Li</a:t>
            </a:r>
          </a:p>
          <a:p>
            <a:pPr algn="ctr"/>
            <a:r>
              <a:rPr lang="en-US" sz="2400" dirty="0"/>
              <a:t>Claudio </a:t>
            </a:r>
            <a:r>
              <a:rPr lang="en-US" sz="2400" dirty="0" err="1"/>
              <a:t>Quarti</a:t>
            </a:r>
            <a:endParaRPr lang="en-US" sz="2400" dirty="0"/>
          </a:p>
          <a:p>
            <a:pPr algn="ctr"/>
            <a:r>
              <a:rPr lang="en-US" sz="2400" dirty="0"/>
              <a:t>David </a:t>
            </a:r>
            <a:r>
              <a:rPr lang="en-US" sz="2400" dirty="0" err="1"/>
              <a:t>Beljonne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b="1" dirty="0"/>
              <a:t>Advisor</a:t>
            </a:r>
          </a:p>
          <a:p>
            <a:pPr algn="ctr"/>
            <a:r>
              <a:rPr lang="en-US" sz="2400" dirty="0"/>
              <a:t>Oleg </a:t>
            </a:r>
            <a:r>
              <a:rPr lang="en-US" sz="2400" dirty="0" err="1"/>
              <a:t>Prezhdo</a:t>
            </a:r>
            <a:endParaRPr lang="en-US" sz="2400" dirty="0"/>
          </a:p>
        </p:txBody>
      </p:sp>
      <p:pic>
        <p:nvPicPr>
          <p:cNvPr id="7" name="Picture 6" descr="A screenshot of a website&#10;&#10;Description automatically generated">
            <a:extLst>
              <a:ext uri="{FF2B5EF4-FFF2-40B4-BE49-F238E27FC236}">
                <a16:creationId xmlns:a16="http://schemas.microsoft.com/office/drawing/2014/main" id="{C37BFF6D-3A95-6C68-F335-6212170E6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994578"/>
            <a:ext cx="7772400" cy="20578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9FE36A-8143-407F-11E3-F89D8179C334}"/>
              </a:ext>
            </a:extLst>
          </p:cNvPr>
          <p:cNvSpPr/>
          <p:nvPr/>
        </p:nvSpPr>
        <p:spPr>
          <a:xfrm>
            <a:off x="3733800" y="4143375"/>
            <a:ext cx="3738563" cy="257175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37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218F-ADC3-E4C8-18C4-58526D1F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68B35-E080-3F21-6934-4EB492604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F661B-71B8-3AD3-DF5A-EB9181D6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20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D7E176-E149-6259-C3D6-4E6E6B8F3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US" sz="3200" dirty="0">
              <a:solidFill>
                <a:srgbClr val="990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0911C1-0398-9FEC-382E-CC66C3FE493E}"/>
              </a:ext>
            </a:extLst>
          </p:cNvPr>
          <p:cNvCxnSpPr>
            <a:cxnSpLocks/>
          </p:cNvCxnSpPr>
          <p:nvPr/>
        </p:nvCxnSpPr>
        <p:spPr>
          <a:xfrm>
            <a:off x="-162046" y="1579622"/>
            <a:ext cx="11160246" cy="0"/>
          </a:xfrm>
          <a:prstGeom prst="line">
            <a:avLst/>
          </a:prstGeom>
          <a:ln w="38100">
            <a:solidFill>
              <a:srgbClr val="99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9F98C-DD2A-81A5-9094-45529FDF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73B7-C7B7-3C4E-A901-FDD6F761C7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36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6959</TotalTime>
  <Words>704</Words>
  <Application>Microsoft Macintosh PowerPoint</Application>
  <PresentationFormat>Widescreen</PresentationFormat>
  <Paragraphs>198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The Search for Better Energy Materials: Two-Dimensional Perovskites</vt:lpstr>
      <vt:lpstr>Using Fluorine to Enhance Charge Transfer</vt:lpstr>
      <vt:lpstr>Understanding Charge Transfer: Marcus Theory</vt:lpstr>
      <vt:lpstr>Projection Diabatization Method (POD): Computing Nonadiabatic Couplings</vt:lpstr>
      <vt:lpstr>Fluorine’s Effects on Electronic Structure</vt:lpstr>
      <vt:lpstr>Fluorine’s Effects on Marcus Rate: Nonadiabatic Coupling &amp; Reorganization Energy</vt:lpstr>
      <vt:lpstr>Putting the pieces together: charge transfer rates</vt:lpstr>
      <vt:lpstr>Fluorine as a Structural Stabilizer</vt:lpstr>
      <vt:lpstr>Conclusions</vt:lpstr>
      <vt:lpstr>Thank you!</vt:lpstr>
      <vt:lpstr>Extra Slides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Stippell</dc:creator>
  <cp:lastModifiedBy>Elizabeth Stippell</cp:lastModifiedBy>
  <cp:revision>15</cp:revision>
  <dcterms:created xsi:type="dcterms:W3CDTF">2025-02-18T21:50:50Z</dcterms:created>
  <dcterms:modified xsi:type="dcterms:W3CDTF">2025-03-05T01:47:24Z</dcterms:modified>
</cp:coreProperties>
</file>