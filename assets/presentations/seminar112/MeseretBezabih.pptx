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0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914" r:id="rId2"/>
    <p:sldId id="1831" r:id="rId3"/>
    <p:sldId id="1911" r:id="rId4"/>
    <p:sldId id="1861" r:id="rId5"/>
    <p:sldId id="1903" r:id="rId6"/>
    <p:sldId id="1859" r:id="rId7"/>
    <p:sldId id="1881" r:id="rId8"/>
    <p:sldId id="1850" r:id="rId9"/>
    <p:sldId id="18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FFD579"/>
    <a:srgbClr val="D1D1D1"/>
    <a:srgbClr val="005493"/>
    <a:srgbClr val="AAAAAA"/>
    <a:srgbClr val="5E5E5E"/>
    <a:srgbClr val="009193"/>
    <a:srgbClr val="0432FF"/>
    <a:srgbClr val="000000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3"/>
    <p:restoredTop sz="96301"/>
  </p:normalViewPr>
  <p:slideViewPr>
    <p:cSldViewPr snapToGrid="0">
      <p:cViewPr varScale="1">
        <p:scale>
          <a:sx n="126" d="100"/>
          <a:sy n="126" d="100"/>
        </p:scale>
        <p:origin x="59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meseretbezabih/Library/Mobile%20Documents/com~apple~CloudDocs/BGSU/Researchs/New-2024-project/Straine-NonStrain-Ethylene-like/Trajectories_Original_400s/SOLUTION/Histogram-S1Ene-Jan1-2025/S1Traj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meseretbezabih/Library/Mobile%20Documents/com~apple~CloudDocs/BGSU/Researchs/New-2024-project/Straine-NonStrain-Ethylene-like/Trajectories_Original_400s/SOLUTION/Histogram-S1Ene-Jan1-2025/S1Traj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'S1-S0 lifetime'!$F$1</c:f>
              <c:strCache>
                <c:ptCount val="1"/>
                <c:pt idx="0">
                  <c:v>Pop fraction</c:v>
                </c:pt>
              </c:strCache>
            </c:strRef>
          </c:tx>
          <c:spPr>
            <a:ln>
              <a:solidFill>
                <a:srgbClr val="0432FF"/>
              </a:solidFill>
            </a:ln>
          </c:spPr>
          <c:marker>
            <c:symbol val="none"/>
          </c:marker>
          <c:xVal>
            <c:numRef>
              <c:f>'S1-S0 lifetime'!$C$2:$C$286</c:f>
              <c:numCache>
                <c:formatCode>General</c:formatCode>
                <c:ptCount val="28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</c:numCache>
            </c:numRef>
          </c:xVal>
          <c:yVal>
            <c:numRef>
              <c:f>'S1-S0 lifetime'!$F$2:$F$286</c:f>
              <c:numCache>
                <c:formatCode>General</c:formatCode>
                <c:ptCount val="28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0.995</c:v>
                </c:pt>
                <c:pt idx="19">
                  <c:v>0.99</c:v>
                </c:pt>
                <c:pt idx="20">
                  <c:v>0.97499999999999998</c:v>
                </c:pt>
                <c:pt idx="21">
                  <c:v>0.95</c:v>
                </c:pt>
                <c:pt idx="22">
                  <c:v>0.93</c:v>
                </c:pt>
                <c:pt idx="23">
                  <c:v>0.92500000000000004</c:v>
                </c:pt>
                <c:pt idx="24">
                  <c:v>0.91500000000000004</c:v>
                </c:pt>
                <c:pt idx="25">
                  <c:v>0.89</c:v>
                </c:pt>
                <c:pt idx="26">
                  <c:v>0.86499999999999999</c:v>
                </c:pt>
                <c:pt idx="27">
                  <c:v>0.84</c:v>
                </c:pt>
                <c:pt idx="28">
                  <c:v>0.81</c:v>
                </c:pt>
                <c:pt idx="29">
                  <c:v>0.8</c:v>
                </c:pt>
                <c:pt idx="30">
                  <c:v>0.78500000000000003</c:v>
                </c:pt>
                <c:pt idx="31">
                  <c:v>0.78</c:v>
                </c:pt>
                <c:pt idx="32">
                  <c:v>0.77</c:v>
                </c:pt>
                <c:pt idx="33">
                  <c:v>0.77</c:v>
                </c:pt>
                <c:pt idx="34">
                  <c:v>0.76500000000000001</c:v>
                </c:pt>
                <c:pt idx="35">
                  <c:v>0.76</c:v>
                </c:pt>
                <c:pt idx="36">
                  <c:v>0.755</c:v>
                </c:pt>
                <c:pt idx="37">
                  <c:v>0.74</c:v>
                </c:pt>
                <c:pt idx="38">
                  <c:v>0.73499999999999999</c:v>
                </c:pt>
                <c:pt idx="39">
                  <c:v>0.73499999999999999</c:v>
                </c:pt>
                <c:pt idx="40">
                  <c:v>0.72499999999999998</c:v>
                </c:pt>
                <c:pt idx="41">
                  <c:v>0.72499999999999998</c:v>
                </c:pt>
                <c:pt idx="42">
                  <c:v>0.72499999999999998</c:v>
                </c:pt>
                <c:pt idx="43">
                  <c:v>0.72</c:v>
                </c:pt>
                <c:pt idx="44">
                  <c:v>0.71</c:v>
                </c:pt>
                <c:pt idx="45">
                  <c:v>0.71</c:v>
                </c:pt>
                <c:pt idx="46">
                  <c:v>0.70499999999999996</c:v>
                </c:pt>
                <c:pt idx="47">
                  <c:v>0.70499999999999996</c:v>
                </c:pt>
                <c:pt idx="48">
                  <c:v>0.67</c:v>
                </c:pt>
                <c:pt idx="49">
                  <c:v>0.66500000000000004</c:v>
                </c:pt>
                <c:pt idx="50">
                  <c:v>0.66500000000000004</c:v>
                </c:pt>
                <c:pt idx="51">
                  <c:v>0.66</c:v>
                </c:pt>
                <c:pt idx="52">
                  <c:v>0.66</c:v>
                </c:pt>
                <c:pt idx="53">
                  <c:v>0.64500000000000002</c:v>
                </c:pt>
                <c:pt idx="54">
                  <c:v>0.64</c:v>
                </c:pt>
                <c:pt idx="55">
                  <c:v>0.64</c:v>
                </c:pt>
                <c:pt idx="56">
                  <c:v>0.63</c:v>
                </c:pt>
                <c:pt idx="57">
                  <c:v>0.61</c:v>
                </c:pt>
                <c:pt idx="58">
                  <c:v>0.6</c:v>
                </c:pt>
                <c:pt idx="59">
                  <c:v>0.6</c:v>
                </c:pt>
                <c:pt idx="60">
                  <c:v>0.59</c:v>
                </c:pt>
                <c:pt idx="61">
                  <c:v>0.58499999999999996</c:v>
                </c:pt>
                <c:pt idx="62">
                  <c:v>0.57999999999999996</c:v>
                </c:pt>
                <c:pt idx="63">
                  <c:v>0.55500000000000005</c:v>
                </c:pt>
                <c:pt idx="64">
                  <c:v>0.55000000000000004</c:v>
                </c:pt>
                <c:pt idx="65">
                  <c:v>0.54500000000000004</c:v>
                </c:pt>
                <c:pt idx="66">
                  <c:v>0.51500000000000001</c:v>
                </c:pt>
                <c:pt idx="67">
                  <c:v>0.5</c:v>
                </c:pt>
                <c:pt idx="68">
                  <c:v>0.495</c:v>
                </c:pt>
                <c:pt idx="69">
                  <c:v>0.48499999999999999</c:v>
                </c:pt>
                <c:pt idx="70">
                  <c:v>0.46</c:v>
                </c:pt>
                <c:pt idx="71">
                  <c:v>0.44500000000000001</c:v>
                </c:pt>
                <c:pt idx="72">
                  <c:v>0.42</c:v>
                </c:pt>
                <c:pt idx="73">
                  <c:v>0.40500000000000003</c:v>
                </c:pt>
                <c:pt idx="74">
                  <c:v>0.38</c:v>
                </c:pt>
                <c:pt idx="75">
                  <c:v>0.36</c:v>
                </c:pt>
                <c:pt idx="76">
                  <c:v>0.35499999999999998</c:v>
                </c:pt>
                <c:pt idx="77">
                  <c:v>0.35</c:v>
                </c:pt>
                <c:pt idx="78">
                  <c:v>0.34499999999999997</c:v>
                </c:pt>
                <c:pt idx="79">
                  <c:v>0.34499999999999997</c:v>
                </c:pt>
                <c:pt idx="80">
                  <c:v>0.33</c:v>
                </c:pt>
                <c:pt idx="81">
                  <c:v>0.32500000000000001</c:v>
                </c:pt>
                <c:pt idx="82">
                  <c:v>0.315</c:v>
                </c:pt>
                <c:pt idx="83">
                  <c:v>0.30499999999999999</c:v>
                </c:pt>
                <c:pt idx="84">
                  <c:v>0.30499999999999999</c:v>
                </c:pt>
                <c:pt idx="85">
                  <c:v>0.3</c:v>
                </c:pt>
                <c:pt idx="86">
                  <c:v>0.3</c:v>
                </c:pt>
                <c:pt idx="87">
                  <c:v>0.3</c:v>
                </c:pt>
                <c:pt idx="88">
                  <c:v>0.3</c:v>
                </c:pt>
                <c:pt idx="89">
                  <c:v>0.3</c:v>
                </c:pt>
                <c:pt idx="90">
                  <c:v>0.28499999999999998</c:v>
                </c:pt>
                <c:pt idx="91">
                  <c:v>0.26500000000000001</c:v>
                </c:pt>
                <c:pt idx="92">
                  <c:v>0.26500000000000001</c:v>
                </c:pt>
                <c:pt idx="93">
                  <c:v>0.25</c:v>
                </c:pt>
                <c:pt idx="94">
                  <c:v>0.245</c:v>
                </c:pt>
                <c:pt idx="95">
                  <c:v>0.245</c:v>
                </c:pt>
                <c:pt idx="96">
                  <c:v>0.24</c:v>
                </c:pt>
                <c:pt idx="97">
                  <c:v>0.24</c:v>
                </c:pt>
                <c:pt idx="98">
                  <c:v>0.23</c:v>
                </c:pt>
                <c:pt idx="99">
                  <c:v>0.23</c:v>
                </c:pt>
                <c:pt idx="100">
                  <c:v>0.22</c:v>
                </c:pt>
                <c:pt idx="101">
                  <c:v>0.22</c:v>
                </c:pt>
                <c:pt idx="102">
                  <c:v>0.215</c:v>
                </c:pt>
                <c:pt idx="103">
                  <c:v>0.21</c:v>
                </c:pt>
                <c:pt idx="104">
                  <c:v>0.21</c:v>
                </c:pt>
                <c:pt idx="105">
                  <c:v>0.21</c:v>
                </c:pt>
                <c:pt idx="106">
                  <c:v>0.20499999999999999</c:v>
                </c:pt>
                <c:pt idx="107">
                  <c:v>0.2</c:v>
                </c:pt>
                <c:pt idx="108">
                  <c:v>0.19500000000000001</c:v>
                </c:pt>
                <c:pt idx="109">
                  <c:v>0.19500000000000001</c:v>
                </c:pt>
                <c:pt idx="110">
                  <c:v>0.19500000000000001</c:v>
                </c:pt>
                <c:pt idx="111">
                  <c:v>0.17499999999999999</c:v>
                </c:pt>
                <c:pt idx="112">
                  <c:v>0.17</c:v>
                </c:pt>
                <c:pt idx="113">
                  <c:v>0.16500000000000001</c:v>
                </c:pt>
                <c:pt idx="114">
                  <c:v>0.16500000000000001</c:v>
                </c:pt>
                <c:pt idx="115">
                  <c:v>0.16500000000000001</c:v>
                </c:pt>
                <c:pt idx="116">
                  <c:v>0.16</c:v>
                </c:pt>
                <c:pt idx="117">
                  <c:v>0.155</c:v>
                </c:pt>
                <c:pt idx="118">
                  <c:v>0.14000000000000001</c:v>
                </c:pt>
                <c:pt idx="119">
                  <c:v>0.14000000000000001</c:v>
                </c:pt>
                <c:pt idx="120">
                  <c:v>0.14000000000000001</c:v>
                </c:pt>
                <c:pt idx="121">
                  <c:v>0.13</c:v>
                </c:pt>
                <c:pt idx="122">
                  <c:v>0.125</c:v>
                </c:pt>
                <c:pt idx="123">
                  <c:v>0.12</c:v>
                </c:pt>
                <c:pt idx="124">
                  <c:v>0.12</c:v>
                </c:pt>
                <c:pt idx="125">
                  <c:v>0.12</c:v>
                </c:pt>
                <c:pt idx="126">
                  <c:v>0.115</c:v>
                </c:pt>
                <c:pt idx="127">
                  <c:v>0.115</c:v>
                </c:pt>
                <c:pt idx="128">
                  <c:v>0.11</c:v>
                </c:pt>
                <c:pt idx="129">
                  <c:v>0.11</c:v>
                </c:pt>
                <c:pt idx="130">
                  <c:v>0.11</c:v>
                </c:pt>
                <c:pt idx="131">
                  <c:v>0.11</c:v>
                </c:pt>
                <c:pt idx="132">
                  <c:v>0.11</c:v>
                </c:pt>
                <c:pt idx="133">
                  <c:v>0.11</c:v>
                </c:pt>
                <c:pt idx="134">
                  <c:v>0.11</c:v>
                </c:pt>
                <c:pt idx="135">
                  <c:v>0.11</c:v>
                </c:pt>
                <c:pt idx="136">
                  <c:v>9.5000000000000001E-2</c:v>
                </c:pt>
                <c:pt idx="137">
                  <c:v>9.5000000000000001E-2</c:v>
                </c:pt>
                <c:pt idx="138">
                  <c:v>0.09</c:v>
                </c:pt>
                <c:pt idx="139">
                  <c:v>0.09</c:v>
                </c:pt>
                <c:pt idx="140">
                  <c:v>0.09</c:v>
                </c:pt>
                <c:pt idx="141">
                  <c:v>8.5000000000000006E-2</c:v>
                </c:pt>
                <c:pt idx="142">
                  <c:v>0.08</c:v>
                </c:pt>
                <c:pt idx="143">
                  <c:v>0.08</c:v>
                </c:pt>
                <c:pt idx="144">
                  <c:v>7.0000000000000007E-2</c:v>
                </c:pt>
                <c:pt idx="145">
                  <c:v>7.0000000000000007E-2</c:v>
                </c:pt>
                <c:pt idx="146">
                  <c:v>7.0000000000000007E-2</c:v>
                </c:pt>
                <c:pt idx="147">
                  <c:v>6.5000000000000002E-2</c:v>
                </c:pt>
                <c:pt idx="148">
                  <c:v>6.5000000000000002E-2</c:v>
                </c:pt>
                <c:pt idx="149">
                  <c:v>0.06</c:v>
                </c:pt>
                <c:pt idx="150">
                  <c:v>5.5E-2</c:v>
                </c:pt>
                <c:pt idx="151">
                  <c:v>5.5E-2</c:v>
                </c:pt>
                <c:pt idx="152">
                  <c:v>0.05</c:v>
                </c:pt>
                <c:pt idx="153">
                  <c:v>0.05</c:v>
                </c:pt>
                <c:pt idx="154">
                  <c:v>0.05</c:v>
                </c:pt>
                <c:pt idx="155">
                  <c:v>0.05</c:v>
                </c:pt>
                <c:pt idx="156">
                  <c:v>0.05</c:v>
                </c:pt>
                <c:pt idx="157">
                  <c:v>0.05</c:v>
                </c:pt>
                <c:pt idx="158">
                  <c:v>0.05</c:v>
                </c:pt>
                <c:pt idx="159">
                  <c:v>4.4999999999999998E-2</c:v>
                </c:pt>
                <c:pt idx="160">
                  <c:v>4.4999999999999998E-2</c:v>
                </c:pt>
                <c:pt idx="161">
                  <c:v>3.5000000000000003E-2</c:v>
                </c:pt>
                <c:pt idx="162">
                  <c:v>0.03</c:v>
                </c:pt>
                <c:pt idx="163">
                  <c:v>2.5000000000000001E-2</c:v>
                </c:pt>
                <c:pt idx="164">
                  <c:v>2.5000000000000001E-2</c:v>
                </c:pt>
                <c:pt idx="165">
                  <c:v>2.5000000000000001E-2</c:v>
                </c:pt>
                <c:pt idx="166">
                  <c:v>2.5000000000000001E-2</c:v>
                </c:pt>
                <c:pt idx="167">
                  <c:v>2.5000000000000001E-2</c:v>
                </c:pt>
                <c:pt idx="168">
                  <c:v>2.5000000000000001E-2</c:v>
                </c:pt>
                <c:pt idx="169">
                  <c:v>2.5000000000000001E-2</c:v>
                </c:pt>
                <c:pt idx="170">
                  <c:v>2.5000000000000001E-2</c:v>
                </c:pt>
                <c:pt idx="171">
                  <c:v>2.5000000000000001E-2</c:v>
                </c:pt>
                <c:pt idx="172">
                  <c:v>2.5000000000000001E-2</c:v>
                </c:pt>
                <c:pt idx="173">
                  <c:v>2.5000000000000001E-2</c:v>
                </c:pt>
                <c:pt idx="174">
                  <c:v>0.02</c:v>
                </c:pt>
                <c:pt idx="175">
                  <c:v>0.02</c:v>
                </c:pt>
                <c:pt idx="176">
                  <c:v>0.02</c:v>
                </c:pt>
                <c:pt idx="177">
                  <c:v>0.02</c:v>
                </c:pt>
                <c:pt idx="178">
                  <c:v>0.02</c:v>
                </c:pt>
                <c:pt idx="179">
                  <c:v>0.02</c:v>
                </c:pt>
                <c:pt idx="180">
                  <c:v>0.02</c:v>
                </c:pt>
                <c:pt idx="181">
                  <c:v>1.4999999999999999E-2</c:v>
                </c:pt>
                <c:pt idx="182">
                  <c:v>1.4999999999999999E-2</c:v>
                </c:pt>
                <c:pt idx="183">
                  <c:v>1.4999999999999999E-2</c:v>
                </c:pt>
                <c:pt idx="184">
                  <c:v>1.4999999999999999E-2</c:v>
                </c:pt>
                <c:pt idx="185">
                  <c:v>1.4999999999999999E-2</c:v>
                </c:pt>
                <c:pt idx="186">
                  <c:v>1.4999999999999999E-2</c:v>
                </c:pt>
                <c:pt idx="187">
                  <c:v>1.4999999999999999E-2</c:v>
                </c:pt>
                <c:pt idx="188">
                  <c:v>1.4999999999999999E-2</c:v>
                </c:pt>
                <c:pt idx="189">
                  <c:v>1.4999999999999999E-2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0.01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8DC-574A-84A7-EBFA979FC439}"/>
            </c:ext>
          </c:extLst>
        </c:ser>
        <c:ser>
          <c:idx val="0"/>
          <c:order val="1"/>
          <c:spPr>
            <a:ln w="19050" cap="rnd">
              <a:solidFill>
                <a:srgbClr val="FF2600"/>
              </a:solidFill>
              <a:round/>
            </a:ln>
            <a:effectLst/>
          </c:spPr>
          <c:marker>
            <c:symbol val="none"/>
          </c:marker>
          <c:xVal>
            <c:numRef>
              <c:f>'S1-S0 lifetime'!$C$20:$C$202</c:f>
              <c:numCache>
                <c:formatCode>General</c:formatCode>
                <c:ptCount val="183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71</c:v>
                </c:pt>
                <c:pt idx="54">
                  <c:v>72</c:v>
                </c:pt>
                <c:pt idx="55">
                  <c:v>73</c:v>
                </c:pt>
                <c:pt idx="56">
                  <c:v>74</c:v>
                </c:pt>
                <c:pt idx="57">
                  <c:v>75</c:v>
                </c:pt>
                <c:pt idx="58">
                  <c:v>76</c:v>
                </c:pt>
                <c:pt idx="59">
                  <c:v>77</c:v>
                </c:pt>
                <c:pt idx="60">
                  <c:v>78</c:v>
                </c:pt>
                <c:pt idx="61">
                  <c:v>79</c:v>
                </c:pt>
                <c:pt idx="62">
                  <c:v>80</c:v>
                </c:pt>
                <c:pt idx="63">
                  <c:v>81</c:v>
                </c:pt>
                <c:pt idx="64">
                  <c:v>82</c:v>
                </c:pt>
                <c:pt idx="65">
                  <c:v>83</c:v>
                </c:pt>
                <c:pt idx="66">
                  <c:v>84</c:v>
                </c:pt>
                <c:pt idx="67">
                  <c:v>85</c:v>
                </c:pt>
                <c:pt idx="68">
                  <c:v>86</c:v>
                </c:pt>
                <c:pt idx="69">
                  <c:v>87</c:v>
                </c:pt>
                <c:pt idx="70">
                  <c:v>88</c:v>
                </c:pt>
                <c:pt idx="71">
                  <c:v>89</c:v>
                </c:pt>
                <c:pt idx="72">
                  <c:v>90</c:v>
                </c:pt>
                <c:pt idx="73">
                  <c:v>91</c:v>
                </c:pt>
                <c:pt idx="74">
                  <c:v>92</c:v>
                </c:pt>
                <c:pt idx="75">
                  <c:v>93</c:v>
                </c:pt>
                <c:pt idx="76">
                  <c:v>94</c:v>
                </c:pt>
                <c:pt idx="77">
                  <c:v>95</c:v>
                </c:pt>
                <c:pt idx="78">
                  <c:v>96</c:v>
                </c:pt>
                <c:pt idx="79">
                  <c:v>97</c:v>
                </c:pt>
                <c:pt idx="80">
                  <c:v>98</c:v>
                </c:pt>
                <c:pt idx="81">
                  <c:v>99</c:v>
                </c:pt>
                <c:pt idx="82">
                  <c:v>100</c:v>
                </c:pt>
                <c:pt idx="83">
                  <c:v>101</c:v>
                </c:pt>
                <c:pt idx="84">
                  <c:v>102</c:v>
                </c:pt>
                <c:pt idx="85">
                  <c:v>103</c:v>
                </c:pt>
                <c:pt idx="86">
                  <c:v>104</c:v>
                </c:pt>
                <c:pt idx="87">
                  <c:v>105</c:v>
                </c:pt>
                <c:pt idx="88">
                  <c:v>106</c:v>
                </c:pt>
                <c:pt idx="89">
                  <c:v>107</c:v>
                </c:pt>
                <c:pt idx="90">
                  <c:v>108</c:v>
                </c:pt>
                <c:pt idx="91">
                  <c:v>109</c:v>
                </c:pt>
                <c:pt idx="92">
                  <c:v>110</c:v>
                </c:pt>
                <c:pt idx="93">
                  <c:v>111</c:v>
                </c:pt>
                <c:pt idx="94">
                  <c:v>112</c:v>
                </c:pt>
                <c:pt idx="95">
                  <c:v>113</c:v>
                </c:pt>
                <c:pt idx="96">
                  <c:v>114</c:v>
                </c:pt>
                <c:pt idx="97">
                  <c:v>115</c:v>
                </c:pt>
                <c:pt idx="98">
                  <c:v>116</c:v>
                </c:pt>
                <c:pt idx="99">
                  <c:v>117</c:v>
                </c:pt>
                <c:pt idx="100">
                  <c:v>118</c:v>
                </c:pt>
                <c:pt idx="101">
                  <c:v>119</c:v>
                </c:pt>
                <c:pt idx="102">
                  <c:v>120</c:v>
                </c:pt>
                <c:pt idx="103">
                  <c:v>121</c:v>
                </c:pt>
                <c:pt idx="104">
                  <c:v>122</c:v>
                </c:pt>
                <c:pt idx="105">
                  <c:v>123</c:v>
                </c:pt>
                <c:pt idx="106">
                  <c:v>124</c:v>
                </c:pt>
                <c:pt idx="107">
                  <c:v>125</c:v>
                </c:pt>
                <c:pt idx="108">
                  <c:v>126</c:v>
                </c:pt>
                <c:pt idx="109">
                  <c:v>127</c:v>
                </c:pt>
                <c:pt idx="110">
                  <c:v>128</c:v>
                </c:pt>
                <c:pt idx="111">
                  <c:v>129</c:v>
                </c:pt>
                <c:pt idx="112">
                  <c:v>130</c:v>
                </c:pt>
                <c:pt idx="113">
                  <c:v>131</c:v>
                </c:pt>
                <c:pt idx="114">
                  <c:v>132</c:v>
                </c:pt>
                <c:pt idx="115">
                  <c:v>133</c:v>
                </c:pt>
                <c:pt idx="116">
                  <c:v>134</c:v>
                </c:pt>
                <c:pt idx="117">
                  <c:v>135</c:v>
                </c:pt>
                <c:pt idx="118">
                  <c:v>136</c:v>
                </c:pt>
                <c:pt idx="119">
                  <c:v>137</c:v>
                </c:pt>
                <c:pt idx="120">
                  <c:v>138</c:v>
                </c:pt>
                <c:pt idx="121">
                  <c:v>139</c:v>
                </c:pt>
                <c:pt idx="122">
                  <c:v>140</c:v>
                </c:pt>
                <c:pt idx="123">
                  <c:v>141</c:v>
                </c:pt>
                <c:pt idx="124">
                  <c:v>142</c:v>
                </c:pt>
                <c:pt idx="125">
                  <c:v>143</c:v>
                </c:pt>
                <c:pt idx="126">
                  <c:v>144</c:v>
                </c:pt>
                <c:pt idx="127">
                  <c:v>145</c:v>
                </c:pt>
                <c:pt idx="128">
                  <c:v>146</c:v>
                </c:pt>
                <c:pt idx="129">
                  <c:v>147</c:v>
                </c:pt>
                <c:pt idx="130">
                  <c:v>148</c:v>
                </c:pt>
                <c:pt idx="131">
                  <c:v>149</c:v>
                </c:pt>
                <c:pt idx="132">
                  <c:v>150</c:v>
                </c:pt>
                <c:pt idx="133">
                  <c:v>151</c:v>
                </c:pt>
                <c:pt idx="134">
                  <c:v>152</c:v>
                </c:pt>
                <c:pt idx="135">
                  <c:v>153</c:v>
                </c:pt>
                <c:pt idx="136">
                  <c:v>154</c:v>
                </c:pt>
                <c:pt idx="137">
                  <c:v>155</c:v>
                </c:pt>
                <c:pt idx="138">
                  <c:v>156</c:v>
                </c:pt>
                <c:pt idx="139">
                  <c:v>157</c:v>
                </c:pt>
                <c:pt idx="140">
                  <c:v>158</c:v>
                </c:pt>
                <c:pt idx="141">
                  <c:v>159</c:v>
                </c:pt>
                <c:pt idx="142">
                  <c:v>160</c:v>
                </c:pt>
                <c:pt idx="143">
                  <c:v>161</c:v>
                </c:pt>
                <c:pt idx="144">
                  <c:v>162</c:v>
                </c:pt>
                <c:pt idx="145">
                  <c:v>163</c:v>
                </c:pt>
                <c:pt idx="146">
                  <c:v>164</c:v>
                </c:pt>
                <c:pt idx="147">
                  <c:v>165</c:v>
                </c:pt>
                <c:pt idx="148">
                  <c:v>166</c:v>
                </c:pt>
                <c:pt idx="149">
                  <c:v>167</c:v>
                </c:pt>
                <c:pt idx="150">
                  <c:v>168</c:v>
                </c:pt>
                <c:pt idx="151">
                  <c:v>169</c:v>
                </c:pt>
                <c:pt idx="152">
                  <c:v>170</c:v>
                </c:pt>
                <c:pt idx="153">
                  <c:v>171</c:v>
                </c:pt>
                <c:pt idx="154">
                  <c:v>172</c:v>
                </c:pt>
                <c:pt idx="155">
                  <c:v>173</c:v>
                </c:pt>
                <c:pt idx="156">
                  <c:v>174</c:v>
                </c:pt>
                <c:pt idx="157">
                  <c:v>175</c:v>
                </c:pt>
                <c:pt idx="158">
                  <c:v>176</c:v>
                </c:pt>
                <c:pt idx="159">
                  <c:v>177</c:v>
                </c:pt>
                <c:pt idx="160">
                  <c:v>178</c:v>
                </c:pt>
                <c:pt idx="161">
                  <c:v>179</c:v>
                </c:pt>
                <c:pt idx="162">
                  <c:v>180</c:v>
                </c:pt>
                <c:pt idx="163">
                  <c:v>181</c:v>
                </c:pt>
                <c:pt idx="164">
                  <c:v>182</c:v>
                </c:pt>
                <c:pt idx="165">
                  <c:v>183</c:v>
                </c:pt>
                <c:pt idx="166">
                  <c:v>184</c:v>
                </c:pt>
                <c:pt idx="167">
                  <c:v>185</c:v>
                </c:pt>
                <c:pt idx="168">
                  <c:v>186</c:v>
                </c:pt>
                <c:pt idx="169">
                  <c:v>187</c:v>
                </c:pt>
                <c:pt idx="170">
                  <c:v>188</c:v>
                </c:pt>
                <c:pt idx="171">
                  <c:v>189</c:v>
                </c:pt>
                <c:pt idx="172">
                  <c:v>190</c:v>
                </c:pt>
                <c:pt idx="173">
                  <c:v>191</c:v>
                </c:pt>
                <c:pt idx="174">
                  <c:v>192</c:v>
                </c:pt>
                <c:pt idx="175">
                  <c:v>193</c:v>
                </c:pt>
                <c:pt idx="176">
                  <c:v>194</c:v>
                </c:pt>
                <c:pt idx="177">
                  <c:v>195</c:v>
                </c:pt>
                <c:pt idx="178">
                  <c:v>196</c:v>
                </c:pt>
                <c:pt idx="179">
                  <c:v>197</c:v>
                </c:pt>
                <c:pt idx="180">
                  <c:v>198</c:v>
                </c:pt>
                <c:pt idx="181">
                  <c:v>199</c:v>
                </c:pt>
                <c:pt idx="182">
                  <c:v>200</c:v>
                </c:pt>
              </c:numCache>
            </c:numRef>
          </c:xVal>
          <c:yVal>
            <c:numRef>
              <c:f>'S1-S0 lifetime'!$G$20:$G$286</c:f>
              <c:numCache>
                <c:formatCode>General</c:formatCode>
                <c:ptCount val="267"/>
                <c:pt idx="0">
                  <c:v>0.99981124657986031</c:v>
                </c:pt>
                <c:pt idx="1">
                  <c:v>0.995</c:v>
                </c:pt>
                <c:pt idx="2">
                  <c:v>0.9898107677833633</c:v>
                </c:pt>
                <c:pt idx="3">
                  <c:v>0.98424258436337575</c:v>
                </c:pt>
                <c:pt idx="4">
                  <c:v>0.97829542405962933</c:v>
                </c:pt>
                <c:pt idx="5">
                  <c:v>0.97197019613593882</c:v>
                </c:pt>
                <c:pt idx="6">
                  <c:v>0.96526873686204873</c:v>
                </c:pt>
                <c:pt idx="7">
                  <c:v>0.95819379861370957</c:v>
                </c:pt>
                <c:pt idx="8">
                  <c:v>0.95074903605948835</c:v>
                </c:pt>
                <c:pt idx="9">
                  <c:v>0.94293898949603883</c:v>
                </c:pt>
                <c:pt idx="10">
                  <c:v>0.9347690654065457</c:v>
                </c:pt>
                <c:pt idx="11">
                  <c:v>0.926245514329609</c:v>
                </c:pt>
                <c:pt idx="12">
                  <c:v>0.91737540613786872</c:v>
                </c:pt>
                <c:pt idx="13">
                  <c:v>0.90816660283712736</c:v>
                </c:pt>
                <c:pt idx="14">
                  <c:v>0.89862772900752252</c:v>
                </c:pt>
                <c:pt idx="15">
                  <c:v>0.88876814001840732</c:v>
                </c:pt>
                <c:pt idx="16">
                  <c:v>0.87859788815792039</c:v>
                </c:pt>
                <c:pt idx="17">
                  <c:v>0.86812768682675012</c:v>
                </c:pt>
                <c:pt idx="18">
                  <c:v>0.85736887295325537</c:v>
                </c:pt>
                <c:pt idx="19">
                  <c:v>0.84633336779387458</c:v>
                </c:pt>
                <c:pt idx="20">
                  <c:v>0.83503363628858962</c:v>
                </c:pt>
                <c:pt idx="21">
                  <c:v>0.8234826451460997</c:v>
                </c:pt>
                <c:pt idx="22">
                  <c:v>0.81169381983727296</c:v>
                </c:pt>
                <c:pt idx="23">
                  <c:v>0.79968100067837666</c:v>
                </c:pt>
                <c:pt idx="24">
                  <c:v>0.78745839818752694</c:v>
                </c:pt>
                <c:pt idx="25">
                  <c:v>0.77504054789875065</c:v>
                </c:pt>
                <c:pt idx="26">
                  <c:v>0.76244226481803012</c:v>
                </c:pt>
                <c:pt idx="27">
                  <c:v>0.74967859770469691</c:v>
                </c:pt>
                <c:pt idx="28">
                  <c:v>0.73676478335960627</c:v>
                </c:pt>
                <c:pt idx="29">
                  <c:v>0.72371620109865464</c:v>
                </c:pt>
                <c:pt idx="30">
                  <c:v>0.71054832758644848</c:v>
                </c:pt>
                <c:pt idx="31">
                  <c:v>0.69727669220032484</c:v>
                </c:pt>
                <c:pt idx="32">
                  <c:v>0.68391683308950124</c:v>
                </c:pt>
                <c:pt idx="33">
                  <c:v>0.67048425408794943</c:v>
                </c:pt>
                <c:pt idx="34">
                  <c:v>0.65699438263268317</c:v>
                </c:pt>
                <c:pt idx="35">
                  <c:v>0.64346252883158828</c:v>
                </c:pt>
                <c:pt idx="36">
                  <c:v>0.62990384581675873</c:v>
                </c:pt>
                <c:pt idx="37">
                  <c:v>0.61633329151059213</c:v>
                </c:pt>
                <c:pt idx="38">
                  <c:v>0.60276559192270962</c:v>
                </c:pt>
                <c:pt idx="39">
                  <c:v>0.58921520608615663</c:v>
                </c:pt>
                <c:pt idx="40">
                  <c:v>0.57569629273138767</c:v>
                </c:pt>
                <c:pt idx="41">
                  <c:v>0.56222267878629939</c:v>
                </c:pt>
                <c:pt idx="42">
                  <c:v>0.54880782978011133</c:v>
                </c:pt>
                <c:pt idx="43">
                  <c:v>0.53546482221829628</c:v>
                </c:pt>
                <c:pt idx="44">
                  <c:v>0.5222063179850629</c:v>
                </c:pt>
                <c:pt idx="45">
                  <c:v>0.50904454081918427</c:v>
                </c:pt>
                <c:pt idx="46">
                  <c:v>0.49599125489829576</c:v>
                </c:pt>
                <c:pt idx="47">
                  <c:v>0.48305774555622993</c:v>
                </c:pt>
                <c:pt idx="48">
                  <c:v>0.47025480214754545</c:v>
                </c:pt>
                <c:pt idx="49">
                  <c:v>0.45759270306324401</c:v>
                </c:pt>
                <c:pt idx="50">
                  <c:v>0.44508120289175257</c:v>
                </c:pt>
                <c:pt idx="51">
                  <c:v>0.43272952170967566</c:v>
                </c:pt>
                <c:pt idx="52">
                  <c:v>0.42054633647761108</c:v>
                </c:pt>
                <c:pt idx="53">
                  <c:v>0.40853977450752499</c:v>
                </c:pt>
                <c:pt idx="54">
                  <c:v>0.39671740895983687</c:v>
                </c:pt>
                <c:pt idx="55">
                  <c:v>0.38508625632050625</c:v>
                </c:pt>
                <c:pt idx="56">
                  <c:v>0.37365277580106976</c:v>
                </c:pt>
                <c:pt idx="57">
                  <c:v>0.36242287059777439</c:v>
                </c:pt>
                <c:pt idx="58">
                  <c:v>0.35140189093971641</c:v>
                </c:pt>
                <c:pt idx="59">
                  <c:v>0.34059463885023666</c:v>
                </c:pt>
                <c:pt idx="60">
                  <c:v>0.33000537454075662</c:v>
                </c:pt>
                <c:pt idx="61">
                  <c:v>0.31963782435178134</c:v>
                </c:pt>
                <c:pt idx="62">
                  <c:v>0.3094951901519315</c:v>
                </c:pt>
                <c:pt idx="63">
                  <c:v>0.29958016010262078</c:v>
                </c:pt>
                <c:pt idx="64">
                  <c:v>0.28989492069334</c:v>
                </c:pt>
                <c:pt idx="65">
                  <c:v>0.28044116995045976</c:v>
                </c:pt>
                <c:pt idx="66">
                  <c:v>0.27122013172098397</c:v>
                </c:pt>
                <c:pt idx="67">
                  <c:v>0.26223257093179303</c:v>
                </c:pt>
                <c:pt idx="68">
                  <c:v>0.25347880972455178</c:v>
                </c:pt>
                <c:pt idx="69">
                  <c:v>0.24495874436664894</c:v>
                </c:pt>
                <c:pt idx="70">
                  <c:v>0.23667186283920932</c:v>
                </c:pt>
                <c:pt idx="71">
                  <c:v>0.22861726300439911</c:v>
                </c:pt>
                <c:pt idx="72">
                  <c:v>0.22079367125586186</c:v>
                </c:pt>
                <c:pt idx="73">
                  <c:v>0.21319946155817782</c:v>
                </c:pt>
                <c:pt idx="74">
                  <c:v>0.20583267478368034</c:v>
                </c:pt>
                <c:pt idx="75">
                  <c:v>0.19869103825777665</c:v>
                </c:pt>
                <c:pt idx="76">
                  <c:v>0.19177198542705542</c:v>
                </c:pt>
                <c:pt idx="77">
                  <c:v>0.18507267556790419</c:v>
                </c:pt>
                <c:pt idx="78">
                  <c:v>0.17859001345705827</c:v>
                </c:pt>
                <c:pt idx="79">
                  <c:v>0.17232066892943354</c:v>
                </c:pt>
                <c:pt idx="80">
                  <c:v>0.16626109625272198</c:v>
                </c:pt>
                <c:pt idx="81">
                  <c:v>0.16040755325251704</c:v>
                </c:pt>
                <c:pt idx="82">
                  <c:v>0.15475612012615531</c:v>
                </c:pt>
                <c:pt idx="83">
                  <c:v>0.14930271788797578</c:v>
                </c:pt>
                <c:pt idx="84">
                  <c:v>0.14404312639328232</c:v>
                </c:pt>
                <c:pt idx="85">
                  <c:v>0.13897300189291212</c:v>
                </c:pt>
                <c:pt idx="86">
                  <c:v>0.13408789407494359</c:v>
                </c:pt>
                <c:pt idx="87">
                  <c:v>0.12938326255468147</c:v>
                </c:pt>
                <c:pt idx="88">
                  <c:v>0.1248544927786249</c:v>
                </c:pt>
                <c:pt idx="89">
                  <c:v>0.12049691131261395</c:v>
                </c:pt>
                <c:pt idx="90">
                  <c:v>0.11630580048875874</c:v>
                </c:pt>
                <c:pt idx="91">
                  <c:v>0.11227641239004285</c:v>
                </c:pt>
                <c:pt idx="92">
                  <c:v>0.10840398215565829</c:v>
                </c:pt>
                <c:pt idx="93">
                  <c:v>0.10468374059414098</c:v>
                </c:pt>
                <c:pt idx="94">
                  <c:v>0.10111092609523156</c:v>
                </c:pt>
                <c:pt idx="95">
                  <c:v>9.7680795835062589E-2</c:v>
                </c:pt>
                <c:pt idx="96">
                  <c:v>9.4388636272766224E-2</c:v>
                </c:pt>
                <c:pt idx="97">
                  <c:v>9.1229772939893913E-2</c:v>
                </c:pt>
                <c:pt idx="98">
                  <c:v>8.8199579527132851E-2</c:v>
                </c:pt>
                <c:pt idx="99">
                  <c:v>8.5293486275690611E-2</c:v>
                </c:pt>
                <c:pt idx="100">
                  <c:v>8.2506987683392069E-2</c:v>
                </c:pt>
                <c:pt idx="101">
                  <c:v>7.9835649537991368E-2</c:v>
                </c:pt>
                <c:pt idx="102">
                  <c:v>7.727511529244295E-2</c:v>
                </c:pt>
                <c:pt idx="103">
                  <c:v>7.4821111798903675E-2</c:v>
                </c:pt>
                <c:pt idx="104">
                  <c:v>7.2469454420049609E-2</c:v>
                </c:pt>
                <c:pt idx="105">
                  <c:v>7.0216051537895313E-2</c:v>
                </c:pt>
                <c:pt idx="106">
                  <c:v>6.8056908481697903E-2</c:v>
                </c:pt>
                <c:pt idx="107">
                  <c:v>6.5988130897725289E-2</c:v>
                </c:pt>
                <c:pt idx="108">
                  <c:v>6.4005927584666764E-2</c:v>
                </c:pt>
                <c:pt idx="109">
                  <c:v>6.2106612819278477E-2</c:v>
                </c:pt>
                <c:pt idx="110">
                  <c:v>6.0286608197488004E-2</c:v>
                </c:pt>
                <c:pt idx="111">
                  <c:v>5.8542444016644907E-2</c:v>
                </c:pt>
                <c:pt idx="112">
                  <c:v>5.6870760224901826E-2</c:v>
                </c:pt>
                <c:pt idx="113">
                  <c:v>5.526830696385783E-2</c:v>
                </c:pt>
                <c:pt idx="114">
                  <c:v>5.3731944730596892E-2</c:v>
                </c:pt>
                <c:pt idx="115">
                  <c:v>5.2258644185124617E-2</c:v>
                </c:pt>
                <c:pt idx="116">
                  <c:v>5.0845485628950415E-2</c:v>
                </c:pt>
                <c:pt idx="117">
                  <c:v>4.9489658180196308E-2</c:v>
                </c:pt>
                <c:pt idx="118">
                  <c:v>4.8188458670141841E-2</c:v>
                </c:pt>
                <c:pt idx="119">
                  <c:v>4.6939290285551605E-2</c:v>
                </c:pt>
                <c:pt idx="120">
                  <c:v>4.5739660980485347E-2</c:v>
                </c:pt>
                <c:pt idx="121">
                  <c:v>4.4587181680571512E-2</c:v>
                </c:pt>
                <c:pt idx="122">
                  <c:v>4.3479564301941206E-2</c:v>
                </c:pt>
                <c:pt idx="123">
                  <c:v>4.2414619606182827E-2</c:v>
                </c:pt>
                <c:pt idx="124">
                  <c:v>4.1390254911793746E-2</c:v>
                </c:pt>
                <c:pt idx="125">
                  <c:v>4.0404471681686059E-2</c:v>
                </c:pt>
                <c:pt idx="126">
                  <c:v>3.9455363005353496E-2</c:v>
                </c:pt>
                <c:pt idx="127">
                  <c:v>3.8541110993336861E-2</c:v>
                </c:pt>
                <c:pt idx="128">
                  <c:v>3.7659984100640469E-2</c:v>
                </c:pt>
                <c:pt idx="129">
                  <c:v>3.6810334394759982E-2</c:v>
                </c:pt>
                <c:pt idx="130">
                  <c:v>3.5990594782989486E-2</c:v>
                </c:pt>
                <c:pt idx="131">
                  <c:v>3.5199276212686467E-2</c:v>
                </c:pt>
                <c:pt idx="132">
                  <c:v>3.4434964857195285E-2</c:v>
                </c:pt>
                <c:pt idx="133">
                  <c:v>3.3696319299165521E-2</c:v>
                </c:pt>
                <c:pt idx="134">
                  <c:v>3.298206772205662E-2</c:v>
                </c:pt>
                <c:pt idx="135">
                  <c:v>3.2291005119698291E-2</c:v>
                </c:pt>
                <c:pt idx="136">
                  <c:v>3.162199053287966E-2</c:v>
                </c:pt>
                <c:pt idx="137">
                  <c:v>3.0973944321073792E-2</c:v>
                </c:pt>
                <c:pt idx="138">
                  <c:v>3.0345845476568722E-2</c:v>
                </c:pt>
                <c:pt idx="139">
                  <c:v>2.9736728987474439E-2</c:v>
                </c:pt>
                <c:pt idx="140">
                  <c:v>2.9145683255309349E-2</c:v>
                </c:pt>
                <c:pt idx="141">
                  <c:v>2.8571847572140197E-2</c:v>
                </c:pt>
                <c:pt idx="142">
                  <c:v>2.8014409661557937E-2</c:v>
                </c:pt>
                <c:pt idx="143">
                  <c:v>2.7472603287118473E-2</c:v>
                </c:pt>
                <c:pt idx="144">
                  <c:v>2.694570593126314E-2</c:v>
                </c:pt>
                <c:pt idx="145">
                  <c:v>2.6433036547157784E-2</c:v>
                </c:pt>
                <c:pt idx="146">
                  <c:v>2.5933953385352492E-2</c:v>
                </c:pt>
                <c:pt idx="147">
                  <c:v>2.5447851896665548E-2</c:v>
                </c:pt>
                <c:pt idx="148">
                  <c:v>2.4974162712233978E-2</c:v>
                </c:pt>
                <c:pt idx="149">
                  <c:v>2.4512349701249138E-2</c:v>
                </c:pt>
                <c:pt idx="150">
                  <c:v>2.4061908106507844E-2</c:v>
                </c:pt>
                <c:pt idx="151">
                  <c:v>2.3622362757556158E-2</c:v>
                </c:pt>
                <c:pt idx="152">
                  <c:v>2.3193266360883577E-2</c:v>
                </c:pt>
                <c:pt idx="153">
                  <c:v>2.2774197866338244E-2</c:v>
                </c:pt>
                <c:pt idx="154">
                  <c:v>2.2364760908677485E-2</c:v>
                </c:pt>
                <c:pt idx="155">
                  <c:v>2.1964582322941691E-2</c:v>
                </c:pt>
                <c:pt idx="156">
                  <c:v>2.1573310732140381E-2</c:v>
                </c:pt>
                <c:pt idx="157">
                  <c:v>2.1190615205567868E-2</c:v>
                </c:pt>
                <c:pt idx="158">
                  <c:v>2.0816183985918158E-2</c:v>
                </c:pt>
                <c:pt idx="159">
                  <c:v>2.0449723283245198E-2</c:v>
                </c:pt>
                <c:pt idx="160">
                  <c:v>2.0090956133712479E-2</c:v>
                </c:pt>
                <c:pt idx="161">
                  <c:v>1.973962132099422E-2</c:v>
                </c:pt>
                <c:pt idx="162">
                  <c:v>1.9395472358127348E-2</c:v>
                </c:pt>
                <c:pt idx="163">
                  <c:v>1.9058276527567697E-2</c:v>
                </c:pt>
                <c:pt idx="164">
                  <c:v>1.8727813977173796E-2</c:v>
                </c:pt>
                <c:pt idx="165">
                  <c:v>1.8403876869826242E-2</c:v>
                </c:pt>
                <c:pt idx="166">
                  <c:v>1.8086268584387617E-2</c:v>
                </c:pt>
                <c:pt idx="167">
                  <c:v>1.7774802965717731E-2</c:v>
                </c:pt>
                <c:pt idx="168">
                  <c:v>1.7469303621477968E-2</c:v>
                </c:pt>
                <c:pt idx="169">
                  <c:v>1.716960326348798E-2</c:v>
                </c:pt>
                <c:pt idx="170">
                  <c:v>1.6875543091434866E-2</c:v>
                </c:pt>
                <c:pt idx="171">
                  <c:v>1.6586972216779305E-2</c:v>
                </c:pt>
                <c:pt idx="172">
                  <c:v>1.6303747124753701E-2</c:v>
                </c:pt>
                <c:pt idx="173">
                  <c:v>1.6025731172402809E-2</c:v>
                </c:pt>
                <c:pt idx="174">
                  <c:v>1.5752794120677604E-2</c:v>
                </c:pt>
                <c:pt idx="175">
                  <c:v>1.5484811698656502E-2</c:v>
                </c:pt>
                <c:pt idx="176">
                  <c:v>1.5221665198034586E-2</c:v>
                </c:pt>
                <c:pt idx="177">
                  <c:v>1.4963241096090036E-2</c:v>
                </c:pt>
                <c:pt idx="178">
                  <c:v>1.4709430705407004E-2</c:v>
                </c:pt>
                <c:pt idx="179">
                  <c:v>1.446012984870529E-2</c:v>
                </c:pt>
                <c:pt idx="180">
                  <c:v>1.4215238557198674E-2</c:v>
                </c:pt>
                <c:pt idx="181">
                  <c:v>1.3974660790975398E-2</c:v>
                </c:pt>
                <c:pt idx="182">
                  <c:v>1.3738304179965365E-2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8DC-574A-84A7-EBFA979FC4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1696928"/>
        <c:axId val="861698640"/>
      </c:scatterChart>
      <c:valAx>
        <c:axId val="861696928"/>
        <c:scaling>
          <c:orientation val="minMax"/>
          <c:max val="20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(fs)</a:t>
                </a:r>
              </a:p>
            </c:rich>
          </c:tx>
          <c:layout>
            <c:manualLayout>
              <c:xMode val="edge"/>
              <c:yMode val="edge"/>
              <c:x val="0.48706391076115479"/>
              <c:y val="0.93470822397200348"/>
            </c:manualLayout>
          </c:layout>
          <c:overlay val="0"/>
        </c:title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698640"/>
        <c:crosses val="autoZero"/>
        <c:crossBetween val="midCat"/>
      </c:valAx>
      <c:valAx>
        <c:axId val="86169864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1600" baseline="-250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600" baseline="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p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opulation</a:t>
                </a:r>
              </a:p>
            </c:rich>
          </c:tx>
          <c:layout>
            <c:manualLayout>
              <c:xMode val="edge"/>
              <c:yMode val="edge"/>
              <c:x val="6.6666666666666671E-3"/>
              <c:y val="0.32298818897637793"/>
            </c:manualLayout>
          </c:layout>
          <c:overlay val="0"/>
        </c:title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696928"/>
        <c:crosses val="autoZero"/>
        <c:crossBetween val="midCat"/>
      </c:valAx>
      <c:spPr>
        <a:ln w="12700">
          <a:solidFill>
            <a:sysClr val="windowText" lastClr="000000"/>
          </a:solidFill>
        </a:ln>
      </c:spPr>
    </c:plotArea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'S1-S0 lifetime'!$F$1</c:f>
              <c:strCache>
                <c:ptCount val="1"/>
                <c:pt idx="0">
                  <c:v>Pop fraction</c:v>
                </c:pt>
              </c:strCache>
            </c:strRef>
          </c:tx>
          <c:spPr>
            <a:ln>
              <a:solidFill>
                <a:srgbClr val="0432FF"/>
              </a:solidFill>
            </a:ln>
          </c:spPr>
          <c:marker>
            <c:symbol val="none"/>
          </c:marker>
          <c:xVal>
            <c:numRef>
              <c:f>'S1-S0 lifetime'!$C$2:$C$286</c:f>
              <c:numCache>
                <c:formatCode>General</c:formatCode>
                <c:ptCount val="28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</c:numCache>
            </c:numRef>
          </c:xVal>
          <c:yVal>
            <c:numRef>
              <c:f>'S1-S0 lifetime'!$F$2:$F$286</c:f>
              <c:numCache>
                <c:formatCode>General</c:formatCode>
                <c:ptCount val="28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0.995</c:v>
                </c:pt>
                <c:pt idx="19">
                  <c:v>0.99</c:v>
                </c:pt>
                <c:pt idx="20">
                  <c:v>0.97499999999999998</c:v>
                </c:pt>
                <c:pt idx="21">
                  <c:v>0.95</c:v>
                </c:pt>
                <c:pt idx="22">
                  <c:v>0.93</c:v>
                </c:pt>
                <c:pt idx="23">
                  <c:v>0.92500000000000004</c:v>
                </c:pt>
                <c:pt idx="24">
                  <c:v>0.91500000000000004</c:v>
                </c:pt>
                <c:pt idx="25">
                  <c:v>0.89</c:v>
                </c:pt>
                <c:pt idx="26">
                  <c:v>0.86499999999999999</c:v>
                </c:pt>
                <c:pt idx="27">
                  <c:v>0.84</c:v>
                </c:pt>
                <c:pt idx="28">
                  <c:v>0.81</c:v>
                </c:pt>
                <c:pt idx="29">
                  <c:v>0.8</c:v>
                </c:pt>
                <c:pt idx="30">
                  <c:v>0.78500000000000003</c:v>
                </c:pt>
                <c:pt idx="31">
                  <c:v>0.78</c:v>
                </c:pt>
                <c:pt idx="32">
                  <c:v>0.77</c:v>
                </c:pt>
                <c:pt idx="33">
                  <c:v>0.77</c:v>
                </c:pt>
                <c:pt idx="34">
                  <c:v>0.76500000000000001</c:v>
                </c:pt>
                <c:pt idx="35">
                  <c:v>0.76</c:v>
                </c:pt>
                <c:pt idx="36">
                  <c:v>0.755</c:v>
                </c:pt>
                <c:pt idx="37">
                  <c:v>0.74</c:v>
                </c:pt>
                <c:pt idx="38">
                  <c:v>0.73499999999999999</c:v>
                </c:pt>
                <c:pt idx="39">
                  <c:v>0.73499999999999999</c:v>
                </c:pt>
                <c:pt idx="40">
                  <c:v>0.72499999999999998</c:v>
                </c:pt>
                <c:pt idx="41">
                  <c:v>0.72499999999999998</c:v>
                </c:pt>
                <c:pt idx="42">
                  <c:v>0.72499999999999998</c:v>
                </c:pt>
                <c:pt idx="43">
                  <c:v>0.72</c:v>
                </c:pt>
                <c:pt idx="44">
                  <c:v>0.71</c:v>
                </c:pt>
                <c:pt idx="45">
                  <c:v>0.71</c:v>
                </c:pt>
                <c:pt idx="46">
                  <c:v>0.70499999999999996</c:v>
                </c:pt>
                <c:pt idx="47">
                  <c:v>0.70499999999999996</c:v>
                </c:pt>
                <c:pt idx="48">
                  <c:v>0.67</c:v>
                </c:pt>
                <c:pt idx="49">
                  <c:v>0.66500000000000004</c:v>
                </c:pt>
                <c:pt idx="50">
                  <c:v>0.66500000000000004</c:v>
                </c:pt>
                <c:pt idx="51">
                  <c:v>0.66</c:v>
                </c:pt>
                <c:pt idx="52">
                  <c:v>0.66</c:v>
                </c:pt>
                <c:pt idx="53">
                  <c:v>0.64500000000000002</c:v>
                </c:pt>
                <c:pt idx="54">
                  <c:v>0.64</c:v>
                </c:pt>
                <c:pt idx="55">
                  <c:v>0.64</c:v>
                </c:pt>
                <c:pt idx="56">
                  <c:v>0.63</c:v>
                </c:pt>
                <c:pt idx="57">
                  <c:v>0.61</c:v>
                </c:pt>
                <c:pt idx="58">
                  <c:v>0.6</c:v>
                </c:pt>
                <c:pt idx="59">
                  <c:v>0.6</c:v>
                </c:pt>
                <c:pt idx="60">
                  <c:v>0.59</c:v>
                </c:pt>
                <c:pt idx="61">
                  <c:v>0.58499999999999996</c:v>
                </c:pt>
                <c:pt idx="62">
                  <c:v>0.57999999999999996</c:v>
                </c:pt>
                <c:pt idx="63">
                  <c:v>0.55500000000000005</c:v>
                </c:pt>
                <c:pt idx="64">
                  <c:v>0.55000000000000004</c:v>
                </c:pt>
                <c:pt idx="65">
                  <c:v>0.54500000000000004</c:v>
                </c:pt>
                <c:pt idx="66">
                  <c:v>0.51500000000000001</c:v>
                </c:pt>
                <c:pt idx="67">
                  <c:v>0.5</c:v>
                </c:pt>
                <c:pt idx="68">
                  <c:v>0.495</c:v>
                </c:pt>
                <c:pt idx="69">
                  <c:v>0.48499999999999999</c:v>
                </c:pt>
                <c:pt idx="70">
                  <c:v>0.46</c:v>
                </c:pt>
                <c:pt idx="71">
                  <c:v>0.44500000000000001</c:v>
                </c:pt>
                <c:pt idx="72">
                  <c:v>0.42</c:v>
                </c:pt>
                <c:pt idx="73">
                  <c:v>0.40500000000000003</c:v>
                </c:pt>
                <c:pt idx="74">
                  <c:v>0.38</c:v>
                </c:pt>
                <c:pt idx="75">
                  <c:v>0.36</c:v>
                </c:pt>
                <c:pt idx="76">
                  <c:v>0.35499999999999998</c:v>
                </c:pt>
                <c:pt idx="77">
                  <c:v>0.35</c:v>
                </c:pt>
                <c:pt idx="78">
                  <c:v>0.34499999999999997</c:v>
                </c:pt>
                <c:pt idx="79">
                  <c:v>0.34499999999999997</c:v>
                </c:pt>
                <c:pt idx="80">
                  <c:v>0.33</c:v>
                </c:pt>
                <c:pt idx="81">
                  <c:v>0.32500000000000001</c:v>
                </c:pt>
                <c:pt idx="82">
                  <c:v>0.315</c:v>
                </c:pt>
                <c:pt idx="83">
                  <c:v>0.30499999999999999</c:v>
                </c:pt>
                <c:pt idx="84">
                  <c:v>0.30499999999999999</c:v>
                </c:pt>
                <c:pt idx="85">
                  <c:v>0.3</c:v>
                </c:pt>
                <c:pt idx="86">
                  <c:v>0.3</c:v>
                </c:pt>
                <c:pt idx="87">
                  <c:v>0.3</c:v>
                </c:pt>
                <c:pt idx="88">
                  <c:v>0.3</c:v>
                </c:pt>
                <c:pt idx="89">
                  <c:v>0.3</c:v>
                </c:pt>
                <c:pt idx="90">
                  <c:v>0.28499999999999998</c:v>
                </c:pt>
                <c:pt idx="91">
                  <c:v>0.26500000000000001</c:v>
                </c:pt>
                <c:pt idx="92">
                  <c:v>0.26500000000000001</c:v>
                </c:pt>
                <c:pt idx="93">
                  <c:v>0.25</c:v>
                </c:pt>
                <c:pt idx="94">
                  <c:v>0.245</c:v>
                </c:pt>
                <c:pt idx="95">
                  <c:v>0.245</c:v>
                </c:pt>
                <c:pt idx="96">
                  <c:v>0.24</c:v>
                </c:pt>
                <c:pt idx="97">
                  <c:v>0.24</c:v>
                </c:pt>
                <c:pt idx="98">
                  <c:v>0.23</c:v>
                </c:pt>
                <c:pt idx="99">
                  <c:v>0.23</c:v>
                </c:pt>
                <c:pt idx="100">
                  <c:v>0.22</c:v>
                </c:pt>
                <c:pt idx="101">
                  <c:v>0.22</c:v>
                </c:pt>
                <c:pt idx="102">
                  <c:v>0.215</c:v>
                </c:pt>
                <c:pt idx="103">
                  <c:v>0.21</c:v>
                </c:pt>
                <c:pt idx="104">
                  <c:v>0.21</c:v>
                </c:pt>
                <c:pt idx="105">
                  <c:v>0.21</c:v>
                </c:pt>
                <c:pt idx="106">
                  <c:v>0.20499999999999999</c:v>
                </c:pt>
                <c:pt idx="107">
                  <c:v>0.2</c:v>
                </c:pt>
                <c:pt idx="108">
                  <c:v>0.19500000000000001</c:v>
                </c:pt>
                <c:pt idx="109">
                  <c:v>0.19500000000000001</c:v>
                </c:pt>
                <c:pt idx="110">
                  <c:v>0.19500000000000001</c:v>
                </c:pt>
                <c:pt idx="111">
                  <c:v>0.17499999999999999</c:v>
                </c:pt>
                <c:pt idx="112">
                  <c:v>0.17</c:v>
                </c:pt>
                <c:pt idx="113">
                  <c:v>0.16500000000000001</c:v>
                </c:pt>
                <c:pt idx="114">
                  <c:v>0.16500000000000001</c:v>
                </c:pt>
                <c:pt idx="115">
                  <c:v>0.16500000000000001</c:v>
                </c:pt>
                <c:pt idx="116">
                  <c:v>0.16</c:v>
                </c:pt>
                <c:pt idx="117">
                  <c:v>0.155</c:v>
                </c:pt>
                <c:pt idx="118">
                  <c:v>0.14000000000000001</c:v>
                </c:pt>
                <c:pt idx="119">
                  <c:v>0.14000000000000001</c:v>
                </c:pt>
                <c:pt idx="120">
                  <c:v>0.14000000000000001</c:v>
                </c:pt>
                <c:pt idx="121">
                  <c:v>0.13</c:v>
                </c:pt>
                <c:pt idx="122">
                  <c:v>0.125</c:v>
                </c:pt>
                <c:pt idx="123">
                  <c:v>0.12</c:v>
                </c:pt>
                <c:pt idx="124">
                  <c:v>0.12</c:v>
                </c:pt>
                <c:pt idx="125">
                  <c:v>0.12</c:v>
                </c:pt>
                <c:pt idx="126">
                  <c:v>0.115</c:v>
                </c:pt>
                <c:pt idx="127">
                  <c:v>0.115</c:v>
                </c:pt>
                <c:pt idx="128">
                  <c:v>0.11</c:v>
                </c:pt>
                <c:pt idx="129">
                  <c:v>0.11</c:v>
                </c:pt>
                <c:pt idx="130">
                  <c:v>0.11</c:v>
                </c:pt>
                <c:pt idx="131">
                  <c:v>0.11</c:v>
                </c:pt>
                <c:pt idx="132">
                  <c:v>0.11</c:v>
                </c:pt>
                <c:pt idx="133">
                  <c:v>0.11</c:v>
                </c:pt>
                <c:pt idx="134">
                  <c:v>0.11</c:v>
                </c:pt>
                <c:pt idx="135">
                  <c:v>0.11</c:v>
                </c:pt>
                <c:pt idx="136">
                  <c:v>9.5000000000000001E-2</c:v>
                </c:pt>
                <c:pt idx="137">
                  <c:v>9.5000000000000001E-2</c:v>
                </c:pt>
                <c:pt idx="138">
                  <c:v>0.09</c:v>
                </c:pt>
                <c:pt idx="139">
                  <c:v>0.09</c:v>
                </c:pt>
                <c:pt idx="140">
                  <c:v>0.09</c:v>
                </c:pt>
                <c:pt idx="141">
                  <c:v>8.5000000000000006E-2</c:v>
                </c:pt>
                <c:pt idx="142">
                  <c:v>0.08</c:v>
                </c:pt>
                <c:pt idx="143">
                  <c:v>0.08</c:v>
                </c:pt>
                <c:pt idx="144">
                  <c:v>7.0000000000000007E-2</c:v>
                </c:pt>
                <c:pt idx="145">
                  <c:v>7.0000000000000007E-2</c:v>
                </c:pt>
                <c:pt idx="146">
                  <c:v>7.0000000000000007E-2</c:v>
                </c:pt>
                <c:pt idx="147">
                  <c:v>6.5000000000000002E-2</c:v>
                </c:pt>
                <c:pt idx="148">
                  <c:v>6.5000000000000002E-2</c:v>
                </c:pt>
                <c:pt idx="149">
                  <c:v>0.06</c:v>
                </c:pt>
                <c:pt idx="150">
                  <c:v>5.5E-2</c:v>
                </c:pt>
                <c:pt idx="151">
                  <c:v>5.5E-2</c:v>
                </c:pt>
                <c:pt idx="152">
                  <c:v>0.05</c:v>
                </c:pt>
                <c:pt idx="153">
                  <c:v>0.05</c:v>
                </c:pt>
                <c:pt idx="154">
                  <c:v>0.05</c:v>
                </c:pt>
                <c:pt idx="155">
                  <c:v>0.05</c:v>
                </c:pt>
                <c:pt idx="156">
                  <c:v>0.05</c:v>
                </c:pt>
                <c:pt idx="157">
                  <c:v>0.05</c:v>
                </c:pt>
                <c:pt idx="158">
                  <c:v>0.05</c:v>
                </c:pt>
                <c:pt idx="159">
                  <c:v>4.4999999999999998E-2</c:v>
                </c:pt>
                <c:pt idx="160">
                  <c:v>4.4999999999999998E-2</c:v>
                </c:pt>
                <c:pt idx="161">
                  <c:v>3.5000000000000003E-2</c:v>
                </c:pt>
                <c:pt idx="162">
                  <c:v>0.03</c:v>
                </c:pt>
                <c:pt idx="163">
                  <c:v>2.5000000000000001E-2</c:v>
                </c:pt>
                <c:pt idx="164">
                  <c:v>2.5000000000000001E-2</c:v>
                </c:pt>
                <c:pt idx="165">
                  <c:v>2.5000000000000001E-2</c:v>
                </c:pt>
                <c:pt idx="166">
                  <c:v>2.5000000000000001E-2</c:v>
                </c:pt>
                <c:pt idx="167">
                  <c:v>2.5000000000000001E-2</c:v>
                </c:pt>
                <c:pt idx="168">
                  <c:v>2.5000000000000001E-2</c:v>
                </c:pt>
                <c:pt idx="169">
                  <c:v>2.5000000000000001E-2</c:v>
                </c:pt>
                <c:pt idx="170">
                  <c:v>2.5000000000000001E-2</c:v>
                </c:pt>
                <c:pt idx="171">
                  <c:v>2.5000000000000001E-2</c:v>
                </c:pt>
                <c:pt idx="172">
                  <c:v>2.5000000000000001E-2</c:v>
                </c:pt>
                <c:pt idx="173">
                  <c:v>2.5000000000000001E-2</c:v>
                </c:pt>
                <c:pt idx="174">
                  <c:v>0.02</c:v>
                </c:pt>
                <c:pt idx="175">
                  <c:v>0.02</c:v>
                </c:pt>
                <c:pt idx="176">
                  <c:v>0.02</c:v>
                </c:pt>
                <c:pt idx="177">
                  <c:v>0.02</c:v>
                </c:pt>
                <c:pt idx="178">
                  <c:v>0.02</c:v>
                </c:pt>
                <c:pt idx="179">
                  <c:v>0.02</c:v>
                </c:pt>
                <c:pt idx="180">
                  <c:v>0.02</c:v>
                </c:pt>
                <c:pt idx="181">
                  <c:v>1.4999999999999999E-2</c:v>
                </c:pt>
                <c:pt idx="182">
                  <c:v>1.4999999999999999E-2</c:v>
                </c:pt>
                <c:pt idx="183">
                  <c:v>1.4999999999999999E-2</c:v>
                </c:pt>
                <c:pt idx="184">
                  <c:v>1.4999999999999999E-2</c:v>
                </c:pt>
                <c:pt idx="185">
                  <c:v>1.4999999999999999E-2</c:v>
                </c:pt>
                <c:pt idx="186">
                  <c:v>1.4999999999999999E-2</c:v>
                </c:pt>
                <c:pt idx="187">
                  <c:v>1.4999999999999999E-2</c:v>
                </c:pt>
                <c:pt idx="188">
                  <c:v>1.4999999999999999E-2</c:v>
                </c:pt>
                <c:pt idx="189">
                  <c:v>1.4999999999999999E-2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0.01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8DC-574A-84A7-EBFA979FC439}"/>
            </c:ext>
          </c:extLst>
        </c:ser>
        <c:ser>
          <c:idx val="0"/>
          <c:order val="1"/>
          <c:spPr>
            <a:ln w="19050" cap="rnd">
              <a:solidFill>
                <a:srgbClr val="FF2600"/>
              </a:solidFill>
              <a:round/>
            </a:ln>
            <a:effectLst/>
          </c:spPr>
          <c:marker>
            <c:symbol val="none"/>
          </c:marker>
          <c:xVal>
            <c:numRef>
              <c:f>'S1-S0 lifetime'!$C$20:$C$202</c:f>
              <c:numCache>
                <c:formatCode>General</c:formatCode>
                <c:ptCount val="183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71</c:v>
                </c:pt>
                <c:pt idx="54">
                  <c:v>72</c:v>
                </c:pt>
                <c:pt idx="55">
                  <c:v>73</c:v>
                </c:pt>
                <c:pt idx="56">
                  <c:v>74</c:v>
                </c:pt>
                <c:pt idx="57">
                  <c:v>75</c:v>
                </c:pt>
                <c:pt idx="58">
                  <c:v>76</c:v>
                </c:pt>
                <c:pt idx="59">
                  <c:v>77</c:v>
                </c:pt>
                <c:pt idx="60">
                  <c:v>78</c:v>
                </c:pt>
                <c:pt idx="61">
                  <c:v>79</c:v>
                </c:pt>
                <c:pt idx="62">
                  <c:v>80</c:v>
                </c:pt>
                <c:pt idx="63">
                  <c:v>81</c:v>
                </c:pt>
                <c:pt idx="64">
                  <c:v>82</c:v>
                </c:pt>
                <c:pt idx="65">
                  <c:v>83</c:v>
                </c:pt>
                <c:pt idx="66">
                  <c:v>84</c:v>
                </c:pt>
                <c:pt idx="67">
                  <c:v>85</c:v>
                </c:pt>
                <c:pt idx="68">
                  <c:v>86</c:v>
                </c:pt>
                <c:pt idx="69">
                  <c:v>87</c:v>
                </c:pt>
                <c:pt idx="70">
                  <c:v>88</c:v>
                </c:pt>
                <c:pt idx="71">
                  <c:v>89</c:v>
                </c:pt>
                <c:pt idx="72">
                  <c:v>90</c:v>
                </c:pt>
                <c:pt idx="73">
                  <c:v>91</c:v>
                </c:pt>
                <c:pt idx="74">
                  <c:v>92</c:v>
                </c:pt>
                <c:pt idx="75">
                  <c:v>93</c:v>
                </c:pt>
                <c:pt idx="76">
                  <c:v>94</c:v>
                </c:pt>
                <c:pt idx="77">
                  <c:v>95</c:v>
                </c:pt>
                <c:pt idx="78">
                  <c:v>96</c:v>
                </c:pt>
                <c:pt idx="79">
                  <c:v>97</c:v>
                </c:pt>
                <c:pt idx="80">
                  <c:v>98</c:v>
                </c:pt>
                <c:pt idx="81">
                  <c:v>99</c:v>
                </c:pt>
                <c:pt idx="82">
                  <c:v>100</c:v>
                </c:pt>
                <c:pt idx="83">
                  <c:v>101</c:v>
                </c:pt>
                <c:pt idx="84">
                  <c:v>102</c:v>
                </c:pt>
                <c:pt idx="85">
                  <c:v>103</c:v>
                </c:pt>
                <c:pt idx="86">
                  <c:v>104</c:v>
                </c:pt>
                <c:pt idx="87">
                  <c:v>105</c:v>
                </c:pt>
                <c:pt idx="88">
                  <c:v>106</c:v>
                </c:pt>
                <c:pt idx="89">
                  <c:v>107</c:v>
                </c:pt>
                <c:pt idx="90">
                  <c:v>108</c:v>
                </c:pt>
                <c:pt idx="91">
                  <c:v>109</c:v>
                </c:pt>
                <c:pt idx="92">
                  <c:v>110</c:v>
                </c:pt>
                <c:pt idx="93">
                  <c:v>111</c:v>
                </c:pt>
                <c:pt idx="94">
                  <c:v>112</c:v>
                </c:pt>
                <c:pt idx="95">
                  <c:v>113</c:v>
                </c:pt>
                <c:pt idx="96">
                  <c:v>114</c:v>
                </c:pt>
                <c:pt idx="97">
                  <c:v>115</c:v>
                </c:pt>
                <c:pt idx="98">
                  <c:v>116</c:v>
                </c:pt>
                <c:pt idx="99">
                  <c:v>117</c:v>
                </c:pt>
                <c:pt idx="100">
                  <c:v>118</c:v>
                </c:pt>
                <c:pt idx="101">
                  <c:v>119</c:v>
                </c:pt>
                <c:pt idx="102">
                  <c:v>120</c:v>
                </c:pt>
                <c:pt idx="103">
                  <c:v>121</c:v>
                </c:pt>
                <c:pt idx="104">
                  <c:v>122</c:v>
                </c:pt>
                <c:pt idx="105">
                  <c:v>123</c:v>
                </c:pt>
                <c:pt idx="106">
                  <c:v>124</c:v>
                </c:pt>
                <c:pt idx="107">
                  <c:v>125</c:v>
                </c:pt>
                <c:pt idx="108">
                  <c:v>126</c:v>
                </c:pt>
                <c:pt idx="109">
                  <c:v>127</c:v>
                </c:pt>
                <c:pt idx="110">
                  <c:v>128</c:v>
                </c:pt>
                <c:pt idx="111">
                  <c:v>129</c:v>
                </c:pt>
                <c:pt idx="112">
                  <c:v>130</c:v>
                </c:pt>
                <c:pt idx="113">
                  <c:v>131</c:v>
                </c:pt>
                <c:pt idx="114">
                  <c:v>132</c:v>
                </c:pt>
                <c:pt idx="115">
                  <c:v>133</c:v>
                </c:pt>
                <c:pt idx="116">
                  <c:v>134</c:v>
                </c:pt>
                <c:pt idx="117">
                  <c:v>135</c:v>
                </c:pt>
                <c:pt idx="118">
                  <c:v>136</c:v>
                </c:pt>
                <c:pt idx="119">
                  <c:v>137</c:v>
                </c:pt>
                <c:pt idx="120">
                  <c:v>138</c:v>
                </c:pt>
                <c:pt idx="121">
                  <c:v>139</c:v>
                </c:pt>
                <c:pt idx="122">
                  <c:v>140</c:v>
                </c:pt>
                <c:pt idx="123">
                  <c:v>141</c:v>
                </c:pt>
                <c:pt idx="124">
                  <c:v>142</c:v>
                </c:pt>
                <c:pt idx="125">
                  <c:v>143</c:v>
                </c:pt>
                <c:pt idx="126">
                  <c:v>144</c:v>
                </c:pt>
                <c:pt idx="127">
                  <c:v>145</c:v>
                </c:pt>
                <c:pt idx="128">
                  <c:v>146</c:v>
                </c:pt>
                <c:pt idx="129">
                  <c:v>147</c:v>
                </c:pt>
                <c:pt idx="130">
                  <c:v>148</c:v>
                </c:pt>
                <c:pt idx="131">
                  <c:v>149</c:v>
                </c:pt>
                <c:pt idx="132">
                  <c:v>150</c:v>
                </c:pt>
                <c:pt idx="133">
                  <c:v>151</c:v>
                </c:pt>
                <c:pt idx="134">
                  <c:v>152</c:v>
                </c:pt>
                <c:pt idx="135">
                  <c:v>153</c:v>
                </c:pt>
                <c:pt idx="136">
                  <c:v>154</c:v>
                </c:pt>
                <c:pt idx="137">
                  <c:v>155</c:v>
                </c:pt>
                <c:pt idx="138">
                  <c:v>156</c:v>
                </c:pt>
                <c:pt idx="139">
                  <c:v>157</c:v>
                </c:pt>
                <c:pt idx="140">
                  <c:v>158</c:v>
                </c:pt>
                <c:pt idx="141">
                  <c:v>159</c:v>
                </c:pt>
                <c:pt idx="142">
                  <c:v>160</c:v>
                </c:pt>
                <c:pt idx="143">
                  <c:v>161</c:v>
                </c:pt>
                <c:pt idx="144">
                  <c:v>162</c:v>
                </c:pt>
                <c:pt idx="145">
                  <c:v>163</c:v>
                </c:pt>
                <c:pt idx="146">
                  <c:v>164</c:v>
                </c:pt>
                <c:pt idx="147">
                  <c:v>165</c:v>
                </c:pt>
                <c:pt idx="148">
                  <c:v>166</c:v>
                </c:pt>
                <c:pt idx="149">
                  <c:v>167</c:v>
                </c:pt>
                <c:pt idx="150">
                  <c:v>168</c:v>
                </c:pt>
                <c:pt idx="151">
                  <c:v>169</c:v>
                </c:pt>
                <c:pt idx="152">
                  <c:v>170</c:v>
                </c:pt>
                <c:pt idx="153">
                  <c:v>171</c:v>
                </c:pt>
                <c:pt idx="154">
                  <c:v>172</c:v>
                </c:pt>
                <c:pt idx="155">
                  <c:v>173</c:v>
                </c:pt>
                <c:pt idx="156">
                  <c:v>174</c:v>
                </c:pt>
                <c:pt idx="157">
                  <c:v>175</c:v>
                </c:pt>
                <c:pt idx="158">
                  <c:v>176</c:v>
                </c:pt>
                <c:pt idx="159">
                  <c:v>177</c:v>
                </c:pt>
                <c:pt idx="160">
                  <c:v>178</c:v>
                </c:pt>
                <c:pt idx="161">
                  <c:v>179</c:v>
                </c:pt>
                <c:pt idx="162">
                  <c:v>180</c:v>
                </c:pt>
                <c:pt idx="163">
                  <c:v>181</c:v>
                </c:pt>
                <c:pt idx="164">
                  <c:v>182</c:v>
                </c:pt>
                <c:pt idx="165">
                  <c:v>183</c:v>
                </c:pt>
                <c:pt idx="166">
                  <c:v>184</c:v>
                </c:pt>
                <c:pt idx="167">
                  <c:v>185</c:v>
                </c:pt>
                <c:pt idx="168">
                  <c:v>186</c:v>
                </c:pt>
                <c:pt idx="169">
                  <c:v>187</c:v>
                </c:pt>
                <c:pt idx="170">
                  <c:v>188</c:v>
                </c:pt>
                <c:pt idx="171">
                  <c:v>189</c:v>
                </c:pt>
                <c:pt idx="172">
                  <c:v>190</c:v>
                </c:pt>
                <c:pt idx="173">
                  <c:v>191</c:v>
                </c:pt>
                <c:pt idx="174">
                  <c:v>192</c:v>
                </c:pt>
                <c:pt idx="175">
                  <c:v>193</c:v>
                </c:pt>
                <c:pt idx="176">
                  <c:v>194</c:v>
                </c:pt>
                <c:pt idx="177">
                  <c:v>195</c:v>
                </c:pt>
                <c:pt idx="178">
                  <c:v>196</c:v>
                </c:pt>
                <c:pt idx="179">
                  <c:v>197</c:v>
                </c:pt>
                <c:pt idx="180">
                  <c:v>198</c:v>
                </c:pt>
                <c:pt idx="181">
                  <c:v>199</c:v>
                </c:pt>
                <c:pt idx="182">
                  <c:v>200</c:v>
                </c:pt>
              </c:numCache>
            </c:numRef>
          </c:xVal>
          <c:yVal>
            <c:numRef>
              <c:f>'S1-S0 lifetime'!$G$20:$G$286</c:f>
              <c:numCache>
                <c:formatCode>General</c:formatCode>
                <c:ptCount val="267"/>
                <c:pt idx="0">
                  <c:v>0.99981124657986031</c:v>
                </c:pt>
                <c:pt idx="1">
                  <c:v>0.995</c:v>
                </c:pt>
                <c:pt idx="2">
                  <c:v>0.9898107677833633</c:v>
                </c:pt>
                <c:pt idx="3">
                  <c:v>0.98424258436337575</c:v>
                </c:pt>
                <c:pt idx="4">
                  <c:v>0.97829542405962933</c:v>
                </c:pt>
                <c:pt idx="5">
                  <c:v>0.97197019613593882</c:v>
                </c:pt>
                <c:pt idx="6">
                  <c:v>0.96526873686204873</c:v>
                </c:pt>
                <c:pt idx="7">
                  <c:v>0.95819379861370957</c:v>
                </c:pt>
                <c:pt idx="8">
                  <c:v>0.95074903605948835</c:v>
                </c:pt>
                <c:pt idx="9">
                  <c:v>0.94293898949603883</c:v>
                </c:pt>
                <c:pt idx="10">
                  <c:v>0.9347690654065457</c:v>
                </c:pt>
                <c:pt idx="11">
                  <c:v>0.926245514329609</c:v>
                </c:pt>
                <c:pt idx="12">
                  <c:v>0.91737540613786872</c:v>
                </c:pt>
                <c:pt idx="13">
                  <c:v>0.90816660283712736</c:v>
                </c:pt>
                <c:pt idx="14">
                  <c:v>0.89862772900752252</c:v>
                </c:pt>
                <c:pt idx="15">
                  <c:v>0.88876814001840732</c:v>
                </c:pt>
                <c:pt idx="16">
                  <c:v>0.87859788815792039</c:v>
                </c:pt>
                <c:pt idx="17">
                  <c:v>0.86812768682675012</c:v>
                </c:pt>
                <c:pt idx="18">
                  <c:v>0.85736887295325537</c:v>
                </c:pt>
                <c:pt idx="19">
                  <c:v>0.84633336779387458</c:v>
                </c:pt>
                <c:pt idx="20">
                  <c:v>0.83503363628858962</c:v>
                </c:pt>
                <c:pt idx="21">
                  <c:v>0.8234826451460997</c:v>
                </c:pt>
                <c:pt idx="22">
                  <c:v>0.81169381983727296</c:v>
                </c:pt>
                <c:pt idx="23">
                  <c:v>0.79968100067837666</c:v>
                </c:pt>
                <c:pt idx="24">
                  <c:v>0.78745839818752694</c:v>
                </c:pt>
                <c:pt idx="25">
                  <c:v>0.77504054789875065</c:v>
                </c:pt>
                <c:pt idx="26">
                  <c:v>0.76244226481803012</c:v>
                </c:pt>
                <c:pt idx="27">
                  <c:v>0.74967859770469691</c:v>
                </c:pt>
                <c:pt idx="28">
                  <c:v>0.73676478335960627</c:v>
                </c:pt>
                <c:pt idx="29">
                  <c:v>0.72371620109865464</c:v>
                </c:pt>
                <c:pt idx="30">
                  <c:v>0.71054832758644848</c:v>
                </c:pt>
                <c:pt idx="31">
                  <c:v>0.69727669220032484</c:v>
                </c:pt>
                <c:pt idx="32">
                  <c:v>0.68391683308950124</c:v>
                </c:pt>
                <c:pt idx="33">
                  <c:v>0.67048425408794943</c:v>
                </c:pt>
                <c:pt idx="34">
                  <c:v>0.65699438263268317</c:v>
                </c:pt>
                <c:pt idx="35">
                  <c:v>0.64346252883158828</c:v>
                </c:pt>
                <c:pt idx="36">
                  <c:v>0.62990384581675873</c:v>
                </c:pt>
                <c:pt idx="37">
                  <c:v>0.61633329151059213</c:v>
                </c:pt>
                <c:pt idx="38">
                  <c:v>0.60276559192270962</c:v>
                </c:pt>
                <c:pt idx="39">
                  <c:v>0.58921520608615663</c:v>
                </c:pt>
                <c:pt idx="40">
                  <c:v>0.57569629273138767</c:v>
                </c:pt>
                <c:pt idx="41">
                  <c:v>0.56222267878629939</c:v>
                </c:pt>
                <c:pt idx="42">
                  <c:v>0.54880782978011133</c:v>
                </c:pt>
                <c:pt idx="43">
                  <c:v>0.53546482221829628</c:v>
                </c:pt>
                <c:pt idx="44">
                  <c:v>0.5222063179850629</c:v>
                </c:pt>
                <c:pt idx="45">
                  <c:v>0.50904454081918427</c:v>
                </c:pt>
                <c:pt idx="46">
                  <c:v>0.49599125489829576</c:v>
                </c:pt>
                <c:pt idx="47">
                  <c:v>0.48305774555622993</c:v>
                </c:pt>
                <c:pt idx="48">
                  <c:v>0.47025480214754545</c:v>
                </c:pt>
                <c:pt idx="49">
                  <c:v>0.45759270306324401</c:v>
                </c:pt>
                <c:pt idx="50">
                  <c:v>0.44508120289175257</c:v>
                </c:pt>
                <c:pt idx="51">
                  <c:v>0.43272952170967566</c:v>
                </c:pt>
                <c:pt idx="52">
                  <c:v>0.42054633647761108</c:v>
                </c:pt>
                <c:pt idx="53">
                  <c:v>0.40853977450752499</c:v>
                </c:pt>
                <c:pt idx="54">
                  <c:v>0.39671740895983687</c:v>
                </c:pt>
                <c:pt idx="55">
                  <c:v>0.38508625632050625</c:v>
                </c:pt>
                <c:pt idx="56">
                  <c:v>0.37365277580106976</c:v>
                </c:pt>
                <c:pt idx="57">
                  <c:v>0.36242287059777439</c:v>
                </c:pt>
                <c:pt idx="58">
                  <c:v>0.35140189093971641</c:v>
                </c:pt>
                <c:pt idx="59">
                  <c:v>0.34059463885023666</c:v>
                </c:pt>
                <c:pt idx="60">
                  <c:v>0.33000537454075662</c:v>
                </c:pt>
                <c:pt idx="61">
                  <c:v>0.31963782435178134</c:v>
                </c:pt>
                <c:pt idx="62">
                  <c:v>0.3094951901519315</c:v>
                </c:pt>
                <c:pt idx="63">
                  <c:v>0.29958016010262078</c:v>
                </c:pt>
                <c:pt idx="64">
                  <c:v>0.28989492069334</c:v>
                </c:pt>
                <c:pt idx="65">
                  <c:v>0.28044116995045976</c:v>
                </c:pt>
                <c:pt idx="66">
                  <c:v>0.27122013172098397</c:v>
                </c:pt>
                <c:pt idx="67">
                  <c:v>0.26223257093179303</c:v>
                </c:pt>
                <c:pt idx="68">
                  <c:v>0.25347880972455178</c:v>
                </c:pt>
                <c:pt idx="69">
                  <c:v>0.24495874436664894</c:v>
                </c:pt>
                <c:pt idx="70">
                  <c:v>0.23667186283920932</c:v>
                </c:pt>
                <c:pt idx="71">
                  <c:v>0.22861726300439911</c:v>
                </c:pt>
                <c:pt idx="72">
                  <c:v>0.22079367125586186</c:v>
                </c:pt>
                <c:pt idx="73">
                  <c:v>0.21319946155817782</c:v>
                </c:pt>
                <c:pt idx="74">
                  <c:v>0.20583267478368034</c:v>
                </c:pt>
                <c:pt idx="75">
                  <c:v>0.19869103825777665</c:v>
                </c:pt>
                <c:pt idx="76">
                  <c:v>0.19177198542705542</c:v>
                </c:pt>
                <c:pt idx="77">
                  <c:v>0.18507267556790419</c:v>
                </c:pt>
                <c:pt idx="78">
                  <c:v>0.17859001345705827</c:v>
                </c:pt>
                <c:pt idx="79">
                  <c:v>0.17232066892943354</c:v>
                </c:pt>
                <c:pt idx="80">
                  <c:v>0.16626109625272198</c:v>
                </c:pt>
                <c:pt idx="81">
                  <c:v>0.16040755325251704</c:v>
                </c:pt>
                <c:pt idx="82">
                  <c:v>0.15475612012615531</c:v>
                </c:pt>
                <c:pt idx="83">
                  <c:v>0.14930271788797578</c:v>
                </c:pt>
                <c:pt idx="84">
                  <c:v>0.14404312639328232</c:v>
                </c:pt>
                <c:pt idx="85">
                  <c:v>0.13897300189291212</c:v>
                </c:pt>
                <c:pt idx="86">
                  <c:v>0.13408789407494359</c:v>
                </c:pt>
                <c:pt idx="87">
                  <c:v>0.12938326255468147</c:v>
                </c:pt>
                <c:pt idx="88">
                  <c:v>0.1248544927786249</c:v>
                </c:pt>
                <c:pt idx="89">
                  <c:v>0.12049691131261395</c:v>
                </c:pt>
                <c:pt idx="90">
                  <c:v>0.11630580048875874</c:v>
                </c:pt>
                <c:pt idx="91">
                  <c:v>0.11227641239004285</c:v>
                </c:pt>
                <c:pt idx="92">
                  <c:v>0.10840398215565829</c:v>
                </c:pt>
                <c:pt idx="93">
                  <c:v>0.10468374059414098</c:v>
                </c:pt>
                <c:pt idx="94">
                  <c:v>0.10111092609523156</c:v>
                </c:pt>
                <c:pt idx="95">
                  <c:v>9.7680795835062589E-2</c:v>
                </c:pt>
                <c:pt idx="96">
                  <c:v>9.4388636272766224E-2</c:v>
                </c:pt>
                <c:pt idx="97">
                  <c:v>9.1229772939893913E-2</c:v>
                </c:pt>
                <c:pt idx="98">
                  <c:v>8.8199579527132851E-2</c:v>
                </c:pt>
                <c:pt idx="99">
                  <c:v>8.5293486275690611E-2</c:v>
                </c:pt>
                <c:pt idx="100">
                  <c:v>8.2506987683392069E-2</c:v>
                </c:pt>
                <c:pt idx="101">
                  <c:v>7.9835649537991368E-2</c:v>
                </c:pt>
                <c:pt idx="102">
                  <c:v>7.727511529244295E-2</c:v>
                </c:pt>
                <c:pt idx="103">
                  <c:v>7.4821111798903675E-2</c:v>
                </c:pt>
                <c:pt idx="104">
                  <c:v>7.2469454420049609E-2</c:v>
                </c:pt>
                <c:pt idx="105">
                  <c:v>7.0216051537895313E-2</c:v>
                </c:pt>
                <c:pt idx="106">
                  <c:v>6.8056908481697903E-2</c:v>
                </c:pt>
                <c:pt idx="107">
                  <c:v>6.5988130897725289E-2</c:v>
                </c:pt>
                <c:pt idx="108">
                  <c:v>6.4005927584666764E-2</c:v>
                </c:pt>
                <c:pt idx="109">
                  <c:v>6.2106612819278477E-2</c:v>
                </c:pt>
                <c:pt idx="110">
                  <c:v>6.0286608197488004E-2</c:v>
                </c:pt>
                <c:pt idx="111">
                  <c:v>5.8542444016644907E-2</c:v>
                </c:pt>
                <c:pt idx="112">
                  <c:v>5.6870760224901826E-2</c:v>
                </c:pt>
                <c:pt idx="113">
                  <c:v>5.526830696385783E-2</c:v>
                </c:pt>
                <c:pt idx="114">
                  <c:v>5.3731944730596892E-2</c:v>
                </c:pt>
                <c:pt idx="115">
                  <c:v>5.2258644185124617E-2</c:v>
                </c:pt>
                <c:pt idx="116">
                  <c:v>5.0845485628950415E-2</c:v>
                </c:pt>
                <c:pt idx="117">
                  <c:v>4.9489658180196308E-2</c:v>
                </c:pt>
                <c:pt idx="118">
                  <c:v>4.8188458670141841E-2</c:v>
                </c:pt>
                <c:pt idx="119">
                  <c:v>4.6939290285551605E-2</c:v>
                </c:pt>
                <c:pt idx="120">
                  <c:v>4.5739660980485347E-2</c:v>
                </c:pt>
                <c:pt idx="121">
                  <c:v>4.4587181680571512E-2</c:v>
                </c:pt>
                <c:pt idx="122">
                  <c:v>4.3479564301941206E-2</c:v>
                </c:pt>
                <c:pt idx="123">
                  <c:v>4.2414619606182827E-2</c:v>
                </c:pt>
                <c:pt idx="124">
                  <c:v>4.1390254911793746E-2</c:v>
                </c:pt>
                <c:pt idx="125">
                  <c:v>4.0404471681686059E-2</c:v>
                </c:pt>
                <c:pt idx="126">
                  <c:v>3.9455363005353496E-2</c:v>
                </c:pt>
                <c:pt idx="127">
                  <c:v>3.8541110993336861E-2</c:v>
                </c:pt>
                <c:pt idx="128">
                  <c:v>3.7659984100640469E-2</c:v>
                </c:pt>
                <c:pt idx="129">
                  <c:v>3.6810334394759982E-2</c:v>
                </c:pt>
                <c:pt idx="130">
                  <c:v>3.5990594782989486E-2</c:v>
                </c:pt>
                <c:pt idx="131">
                  <c:v>3.5199276212686467E-2</c:v>
                </c:pt>
                <c:pt idx="132">
                  <c:v>3.4434964857195285E-2</c:v>
                </c:pt>
                <c:pt idx="133">
                  <c:v>3.3696319299165521E-2</c:v>
                </c:pt>
                <c:pt idx="134">
                  <c:v>3.298206772205662E-2</c:v>
                </c:pt>
                <c:pt idx="135">
                  <c:v>3.2291005119698291E-2</c:v>
                </c:pt>
                <c:pt idx="136">
                  <c:v>3.162199053287966E-2</c:v>
                </c:pt>
                <c:pt idx="137">
                  <c:v>3.0973944321073792E-2</c:v>
                </c:pt>
                <c:pt idx="138">
                  <c:v>3.0345845476568722E-2</c:v>
                </c:pt>
                <c:pt idx="139">
                  <c:v>2.9736728987474439E-2</c:v>
                </c:pt>
                <c:pt idx="140">
                  <c:v>2.9145683255309349E-2</c:v>
                </c:pt>
                <c:pt idx="141">
                  <c:v>2.8571847572140197E-2</c:v>
                </c:pt>
                <c:pt idx="142">
                  <c:v>2.8014409661557937E-2</c:v>
                </c:pt>
                <c:pt idx="143">
                  <c:v>2.7472603287118473E-2</c:v>
                </c:pt>
                <c:pt idx="144">
                  <c:v>2.694570593126314E-2</c:v>
                </c:pt>
                <c:pt idx="145">
                  <c:v>2.6433036547157784E-2</c:v>
                </c:pt>
                <c:pt idx="146">
                  <c:v>2.5933953385352492E-2</c:v>
                </c:pt>
                <c:pt idx="147">
                  <c:v>2.5447851896665548E-2</c:v>
                </c:pt>
                <c:pt idx="148">
                  <c:v>2.4974162712233978E-2</c:v>
                </c:pt>
                <c:pt idx="149">
                  <c:v>2.4512349701249138E-2</c:v>
                </c:pt>
                <c:pt idx="150">
                  <c:v>2.4061908106507844E-2</c:v>
                </c:pt>
                <c:pt idx="151">
                  <c:v>2.3622362757556158E-2</c:v>
                </c:pt>
                <c:pt idx="152">
                  <c:v>2.3193266360883577E-2</c:v>
                </c:pt>
                <c:pt idx="153">
                  <c:v>2.2774197866338244E-2</c:v>
                </c:pt>
                <c:pt idx="154">
                  <c:v>2.2364760908677485E-2</c:v>
                </c:pt>
                <c:pt idx="155">
                  <c:v>2.1964582322941691E-2</c:v>
                </c:pt>
                <c:pt idx="156">
                  <c:v>2.1573310732140381E-2</c:v>
                </c:pt>
                <c:pt idx="157">
                  <c:v>2.1190615205567868E-2</c:v>
                </c:pt>
                <c:pt idx="158">
                  <c:v>2.0816183985918158E-2</c:v>
                </c:pt>
                <c:pt idx="159">
                  <c:v>2.0449723283245198E-2</c:v>
                </c:pt>
                <c:pt idx="160">
                  <c:v>2.0090956133712479E-2</c:v>
                </c:pt>
                <c:pt idx="161">
                  <c:v>1.973962132099422E-2</c:v>
                </c:pt>
                <c:pt idx="162">
                  <c:v>1.9395472358127348E-2</c:v>
                </c:pt>
                <c:pt idx="163">
                  <c:v>1.9058276527567697E-2</c:v>
                </c:pt>
                <c:pt idx="164">
                  <c:v>1.8727813977173796E-2</c:v>
                </c:pt>
                <c:pt idx="165">
                  <c:v>1.8403876869826242E-2</c:v>
                </c:pt>
                <c:pt idx="166">
                  <c:v>1.8086268584387617E-2</c:v>
                </c:pt>
                <c:pt idx="167">
                  <c:v>1.7774802965717731E-2</c:v>
                </c:pt>
                <c:pt idx="168">
                  <c:v>1.7469303621477968E-2</c:v>
                </c:pt>
                <c:pt idx="169">
                  <c:v>1.716960326348798E-2</c:v>
                </c:pt>
                <c:pt idx="170">
                  <c:v>1.6875543091434866E-2</c:v>
                </c:pt>
                <c:pt idx="171">
                  <c:v>1.6586972216779305E-2</c:v>
                </c:pt>
                <c:pt idx="172">
                  <c:v>1.6303747124753701E-2</c:v>
                </c:pt>
                <c:pt idx="173">
                  <c:v>1.6025731172402809E-2</c:v>
                </c:pt>
                <c:pt idx="174">
                  <c:v>1.5752794120677604E-2</c:v>
                </c:pt>
                <c:pt idx="175">
                  <c:v>1.5484811698656502E-2</c:v>
                </c:pt>
                <c:pt idx="176">
                  <c:v>1.5221665198034586E-2</c:v>
                </c:pt>
                <c:pt idx="177">
                  <c:v>1.4963241096090036E-2</c:v>
                </c:pt>
                <c:pt idx="178">
                  <c:v>1.4709430705407004E-2</c:v>
                </c:pt>
                <c:pt idx="179">
                  <c:v>1.446012984870529E-2</c:v>
                </c:pt>
                <c:pt idx="180">
                  <c:v>1.4215238557198674E-2</c:v>
                </c:pt>
                <c:pt idx="181">
                  <c:v>1.3974660790975398E-2</c:v>
                </c:pt>
                <c:pt idx="182">
                  <c:v>1.3738304179965365E-2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8DC-574A-84A7-EBFA979FC4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1696928"/>
        <c:axId val="861698640"/>
      </c:scatterChart>
      <c:valAx>
        <c:axId val="861696928"/>
        <c:scaling>
          <c:orientation val="minMax"/>
          <c:max val="20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(fs)</a:t>
                </a:r>
              </a:p>
            </c:rich>
          </c:tx>
          <c:layout>
            <c:manualLayout>
              <c:xMode val="edge"/>
              <c:yMode val="edge"/>
              <c:x val="0.48706391076115479"/>
              <c:y val="0.93470822397200348"/>
            </c:manualLayout>
          </c:layout>
          <c:overlay val="0"/>
        </c:title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698640"/>
        <c:crosses val="autoZero"/>
        <c:crossBetween val="midCat"/>
      </c:valAx>
      <c:valAx>
        <c:axId val="86169864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60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1600" baseline="-250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600" baseline="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p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opulation</a:t>
                </a:r>
              </a:p>
            </c:rich>
          </c:tx>
          <c:layout>
            <c:manualLayout>
              <c:xMode val="edge"/>
              <c:yMode val="edge"/>
              <c:x val="6.6666666666666671E-3"/>
              <c:y val="0.32298818897637793"/>
            </c:manualLayout>
          </c:layout>
          <c:overlay val="0"/>
        </c:title>
        <c:numFmt formatCode="General" sourceLinked="1"/>
        <c:majorTickMark val="in"/>
        <c:minorTickMark val="none"/>
        <c:tickLblPos val="nextTo"/>
        <c:spPr>
          <a:noFill/>
          <a:ln w="127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696928"/>
        <c:crosses val="autoZero"/>
        <c:crossBetween val="midCat"/>
      </c:valAx>
      <c:spPr>
        <a:ln w="12700">
          <a:solidFill>
            <a:sysClr val="windowText" lastClr="000000"/>
          </a:solidFill>
        </a:ln>
      </c:spPr>
    </c:plotArea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D0776D-B1A6-4526-EA7E-5B2E0E22B9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DC8CC-8CB3-E212-8765-09316F772F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377C5-CED3-FF43-9EE5-A8E82E46C78D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08DA3-E8E9-2296-C944-BE49E0BD75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01D2C-3FF1-2E6A-1A51-1CFAA48752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D4485-94B1-FA41-8738-85717699B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693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DDC44-F25A-5D41-98C1-6F373C94466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F0F73-0459-7243-B736-F85EE976B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190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77BE-CE63-8D7C-A3EA-4837CEE44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F408E-0B03-F998-B647-0989FDF37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714CC-5A04-81C6-9A23-493FC7350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6921B-7ABB-1ED1-7348-B49A9C3BE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3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C8CB-C089-AA2E-4BD0-278AA6CC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4FB87-E38E-6787-3795-69322E9DA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ECEFA-2141-DA4C-753C-6CAB52B1A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Bridgehead olefin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Bredt</a:t>
            </a:r>
            <a:r>
              <a:rPr lang="en-US" dirty="0"/>
              <a:t> was unable to synthesize this molecule.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Highly strained that’s responsible for pi orbital alignment (B) or just mention the sentence of A and 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Then he announces his rule “</a:t>
            </a:r>
            <a:r>
              <a:rPr lang="en-US" dirty="0" err="1"/>
              <a:t>bredt</a:t>
            </a:r>
            <a:r>
              <a:rPr lang="en-US" dirty="0"/>
              <a:t> rule” i.e. &gt;= 8 ring sizes are only synthesize. So now continue with the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255EE-B7D8-83C4-B183-95AD36C57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12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 explain everything very well here</a:t>
            </a:r>
          </a:p>
          <a:p>
            <a:endParaRPr lang="en-US" dirty="0"/>
          </a:p>
          <a:p>
            <a:r>
              <a:rPr lang="en-US" dirty="0"/>
              <a:t>1. What’s Boltzmann sampling distribution mean? Why energy minimization, thermal MM/MD equilibration, …</a:t>
            </a:r>
            <a:r>
              <a:rPr lang="en-US" dirty="0" err="1"/>
              <a:t>etc</a:t>
            </a:r>
            <a:r>
              <a:rPr lang="en-US" dirty="0"/>
              <a:t>? Why thermal QM/MM equilibration? Why equilibration to begin with? Can you just compute QM/MM directly instead going through this process?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3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177D-9188-0C31-56BD-91F1869A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244D0-D9EB-83FC-DDF8-9A178F82B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9B29F-1AE7-38C1-E2CB-94EE55959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C8E10-9CD8-ACA7-3BEF-E38595F0B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34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C4CD-9851-DD0F-0110-7771BAD6B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7238C-C702-06F3-2C84-DB47C9F81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1F46B-8552-5E2F-85AB-57D163C79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89DC5-2EA3-76A0-7CE3-60C609B28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47D3-6226-CD48-34D4-C308ABB6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083C5-47E9-8B0B-13BD-143B313A8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8BB27-9D28-32C0-DAE3-38F0A14E9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7DD3-5192-9EBD-8C90-279B913F7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6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F0F73-0459-7243-B736-F85EE976B3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2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44C3-28CD-6643-DFDB-1336766E0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C5CFC-1736-7832-E45A-7B1CB4C71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AC393-80E8-1E74-4FDF-6DD72C0F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E273C-ACCF-79DA-D2BF-06152FFEB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A9BE2-5BCE-A802-85E2-FEEE0514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9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897A-5227-A8F2-7AF6-D5C3D127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97119-F1B8-07FA-DFC5-86BA2DDB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66A43-4D5F-AF3D-834C-D63BCBFE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6560-FCFE-D19E-2A95-7F1DDD88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7834-9B8E-EE2B-2C03-6C9C7395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3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ECF6E-994A-E7E3-367A-7C4757D7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C8452-B491-753B-20E8-87EC4DA91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9F4C4-B672-C072-A716-2271F646A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18F93-7E36-0D54-EB1C-00EF0DE9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78316-0BA7-A292-00B0-BDEE7E3D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5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33D2-B2F5-B54A-0C3B-D054836E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CAC0D-CD7C-FA9A-1A16-2CCF4DC26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9BD40-2F24-9457-CF82-DBFE52A62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7EAF4-2CA0-AC68-5BEF-F73F99C3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9E3B9-E7C2-F50A-3634-2D68BAAE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E6449-C77A-5C41-D5E3-9855CE8F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4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C385-F37A-D4DF-58B9-ED6A5554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A2A3E-796B-04D5-551E-BA00BB91E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C1672-C88A-EC07-0368-7E417EF49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D0B1B-A5EE-C5B3-57D3-E7956AE8F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C2375-7EC9-2261-FA6A-B1BC80122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1E908-28F1-CB7A-E150-F69CA498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7A000-8B4F-1291-4395-DFD3B05C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7C71D-4CF0-9AF7-8280-F3653C62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9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FB36-35EA-189F-6690-2226439A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37DE0-5FD5-5523-6A3B-D13530CB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D1BDB6-43FA-6D48-6724-0146C450F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0F244-B828-6242-69E0-D405E5AB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0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B036A-B7C5-0C2B-D25F-57B965E7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D6571-FE5E-8B2C-F532-DFE85099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82A3F-B7E0-F11D-F7F3-6F1B6A9D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3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E60A-C7FB-D0BA-B78C-FCA26194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9DF1-25E4-D439-E774-6F8217876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9B9FB-963B-1DE6-880A-AB99364BB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5B72F-E4FC-141A-AB51-822B1D47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C0175-8CAB-066B-C710-C461DFCA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DDEA1-3BCA-0EBF-8205-6636C7CFD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6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8791-CE73-4959-487B-1B0CCF14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1C55B-8805-C2E6-C06A-ACAACB18D8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D22A6-8C05-7BFE-B810-28527E158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FD1B0-3B1E-9D42-AA95-2A1F0994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E12DB-4DBB-33C7-FA66-371A154E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F69A8-130D-1B68-4096-31A6C9C9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0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C7D8-09DF-AC20-4070-16287734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84825-2A04-7584-1CC0-AB8FE7578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80939-6044-A6F0-13B0-C92A1EC8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C0B74-05BF-EE82-5855-530B1225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FED4A-F957-2979-B0A7-19E62DC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5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2BCE8-608C-5CBB-2750-B4379A049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D6C16-00C1-C5CC-6A93-E2273EA25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B560E-6EC6-3FA7-AFA2-9ABC5F32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9F72-B88A-CD12-2607-7AB41438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2F620-AA6E-6525-2454-3EA2C04E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3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5353C-7E04-5F4A-2453-945367642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92906-8609-B247-B04A-CA238286E8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4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D0937-2EAD-9439-5ED3-68D87F56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9536C-5E76-EE1F-2A2E-E18AB3747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A0975-1C82-347E-D36E-EAAFB4DC0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F19A5-336C-A6AF-E0AB-7027FD3EF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5B0DD-B174-8C4D-C659-30610C430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8E286-C4C2-8243-89F0-7C9CBB4F6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5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emf"/><Relationship Id="rId3" Type="http://schemas.openxmlformats.org/officeDocument/2006/relationships/image" Target="../media/image1.png"/><Relationship Id="rId7" Type="http://schemas.openxmlformats.org/officeDocument/2006/relationships/image" Target="../media/image11.emf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3.png"/><Relationship Id="rId15" Type="http://schemas.openxmlformats.org/officeDocument/2006/relationships/image" Target="../media/image19.emf"/><Relationship Id="rId10" Type="http://schemas.openxmlformats.org/officeDocument/2006/relationships/image" Target="../media/image14.png"/><Relationship Id="rId4" Type="http://schemas.openxmlformats.org/officeDocument/2006/relationships/image" Target="../media/image2.svg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1.emf"/><Relationship Id="rId12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svg"/><Relationship Id="rId11" Type="http://schemas.openxmlformats.org/officeDocument/2006/relationships/image" Target="../media/image3.png"/><Relationship Id="rId5" Type="http://schemas.openxmlformats.org/officeDocument/2006/relationships/image" Target="../media/image1.png"/><Relationship Id="rId10" Type="http://schemas.openxmlformats.org/officeDocument/2006/relationships/image" Target="../media/image22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13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430.png"/><Relationship Id="rId12" Type="http://schemas.openxmlformats.org/officeDocument/2006/relationships/image" Target="../media/image4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11" Type="http://schemas.openxmlformats.org/officeDocument/2006/relationships/chart" Target="../charts/chart10.xml"/><Relationship Id="rId10" Type="http://schemas.openxmlformats.org/officeDocument/2006/relationships/chart" Target="../charts/chart1.xml"/><Relationship Id="rId9" Type="http://schemas.openxmlformats.org/officeDocument/2006/relationships/image" Target="../media/image23.png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1257-AE60-0DF6-861E-F3E11F8F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0551EFB-7270-E883-B4A2-8B51433CC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1CAB49-0045-C92B-6505-3D9BE45234CF}"/>
              </a:ext>
            </a:extLst>
          </p:cNvPr>
          <p:cNvSpPr txBox="1"/>
          <p:nvPr/>
        </p:nvSpPr>
        <p:spPr>
          <a:xfrm>
            <a:off x="1265295" y="164812"/>
            <a:ext cx="10263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09/16/2026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87A08E-CF6F-63FD-6D0E-1F27310AE5BB}"/>
              </a:ext>
            </a:extLst>
          </p:cNvPr>
          <p:cNvSpPr txBox="1"/>
          <p:nvPr/>
        </p:nvSpPr>
        <p:spPr>
          <a:xfrm>
            <a:off x="315921" y="4716197"/>
            <a:ext cx="112131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of computational photochemistry and photobiology</a:t>
            </a:r>
          </a:p>
          <a:p>
            <a:pPr algn="ctr"/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rgbClr val="945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 for Photochemical Sciences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66496F-006E-C3DA-D053-AA2302D8D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3019143-95A6-AC9A-A0AF-CEC80C7780B8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835B8-6299-E3EA-648F-5EF5A2D90B37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47A85-321F-D798-7C40-5414B0E0B0B9}"/>
              </a:ext>
            </a:extLst>
          </p:cNvPr>
          <p:cNvSpPr txBox="1"/>
          <p:nvPr/>
        </p:nvSpPr>
        <p:spPr>
          <a:xfrm>
            <a:off x="0" y="2705725"/>
            <a:ext cx="1218983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Strain-driven photochemical reactivity of a small molecule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AD9D5-47F5-CB54-E923-7B6E1AFDFAED}"/>
              </a:ext>
            </a:extLst>
          </p:cNvPr>
          <p:cNvSpPr txBox="1"/>
          <p:nvPr/>
        </p:nvSpPr>
        <p:spPr>
          <a:xfrm>
            <a:off x="3030650" y="1498353"/>
            <a:ext cx="6126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Meseret Simachew Bezabih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51A724-84DE-65CA-DB3E-F650966E39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96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2E80-E398-0C89-4F7D-E7DA9E8B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2EFFD0D-937A-99E9-6274-50F469824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9EF3355-DFE0-1EF3-548F-E110152C8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2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2ADB6EA-37E4-DE29-BD6F-B0F3CD99E4D2}"/>
              </a:ext>
            </a:extLst>
          </p:cNvPr>
          <p:cNvSpPr txBox="1">
            <a:spLocks/>
          </p:cNvSpPr>
          <p:nvPr/>
        </p:nvSpPr>
        <p:spPr>
          <a:xfrm>
            <a:off x="1828800" y="189480"/>
            <a:ext cx="9703112" cy="6069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E890688-1F44-9564-10E8-7DAC3F7C1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946673-867A-BD8E-3208-8F2C10CE1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5680" y="1024808"/>
            <a:ext cx="3052744" cy="1371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982685-C854-1CB9-D1BE-3CEB045C8306}"/>
              </a:ext>
            </a:extLst>
          </p:cNvPr>
          <p:cNvSpPr txBox="1"/>
          <p:nvPr/>
        </p:nvSpPr>
        <p:spPr>
          <a:xfrm>
            <a:off x="7442265" y="6455125"/>
            <a:ext cx="3623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1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Organics</a:t>
            </a:r>
            <a:r>
              <a:rPr lang="en-US" sz="20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en-US" sz="20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0" i="1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(3), 205-218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33AB19-9B58-A81B-8ED6-1025917EB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0946" y="2503660"/>
            <a:ext cx="3685054" cy="14709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EE2D388-6CBA-0208-ECFC-1A0C086FE32D}"/>
              </a:ext>
            </a:extLst>
          </p:cNvPr>
          <p:cNvSpPr/>
          <p:nvPr/>
        </p:nvSpPr>
        <p:spPr>
          <a:xfrm>
            <a:off x="2410946" y="2505235"/>
            <a:ext cx="3685054" cy="1618587"/>
          </a:xfrm>
          <a:prstGeom prst="rect">
            <a:avLst/>
          </a:prstGeom>
          <a:solidFill>
            <a:schemeClr val="bg1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419B947-1DC5-C41A-C325-B86ED7C1E9DA}"/>
              </a:ext>
            </a:extLst>
          </p:cNvPr>
          <p:cNvSpPr>
            <a:spLocks noChangeAspect="1"/>
          </p:cNvSpPr>
          <p:nvPr/>
        </p:nvSpPr>
        <p:spPr>
          <a:xfrm>
            <a:off x="3653384" y="3801044"/>
            <a:ext cx="1200177" cy="2757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Bredt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1924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3FE0B4-7790-FD2D-9D6E-14E3277DB909}"/>
              </a:ext>
            </a:extLst>
          </p:cNvPr>
          <p:cNvSpPr txBox="1"/>
          <p:nvPr/>
        </p:nvSpPr>
        <p:spPr>
          <a:xfrm>
            <a:off x="202908" y="1024808"/>
            <a:ext cx="6682834" cy="1200329"/>
          </a:xfrm>
          <a:prstGeom prst="rect">
            <a:avLst/>
          </a:prstGeom>
          <a:solidFill>
            <a:schemeClr val="bg1">
              <a:lumMod val="50000"/>
              <a:alpha val="24833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3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Bridgehead olefins are a sub-class of polycyclic compounds containing a C=C double bond at the bridgehead position of a bicyclic system.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ED62A5-56D9-3A41-0C3D-9D4D158977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59" y="2396408"/>
            <a:ext cx="1276318" cy="177809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37E3AE9-924C-1781-4EFE-E81362B1D975}"/>
              </a:ext>
            </a:extLst>
          </p:cNvPr>
          <p:cNvSpPr>
            <a:spLocks noChangeAspect="1"/>
          </p:cNvSpPr>
          <p:nvPr/>
        </p:nvSpPr>
        <p:spPr>
          <a:xfrm>
            <a:off x="523660" y="3833604"/>
            <a:ext cx="1161848" cy="3078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945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Julius </a:t>
            </a:r>
            <a:r>
              <a:rPr lang="en-US" sz="1200" b="1" dirty="0" err="1">
                <a:solidFill>
                  <a:srgbClr val="945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Bredt</a:t>
            </a:r>
            <a:endParaRPr lang="en-US" sz="1200" b="1" dirty="0">
              <a:solidFill>
                <a:srgbClr val="9452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>
                <a:solidFill>
                  <a:srgbClr val="945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[1855 - 1937]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805ECC-68AE-4C83-DCFD-F123B61B6D99}"/>
              </a:ext>
            </a:extLst>
          </p:cNvPr>
          <p:cNvSpPr txBox="1"/>
          <p:nvPr/>
        </p:nvSpPr>
        <p:spPr>
          <a:xfrm>
            <a:off x="2017858" y="6484436"/>
            <a:ext cx="33466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Ann. Chem.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437, 1-13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4F194-9DCD-3985-8895-CFA0774671C5}"/>
              </a:ext>
            </a:extLst>
          </p:cNvPr>
          <p:cNvSpPr txBox="1"/>
          <p:nvPr/>
        </p:nvSpPr>
        <p:spPr>
          <a:xfrm>
            <a:off x="202909" y="4632804"/>
            <a:ext cx="6682833" cy="1200329"/>
          </a:xfrm>
          <a:prstGeom prst="rect">
            <a:avLst/>
          </a:prstGeom>
          <a:solidFill>
            <a:schemeClr val="bg1">
              <a:lumMod val="50000"/>
              <a:alpha val="24000"/>
            </a:schemeClr>
          </a:solidFill>
          <a:ln w="12700">
            <a:solidFill>
              <a:schemeClr val="bg1">
                <a:lumMod val="50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US" sz="2400" b="1" u="sng" dirty="0" err="1">
                <a:solidFill>
                  <a:srgbClr val="945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Bredt’s</a:t>
            </a:r>
            <a:r>
              <a:rPr lang="en-US" sz="2400" b="1" u="sng" dirty="0">
                <a:solidFill>
                  <a:srgbClr val="945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rule:</a:t>
            </a:r>
            <a:r>
              <a:rPr lang="en-US" sz="2400" b="1" dirty="0">
                <a:solidFill>
                  <a:srgbClr val="9452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bonds at the bridgehead position in a bicyclic molecules of ring size &lt;8 cannot synthesize.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5EDB2-F69F-9B0B-9717-1B12F0B87E90}"/>
              </a:ext>
            </a:extLst>
          </p:cNvPr>
          <p:cNvSpPr txBox="1"/>
          <p:nvPr/>
        </p:nvSpPr>
        <p:spPr>
          <a:xfrm>
            <a:off x="7442265" y="2397909"/>
            <a:ext cx="40896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i="0" u="none" strike="noStrike" dirty="0">
                <a:solidFill>
                  <a:srgbClr val="0054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typical bridgehead olefins </a:t>
            </a:r>
            <a:r>
              <a:rPr lang="en-US" dirty="0">
                <a:solidFill>
                  <a:srgbClr val="0054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considered as too </a:t>
            </a:r>
            <a:r>
              <a:rPr lang="en-US" i="0" u="none" strike="noStrike" dirty="0">
                <a:solidFill>
                  <a:srgbClr val="0054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strained to exist. </a:t>
            </a:r>
            <a:r>
              <a:rPr 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en-US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dirty="0">
                <a:solidFill>
                  <a:srgbClr val="00549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twisting of one p-orbital relative to the other as required to form a C=C bond in a strained bridgehead alkene.</a:t>
            </a:r>
            <a:endParaRPr lang="en-US" dirty="0">
              <a:solidFill>
                <a:srgbClr val="0054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F1275-CD6A-A8BA-8178-DE5F83A9FA27}"/>
              </a:ext>
            </a:extLst>
          </p:cNvPr>
          <p:cNvSpPr txBox="1"/>
          <p:nvPr/>
        </p:nvSpPr>
        <p:spPr>
          <a:xfrm>
            <a:off x="10433614" y="1078700"/>
            <a:ext cx="1555478" cy="584775"/>
          </a:xfrm>
          <a:prstGeom prst="rect">
            <a:avLst/>
          </a:prstGeom>
          <a:solidFill>
            <a:schemeClr val="bg1">
              <a:lumMod val="50000"/>
              <a:alpha val="24000"/>
            </a:schemeClr>
          </a:solidFill>
          <a:ln w="12700">
            <a:solidFill>
              <a:schemeClr val="bg1">
                <a:lumMod val="50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pi-orbitals overlap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B0266C-D3B3-07F2-A2F1-E5A279DE1972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591040" y="1264544"/>
            <a:ext cx="842574" cy="10654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B6DF463-2AC0-4630-0145-BC818566A137}"/>
              </a:ext>
            </a:extLst>
          </p:cNvPr>
          <p:cNvSpPr txBox="1"/>
          <p:nvPr/>
        </p:nvSpPr>
        <p:spPr>
          <a:xfrm>
            <a:off x="7084334" y="4147291"/>
            <a:ext cx="5013412" cy="2031325"/>
          </a:xfrm>
          <a:prstGeom prst="rect">
            <a:avLst/>
          </a:prstGeom>
          <a:solidFill>
            <a:srgbClr val="009051">
              <a:alpha val="24000"/>
            </a:srgbClr>
          </a:solidFill>
          <a:ln w="12700">
            <a:solidFill>
              <a:schemeClr val="bg1">
                <a:lumMod val="50000"/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computational study on norborn-1-ene?</a:t>
            </a:r>
          </a:p>
          <a:p>
            <a:pPr algn="ctr"/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photochemistry studied before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distorted C=C bond makes it to absorb photon at the longer wavelength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the molecule allow us to use an accurate quantum chemical gradients available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1940A-F86D-E546-B422-2A62EB643E87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840B3-2B1A-2C9B-CC56-95AED9582C5C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F60567-D570-D52D-902D-A0B14BDB86E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2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796EF8-4163-1BBF-CCED-7CE52489B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632F27C-FA06-242D-DA31-13C6519BB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3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D5AFB6-EC98-58EA-464E-C1A6A9D44B5F}"/>
              </a:ext>
            </a:extLst>
          </p:cNvPr>
          <p:cNvSpPr txBox="1">
            <a:spLocks/>
          </p:cNvSpPr>
          <p:nvPr/>
        </p:nvSpPr>
        <p:spPr>
          <a:xfrm>
            <a:off x="1814667" y="178724"/>
            <a:ext cx="9609953" cy="60698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computational methods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3272B8C-BE33-2A9A-714F-6437BEEB7C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E57C2C7-A7FC-CC0B-44BA-6C3D911071A0}"/>
              </a:ext>
            </a:extLst>
          </p:cNvPr>
          <p:cNvGrpSpPr/>
          <p:nvPr/>
        </p:nvGrpSpPr>
        <p:grpSpPr>
          <a:xfrm>
            <a:off x="1814667" y="1483588"/>
            <a:ext cx="8459443" cy="3417454"/>
            <a:chOff x="413355" y="1260055"/>
            <a:chExt cx="8459443" cy="3417454"/>
          </a:xfrm>
        </p:grpSpPr>
        <p:sp>
          <p:nvSpPr>
            <p:cNvPr id="4" name="TextBox 54">
              <a:extLst>
                <a:ext uri="{FF2B5EF4-FFF2-40B4-BE49-F238E27FC236}">
                  <a16:creationId xmlns:a16="http://schemas.microsoft.com/office/drawing/2014/main" id="{2C81C27C-3B5F-3498-CDDD-44DAE00EBC61}"/>
                </a:ext>
              </a:extLst>
            </p:cNvPr>
            <p:cNvSpPr txBox="1"/>
            <p:nvPr/>
          </p:nvSpPr>
          <p:spPr>
            <a:xfrm>
              <a:off x="1503202" y="4183579"/>
              <a:ext cx="742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" name="TextBox 55">
              <a:extLst>
                <a:ext uri="{FF2B5EF4-FFF2-40B4-BE49-F238E27FC236}">
                  <a16:creationId xmlns:a16="http://schemas.microsoft.com/office/drawing/2014/main" id="{3ABBBB3F-114A-BB07-61AF-EBBF555150E4}"/>
                </a:ext>
              </a:extLst>
            </p:cNvPr>
            <p:cNvSpPr txBox="1"/>
            <p:nvPr/>
          </p:nvSpPr>
          <p:spPr>
            <a:xfrm>
              <a:off x="725528" y="3845138"/>
              <a:ext cx="2589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/>
                <a:t>Geometry Optimization </a:t>
              </a:r>
            </a:p>
            <a:p>
              <a:pPr algn="ctr"/>
              <a:r>
                <a:rPr lang="en-US" sz="1200" dirty="0"/>
                <a:t>@ MP2 - implicit solvent model PCM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C8F12F-5906-34E2-46CA-24A2298C1981}"/>
                </a:ext>
              </a:extLst>
            </p:cNvPr>
            <p:cNvSpPr/>
            <p:nvPr/>
          </p:nvSpPr>
          <p:spPr>
            <a:xfrm>
              <a:off x="656096" y="3783458"/>
              <a:ext cx="2804556" cy="532776"/>
            </a:xfrm>
            <a:prstGeom prst="rect">
              <a:avLst/>
            </a:prstGeom>
            <a:noFill/>
            <a:ln>
              <a:solidFill>
                <a:srgbClr val="00549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5E0933-1BC8-BC90-E66F-ADC91248714C}"/>
                </a:ext>
              </a:extLst>
            </p:cNvPr>
            <p:cNvSpPr/>
            <p:nvPr/>
          </p:nvSpPr>
          <p:spPr>
            <a:xfrm>
              <a:off x="550444" y="3372299"/>
              <a:ext cx="3013307" cy="105121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TextBox 58">
              <a:extLst>
                <a:ext uri="{FF2B5EF4-FFF2-40B4-BE49-F238E27FC236}">
                  <a16:creationId xmlns:a16="http://schemas.microsoft.com/office/drawing/2014/main" id="{A4F57F84-70C4-E65B-6290-028405CFB54A}"/>
                </a:ext>
              </a:extLst>
            </p:cNvPr>
            <p:cNvSpPr txBox="1"/>
            <p:nvPr/>
          </p:nvSpPr>
          <p:spPr>
            <a:xfrm>
              <a:off x="1581869" y="3485401"/>
              <a:ext cx="967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GAUSSIAN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F79A53A-DBEB-4453-C89C-BFEB82D1DDF5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H="1" flipV="1">
              <a:off x="1423702" y="2946025"/>
              <a:ext cx="0" cy="426662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40">
              <a:extLst>
                <a:ext uri="{FF2B5EF4-FFF2-40B4-BE49-F238E27FC236}">
                  <a16:creationId xmlns:a16="http://schemas.microsoft.com/office/drawing/2014/main" id="{E5A44187-590A-125F-CC16-C48BFF002B24}"/>
                </a:ext>
              </a:extLst>
            </p:cNvPr>
            <p:cNvSpPr txBox="1"/>
            <p:nvPr/>
          </p:nvSpPr>
          <p:spPr>
            <a:xfrm>
              <a:off x="534498" y="2111304"/>
              <a:ext cx="178857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 dirty="0"/>
                <a:t>Simulation of thermal equilibration</a:t>
              </a:r>
            </a:p>
            <a:p>
              <a:pPr algn="ctr"/>
              <a:r>
                <a:rPr lang="en-US" altLang="zh-CN" sz="1000" dirty="0"/>
                <a:t>@ MM/MD - 5000 </a:t>
              </a:r>
              <a:r>
                <a:rPr lang="en-US" altLang="zh-CN" sz="1000" dirty="0" err="1"/>
                <a:t>ps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PBC–NPT @298 K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4726844-6240-2BAF-354D-34B3DF097D6D}"/>
                </a:ext>
              </a:extLst>
            </p:cNvPr>
            <p:cNvSpPr/>
            <p:nvPr/>
          </p:nvSpPr>
          <p:spPr>
            <a:xfrm>
              <a:off x="597274" y="1953185"/>
              <a:ext cx="1655194" cy="912840"/>
            </a:xfrm>
            <a:prstGeom prst="rect">
              <a:avLst/>
            </a:prstGeom>
            <a:noFill/>
            <a:ln>
              <a:solidFill>
                <a:srgbClr val="00549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6F3557-0832-08DC-DF32-59E397126513}"/>
                </a:ext>
              </a:extLst>
            </p:cNvPr>
            <p:cNvSpPr/>
            <p:nvPr/>
          </p:nvSpPr>
          <p:spPr>
            <a:xfrm>
              <a:off x="524334" y="1596504"/>
              <a:ext cx="1798736" cy="134952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71">
              <a:extLst>
                <a:ext uri="{FF2B5EF4-FFF2-40B4-BE49-F238E27FC236}">
                  <a16:creationId xmlns:a16="http://schemas.microsoft.com/office/drawing/2014/main" id="{159677FB-A0E5-402F-DBDB-581AAF970031}"/>
                </a:ext>
              </a:extLst>
            </p:cNvPr>
            <p:cNvSpPr txBox="1"/>
            <p:nvPr/>
          </p:nvSpPr>
          <p:spPr>
            <a:xfrm>
              <a:off x="555421" y="1625919"/>
              <a:ext cx="1747540" cy="261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GROMACS</a:t>
              </a:r>
            </a:p>
          </p:txBody>
        </p:sp>
        <p:sp>
          <p:nvSpPr>
            <p:cNvPr id="19" name="TextBox 42">
              <a:extLst>
                <a:ext uri="{FF2B5EF4-FFF2-40B4-BE49-F238E27FC236}">
                  <a16:creationId xmlns:a16="http://schemas.microsoft.com/office/drawing/2014/main" id="{55726828-A293-14B0-769A-4D991628C8C2}"/>
                </a:ext>
              </a:extLst>
            </p:cNvPr>
            <p:cNvSpPr txBox="1"/>
            <p:nvPr/>
          </p:nvSpPr>
          <p:spPr>
            <a:xfrm>
              <a:off x="4101924" y="2049146"/>
              <a:ext cx="1847292" cy="7078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b="1" dirty="0"/>
                <a:t>QM/MM thermal equilibration</a:t>
              </a:r>
            </a:p>
            <a:p>
              <a:pPr algn="ctr"/>
              <a:r>
                <a:rPr lang="en-US" sz="1000" dirty="0"/>
                <a:t>@ MP2 MD 200 fs</a:t>
              </a:r>
            </a:p>
            <a:p>
              <a:pPr algn="ctr"/>
              <a:r>
                <a:rPr lang="en-US" sz="900" dirty="0"/>
                <a:t>@ RMS-CASPT2 MD 200 fs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27FE92-AF09-A7B1-B42F-D6A413161C33}"/>
                </a:ext>
              </a:extLst>
            </p:cNvPr>
            <p:cNvSpPr/>
            <p:nvPr/>
          </p:nvSpPr>
          <p:spPr>
            <a:xfrm>
              <a:off x="4068882" y="2056614"/>
              <a:ext cx="1847292" cy="641287"/>
            </a:xfrm>
            <a:prstGeom prst="rect">
              <a:avLst/>
            </a:prstGeom>
            <a:noFill/>
            <a:ln>
              <a:solidFill>
                <a:srgbClr val="00549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E7CA87-DA37-82CD-39AD-5A39544ED8BC}"/>
                </a:ext>
              </a:extLst>
            </p:cNvPr>
            <p:cNvSpPr/>
            <p:nvPr/>
          </p:nvSpPr>
          <p:spPr>
            <a:xfrm>
              <a:off x="3699473" y="1637145"/>
              <a:ext cx="5021007" cy="2898124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TextBox 78">
              <a:extLst>
                <a:ext uri="{FF2B5EF4-FFF2-40B4-BE49-F238E27FC236}">
                  <a16:creationId xmlns:a16="http://schemas.microsoft.com/office/drawing/2014/main" id="{D8455570-E22B-6508-551D-684D8DA39CA2}"/>
                </a:ext>
              </a:extLst>
            </p:cNvPr>
            <p:cNvSpPr txBox="1"/>
            <p:nvPr/>
          </p:nvSpPr>
          <p:spPr>
            <a:xfrm>
              <a:off x="5237936" y="1631848"/>
              <a:ext cx="21546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[OPEN]MOLCAS/TINKER</a:t>
              </a:r>
            </a:p>
          </p:txBody>
        </p:sp>
        <p:sp>
          <p:nvSpPr>
            <p:cNvPr id="23" name="TextBox 80">
              <a:extLst>
                <a:ext uri="{FF2B5EF4-FFF2-40B4-BE49-F238E27FC236}">
                  <a16:creationId xmlns:a16="http://schemas.microsoft.com/office/drawing/2014/main" id="{1F36792D-AC42-C2F1-0BD6-2ED2256ECA9F}"/>
                </a:ext>
              </a:extLst>
            </p:cNvPr>
            <p:cNvSpPr txBox="1"/>
            <p:nvPr/>
          </p:nvSpPr>
          <p:spPr>
            <a:xfrm>
              <a:off x="3743401" y="3719855"/>
              <a:ext cx="1962108" cy="83099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/>
                <a:t>Thermal population</a:t>
              </a:r>
            </a:p>
            <a:p>
              <a:pPr algn="ctr"/>
              <a:r>
                <a:rPr lang="en-US" sz="1200" dirty="0"/>
                <a:t>200 initial conditions</a:t>
              </a:r>
            </a:p>
            <a:p>
              <a:pPr algn="ctr"/>
              <a:r>
                <a:rPr lang="en-US" sz="1200" dirty="0"/>
                <a:t>(GS thermal equilibrium geometries)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7BF3A9-DFDB-B204-D283-671E53099ABE}"/>
                </a:ext>
              </a:extLst>
            </p:cNvPr>
            <p:cNvSpPr/>
            <p:nvPr/>
          </p:nvSpPr>
          <p:spPr>
            <a:xfrm>
              <a:off x="3780929" y="3697407"/>
              <a:ext cx="1863917" cy="797222"/>
            </a:xfrm>
            <a:prstGeom prst="rect">
              <a:avLst/>
            </a:prstGeom>
            <a:noFill/>
            <a:ln>
              <a:solidFill>
                <a:srgbClr val="00549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557C7CF-8DCF-1E79-2187-B67DF5BBEE3C}"/>
                </a:ext>
              </a:extLst>
            </p:cNvPr>
            <p:cNvCxnSpPr>
              <a:cxnSpLocks/>
            </p:cNvCxnSpPr>
            <p:nvPr/>
          </p:nvCxnSpPr>
          <p:spPr>
            <a:xfrm>
              <a:off x="2372147" y="2145153"/>
              <a:ext cx="1281100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35EF23F-FB6F-995A-609D-4989DC3C0E2C}"/>
                </a:ext>
              </a:extLst>
            </p:cNvPr>
            <p:cNvSpPr/>
            <p:nvPr/>
          </p:nvSpPr>
          <p:spPr>
            <a:xfrm>
              <a:off x="413355" y="1269925"/>
              <a:ext cx="8459443" cy="3407584"/>
            </a:xfrm>
            <a:prstGeom prst="rect">
              <a:avLst/>
            </a:prstGeom>
            <a:noFill/>
            <a:ln w="38100">
              <a:solidFill>
                <a:srgbClr val="AAAAAA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DD73C07-4F86-A6B1-B931-83201E3683ED}"/>
                </a:ext>
              </a:extLst>
            </p:cNvPr>
            <p:cNvSpPr/>
            <p:nvPr/>
          </p:nvSpPr>
          <p:spPr>
            <a:xfrm>
              <a:off x="1830761" y="1260055"/>
              <a:ext cx="541595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/>
                <a:t>Work protocol of norborn-1-ene in </a:t>
              </a:r>
              <a:r>
                <a:rPr lang="en-US" altLang="zh-CN" sz="1600" b="1" dirty="0" err="1"/>
                <a:t>MeCN</a:t>
              </a:r>
              <a:r>
                <a:rPr lang="en-US" altLang="zh-CN" sz="1600" b="1" dirty="0"/>
                <a:t> solvent</a:t>
              </a:r>
              <a:endParaRPr lang="en-US" sz="1600" b="1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69A163E-34C6-0A9B-9A2F-24BBFACB7587}"/>
                </a:ext>
              </a:extLst>
            </p:cNvPr>
            <p:cNvCxnSpPr>
              <a:cxnSpLocks/>
            </p:cNvCxnSpPr>
            <p:nvPr/>
          </p:nvCxnSpPr>
          <p:spPr>
            <a:xfrm>
              <a:off x="4969636" y="2729545"/>
              <a:ext cx="0" cy="957702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BAD1C75-8A94-83F6-1184-CCA7F1DC7071}"/>
                </a:ext>
              </a:extLst>
            </p:cNvPr>
            <p:cNvCxnSpPr>
              <a:cxnSpLocks/>
            </p:cNvCxnSpPr>
            <p:nvPr/>
          </p:nvCxnSpPr>
          <p:spPr>
            <a:xfrm>
              <a:off x="5683061" y="4130506"/>
              <a:ext cx="1117752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DEC69D4-9DEC-32DB-FE82-5BF2804F738C}"/>
                </a:ext>
              </a:extLst>
            </p:cNvPr>
            <p:cNvCxnSpPr>
              <a:cxnSpLocks/>
              <a:stCxn id="41" idx="0"/>
              <a:endCxn id="40" idx="2"/>
            </p:cNvCxnSpPr>
            <p:nvPr/>
          </p:nvCxnSpPr>
          <p:spPr>
            <a:xfrm flipH="1" flipV="1">
              <a:off x="7688108" y="2666340"/>
              <a:ext cx="0" cy="108646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42">
              <a:extLst>
                <a:ext uri="{FF2B5EF4-FFF2-40B4-BE49-F238E27FC236}">
                  <a16:creationId xmlns:a16="http://schemas.microsoft.com/office/drawing/2014/main" id="{D9A8C173-F153-1875-E8AF-4AC638C81C00}"/>
                </a:ext>
              </a:extLst>
            </p:cNvPr>
            <p:cNvSpPr txBox="1"/>
            <p:nvPr/>
          </p:nvSpPr>
          <p:spPr>
            <a:xfrm>
              <a:off x="6978680" y="2030590"/>
              <a:ext cx="153128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altLang="zh-CN" sz="1200" b="1" dirty="0"/>
                <a:t>QM/MM</a:t>
              </a:r>
              <a:endParaRPr lang="fr-FR" altLang="zh-CN" sz="1200" dirty="0"/>
            </a:p>
            <a:p>
              <a:pPr algn="ctr"/>
              <a:r>
                <a:rPr lang="fr-FR" altLang="zh-CN" sz="1200" dirty="0"/>
                <a:t>200 SA3-RMS-CASPT2 200 </a:t>
              </a:r>
              <a:r>
                <a:rPr lang="fr-FR" altLang="zh-CN" sz="1200" dirty="0" err="1"/>
                <a:t>fs</a:t>
              </a:r>
              <a:endParaRPr lang="fr-FR" altLang="zh-CN" sz="12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2690991-9C90-CDC6-2A66-B5F9E81041BE}"/>
                </a:ext>
              </a:extLst>
            </p:cNvPr>
            <p:cNvSpPr/>
            <p:nvPr/>
          </p:nvSpPr>
          <p:spPr>
            <a:xfrm>
              <a:off x="6776019" y="2025053"/>
              <a:ext cx="1824177" cy="641287"/>
            </a:xfrm>
            <a:prstGeom prst="rect">
              <a:avLst/>
            </a:prstGeom>
            <a:noFill/>
            <a:ln>
              <a:solidFill>
                <a:srgbClr val="00549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F32C0A-005D-02BD-BE33-27D2860AC7EA}"/>
                </a:ext>
              </a:extLst>
            </p:cNvPr>
            <p:cNvSpPr txBox="1"/>
            <p:nvPr/>
          </p:nvSpPr>
          <p:spPr>
            <a:xfrm>
              <a:off x="6809484" y="3752804"/>
              <a:ext cx="1824176" cy="646331"/>
            </a:xfrm>
            <a:prstGeom prst="rect">
              <a:avLst/>
            </a:prstGeom>
            <a:noFill/>
            <a:ln>
              <a:solidFill>
                <a:srgbClr val="005493"/>
              </a:solidFill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Absorption Band</a:t>
              </a:r>
            </a:p>
            <a:p>
              <a:pPr algn="ctr"/>
              <a:r>
                <a:rPr lang="en-US" sz="1200" dirty="0"/>
                <a:t>Compute the VEE &amp; f</a:t>
              </a:r>
            </a:p>
            <a:p>
              <a:pPr algn="ctr"/>
              <a:r>
                <a:rPr lang="en-US" sz="1200" dirty="0"/>
                <a:t>@ RMS-CASPT2 level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F3F9C85-8D93-37E0-B88B-A41F15B15E68}"/>
                </a:ext>
              </a:extLst>
            </p:cNvPr>
            <p:cNvSpPr txBox="1"/>
            <p:nvPr/>
          </p:nvSpPr>
          <p:spPr>
            <a:xfrm>
              <a:off x="2336166" y="1788852"/>
              <a:ext cx="138206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Sampling</a:t>
              </a:r>
            </a:p>
            <a:p>
              <a:pPr algn="ctr"/>
              <a:r>
                <a:rPr lang="en-US" sz="1200" dirty="0"/>
                <a:t> </a:t>
              </a:r>
            </a:p>
            <a:p>
              <a:pPr algn="ctr"/>
              <a:r>
                <a:rPr lang="en-US" sz="1200" dirty="0"/>
                <a:t>200 geometries and velocities @MM level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C35D044-21B2-C134-A0E8-E1D16E91BEDF}"/>
                </a:ext>
              </a:extLst>
            </p:cNvPr>
            <p:cNvSpPr txBox="1"/>
            <p:nvPr/>
          </p:nvSpPr>
          <p:spPr>
            <a:xfrm>
              <a:off x="3743401" y="2762169"/>
              <a:ext cx="1178035" cy="5539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200 geometries and velocities @QM/MM level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DCCE0FD-0AA1-3E1E-ADF6-47C6DFE46E0F}"/>
                </a:ext>
              </a:extLst>
            </p:cNvPr>
            <p:cNvSpPr txBox="1"/>
            <p:nvPr/>
          </p:nvSpPr>
          <p:spPr>
            <a:xfrm>
              <a:off x="5856849" y="3853507"/>
              <a:ext cx="5407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𝜆max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4FDA637-3CFC-40BE-C973-A9244B8F0C8D}"/>
                </a:ext>
              </a:extLst>
            </p:cNvPr>
            <p:cNvSpPr txBox="1"/>
            <p:nvPr/>
          </p:nvSpPr>
          <p:spPr>
            <a:xfrm>
              <a:off x="5177306" y="2777479"/>
              <a:ext cx="208356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QMMM model validation:</a:t>
              </a:r>
            </a:p>
            <a:p>
              <a:pPr algn="ctr"/>
              <a:r>
                <a:rPr lang="en-US" sz="1100" dirty="0"/>
                <a:t>Expected Gaussian-like shape of dihedral angles and coordinates 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7D88DE1B-B0E2-8062-2B3A-DC6C3AAF4370}"/>
              </a:ext>
            </a:extLst>
          </p:cNvPr>
          <p:cNvSpPr>
            <a:spLocks noChangeAspect="1"/>
          </p:cNvSpPr>
          <p:nvPr/>
        </p:nvSpPr>
        <p:spPr>
          <a:xfrm>
            <a:off x="1945880" y="364962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1EFD57A-EF13-0EE9-560D-1B7B835537AE}"/>
              </a:ext>
            </a:extLst>
          </p:cNvPr>
          <p:cNvSpPr>
            <a:spLocks noChangeAspect="1"/>
          </p:cNvSpPr>
          <p:nvPr/>
        </p:nvSpPr>
        <p:spPr>
          <a:xfrm>
            <a:off x="1948905" y="191628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2785738-1134-373C-BFF4-FB87BED02DEA}"/>
              </a:ext>
            </a:extLst>
          </p:cNvPr>
          <p:cNvSpPr>
            <a:spLocks noChangeAspect="1"/>
          </p:cNvSpPr>
          <p:nvPr/>
        </p:nvSpPr>
        <p:spPr>
          <a:xfrm>
            <a:off x="5304985" y="205791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74DE523-2273-618B-BBB0-97E9E229085D}"/>
              </a:ext>
            </a:extLst>
          </p:cNvPr>
          <p:cNvSpPr>
            <a:spLocks noChangeAspect="1"/>
          </p:cNvSpPr>
          <p:nvPr/>
        </p:nvSpPr>
        <p:spPr>
          <a:xfrm>
            <a:off x="5115732" y="360881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6B02335-0859-DE1F-0185-CEC49D0578B5}"/>
              </a:ext>
            </a:extLst>
          </p:cNvPr>
          <p:cNvSpPr>
            <a:spLocks noChangeAspect="1"/>
          </p:cNvSpPr>
          <p:nvPr/>
        </p:nvSpPr>
        <p:spPr>
          <a:xfrm>
            <a:off x="8012928" y="377204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2C4B664-3F89-99E4-2BC0-670CAF3E983E}"/>
              </a:ext>
            </a:extLst>
          </p:cNvPr>
          <p:cNvSpPr>
            <a:spLocks noChangeAspect="1"/>
          </p:cNvSpPr>
          <p:nvPr/>
        </p:nvSpPr>
        <p:spPr>
          <a:xfrm>
            <a:off x="7982196" y="208757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7EB877-D373-B13F-CF96-52A3FD23A829}"/>
              </a:ext>
            </a:extLst>
          </p:cNvPr>
          <p:cNvSpPr txBox="1"/>
          <p:nvPr/>
        </p:nvSpPr>
        <p:spPr>
          <a:xfrm>
            <a:off x="416560" y="5544143"/>
            <a:ext cx="11115354" cy="7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Olivucci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M.,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J. Phys. Chem. B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127, 10871−10879.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Blanco A. (2023), Impact of vibrational mode coupling on the isomerization of natural and synthetic molecular switches, Ph.D. dissertation, Pp. 48.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861A37A-42E3-FA53-C0D4-5D7EB9A0DBAF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37ECDCF-CD47-FFB6-3376-A6AE36C953F5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1A4534-CA03-FB94-BF00-F35ABB519B54}"/>
              </a:ext>
            </a:extLst>
          </p:cNvPr>
          <p:cNvSpPr txBox="1"/>
          <p:nvPr/>
        </p:nvSpPr>
        <p:spPr>
          <a:xfrm>
            <a:off x="3135201" y="6457890"/>
            <a:ext cx="4769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Am. Chem. Soc.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17736−17744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75EE8D61-502A-0E4F-2593-4CB6D2231E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3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AD2D4-348C-2326-A9E6-D9E813BC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3792F7-A55C-A00A-F029-0992FE204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6BD9E2-50D6-6292-4E6A-C4C0E2544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4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4FC2B66-DA74-974D-5596-7E2F75A7558A}"/>
              </a:ext>
            </a:extLst>
          </p:cNvPr>
          <p:cNvSpPr txBox="1">
            <a:spLocks/>
          </p:cNvSpPr>
          <p:nvPr/>
        </p:nvSpPr>
        <p:spPr>
          <a:xfrm>
            <a:off x="1814667" y="178724"/>
            <a:ext cx="9609953" cy="60698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energy surface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8C84FB3-9535-2066-F7F8-E234DFD69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5A1394-ED3D-CADD-D50C-C44F6DFDB9D5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D3F736-E185-118B-E77B-F15F6A26AC3F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BDE2D-BFC3-F945-D0E3-12494C5C5DCD}"/>
              </a:ext>
            </a:extLst>
          </p:cNvPr>
          <p:cNvSpPr txBox="1"/>
          <p:nvPr/>
        </p:nvSpPr>
        <p:spPr>
          <a:xfrm>
            <a:off x="3135201" y="6457890"/>
            <a:ext cx="4769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Am. Chem. Soc.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17736−17744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C745A-1881-B244-3F96-8F1C0F274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873" y="1088811"/>
            <a:ext cx="8554231" cy="49827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2BA3F2-9A2F-FDF5-BF4C-7FDF1A39A712}"/>
              </a:ext>
            </a:extLst>
          </p:cNvPr>
          <p:cNvSpPr txBox="1"/>
          <p:nvPr/>
        </p:nvSpPr>
        <p:spPr>
          <a:xfrm>
            <a:off x="5882897" y="4884426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Diradical 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86673-9CD9-D032-9C03-514C591C12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6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05E44-C3D5-F9A4-0ABB-57560103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68AA1FC-5773-990A-3C6B-0A297EF2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A13F04-7211-6B73-8DE0-932712C24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5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E4C5D8FD-D713-AA4E-BF25-C3E11F6769E3}"/>
              </a:ext>
            </a:extLst>
          </p:cNvPr>
          <p:cNvSpPr txBox="1">
            <a:spLocks/>
          </p:cNvSpPr>
          <p:nvPr/>
        </p:nvSpPr>
        <p:spPr>
          <a:xfrm>
            <a:off x="1814667" y="178724"/>
            <a:ext cx="9609953" cy="60698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conical intersection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3F296F6-CD6C-E2C5-750F-AD4830443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B1AA70-A9EB-C15F-C71D-E5869BFC8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377" y="963837"/>
            <a:ext cx="9473245" cy="5486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24E326-35E5-E8D2-64F6-65E812A23FFF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57337-3DD5-3A31-EA66-EE0C787879E1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7CAAAE-93B8-6943-41AE-F602DC191A1B}"/>
              </a:ext>
            </a:extLst>
          </p:cNvPr>
          <p:cNvSpPr txBox="1"/>
          <p:nvPr/>
        </p:nvSpPr>
        <p:spPr>
          <a:xfrm>
            <a:off x="3135201" y="6457890"/>
            <a:ext cx="4769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Am. Chem. Soc.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17736−17744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FCB5E-A5AB-F1EB-53DD-031356429272}"/>
              </a:ext>
            </a:extLst>
          </p:cNvPr>
          <p:cNvSpPr txBox="1"/>
          <p:nvPr/>
        </p:nvSpPr>
        <p:spPr>
          <a:xfrm>
            <a:off x="6093890" y="1033408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8E4E7-2407-0BAE-3E0F-9CBD3A195C8D}"/>
              </a:ext>
            </a:extLst>
          </p:cNvPr>
          <p:cNvSpPr txBox="1"/>
          <p:nvPr/>
        </p:nvSpPr>
        <p:spPr>
          <a:xfrm>
            <a:off x="534632" y="1034864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867F11-8D08-4E2A-344C-2BA76203EA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7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12F4-86EB-6531-118A-19264694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AEAA2E9-C69F-F4EA-1B75-43E96A29E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E3D8B40-1433-B425-0082-687C2F96F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6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A4A67A8-8637-8ABB-F999-C89F8FDA1FFD}"/>
              </a:ext>
            </a:extLst>
          </p:cNvPr>
          <p:cNvSpPr txBox="1">
            <a:spLocks/>
          </p:cNvSpPr>
          <p:nvPr/>
        </p:nvSpPr>
        <p:spPr>
          <a:xfrm>
            <a:off x="1814667" y="178724"/>
            <a:ext cx="9609953" cy="60698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Quantum-classical dynamics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2B7A22D-760E-5BB6-E12C-15628543C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2E9CF77-66F7-DBF4-9840-E15692D07C62}"/>
              </a:ext>
            </a:extLst>
          </p:cNvPr>
          <p:cNvSpPr txBox="1"/>
          <p:nvPr/>
        </p:nvSpPr>
        <p:spPr>
          <a:xfrm>
            <a:off x="3135201" y="6457890"/>
            <a:ext cx="4769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Am. Chem. Soc.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17736−17744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50AC1-AD21-85E9-703D-4FBEB71D7052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C08EF-DA3F-3105-9AC4-126F7B239E94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BB8129-731E-9021-BF86-9D6D15FCA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6" y="3524438"/>
            <a:ext cx="2574592" cy="205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CDA20F-EE59-0289-7A6F-2A22F662C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08" y="1054801"/>
            <a:ext cx="2533650" cy="20574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6ED1BA-52A9-B13D-E840-0C12ADAB6ACA}"/>
              </a:ext>
            </a:extLst>
          </p:cNvPr>
          <p:cNvCxnSpPr>
            <a:cxnSpLocks/>
          </p:cNvCxnSpPr>
          <p:nvPr/>
        </p:nvCxnSpPr>
        <p:spPr>
          <a:xfrm flipV="1">
            <a:off x="2226904" y="4421764"/>
            <a:ext cx="273379" cy="2561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C33FC4-A888-AED8-4192-C0F3D88299E1}"/>
              </a:ext>
            </a:extLst>
          </p:cNvPr>
          <p:cNvSpPr txBox="1"/>
          <p:nvPr/>
        </p:nvSpPr>
        <p:spPr>
          <a:xfrm>
            <a:off x="1818443" y="4746575"/>
            <a:ext cx="722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 </a:t>
            </a:r>
            <a:r>
              <a:rPr lang="en-US" sz="1800" b="1" i="0" kern="1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3338CF-4379-D025-05A3-42DDB1177547}"/>
              </a:ext>
            </a:extLst>
          </p:cNvPr>
          <p:cNvSpPr txBox="1"/>
          <p:nvPr/>
        </p:nvSpPr>
        <p:spPr>
          <a:xfrm>
            <a:off x="417698" y="3604490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3D0C99-824E-AEA8-4CC8-ADE4DBBD338B}"/>
              </a:ext>
            </a:extLst>
          </p:cNvPr>
          <p:cNvSpPr txBox="1"/>
          <p:nvPr/>
        </p:nvSpPr>
        <p:spPr>
          <a:xfrm>
            <a:off x="408366" y="1218278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5CCF60-EE51-FDF4-87C4-A5104500891E}"/>
              </a:ext>
            </a:extLst>
          </p:cNvPr>
          <p:cNvSpPr txBox="1"/>
          <p:nvPr/>
        </p:nvSpPr>
        <p:spPr>
          <a:xfrm>
            <a:off x="9002041" y="1127999"/>
            <a:ext cx="29189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Key:</a:t>
            </a:r>
          </a:p>
          <a:p>
            <a:pPr algn="ctr"/>
            <a:endParaRPr lang="en-US" sz="2400" b="1" i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i="1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</a:t>
            </a:r>
            <a:r>
              <a:rPr lang="en-US" sz="2000" b="1" i="1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 – Unreactive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</a:t>
            </a:r>
            <a:r>
              <a:rPr lang="en-US" sz="20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 – Productive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1E31168-2102-A4FF-D372-1E42B11166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6022" y="3578896"/>
            <a:ext cx="685800" cy="91440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5EF49590-F149-C6FA-8197-ECF4867C5F1A}"/>
              </a:ext>
            </a:extLst>
          </p:cNvPr>
          <p:cNvGrpSpPr/>
          <p:nvPr/>
        </p:nvGrpSpPr>
        <p:grpSpPr>
          <a:xfrm>
            <a:off x="6093890" y="1054801"/>
            <a:ext cx="2551858" cy="2057400"/>
            <a:chOff x="3135201" y="1054801"/>
            <a:chExt cx="2551858" cy="20574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CF3943B-7A56-6485-03B4-5095614B3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35201" y="1054801"/>
              <a:ext cx="2551858" cy="2057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27B2F2-3D5C-9603-3976-A96FE8469C42}"/>
                </a:ext>
              </a:extLst>
            </p:cNvPr>
            <p:cNvSpPr txBox="1"/>
            <p:nvPr/>
          </p:nvSpPr>
          <p:spPr>
            <a:xfrm>
              <a:off x="4827398" y="2308446"/>
              <a:ext cx="7221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800" b="1" i="0" kern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.3 </a:t>
              </a:r>
              <a:r>
                <a:rPr lang="en-US" sz="1800" b="1" i="0" kern="120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Å</a:t>
              </a:r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2C9BA6-8130-1113-1FC5-7A530A343D06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5188471" y="2062052"/>
              <a:ext cx="361073" cy="24639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BF1CDD-2D78-4A15-E23E-C996036043FA}"/>
                </a:ext>
              </a:extLst>
            </p:cNvPr>
            <p:cNvSpPr txBox="1"/>
            <p:nvPr/>
          </p:nvSpPr>
          <p:spPr>
            <a:xfrm>
              <a:off x="3491494" y="1120663"/>
              <a:ext cx="4812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D8C5FB5-A39A-96D1-6EB9-33E0C37CA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82091" y="1127999"/>
              <a:ext cx="709418" cy="952949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BEF4D63-8111-0134-AA70-6EAD57F3F9D9}"/>
              </a:ext>
            </a:extLst>
          </p:cNvPr>
          <p:cNvGrpSpPr/>
          <p:nvPr/>
        </p:nvGrpSpPr>
        <p:grpSpPr>
          <a:xfrm>
            <a:off x="3092851" y="1054801"/>
            <a:ext cx="2551858" cy="2057400"/>
            <a:chOff x="6103327" y="1054801"/>
            <a:chExt cx="2551858" cy="20574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53E031-EC26-5E7B-32D3-31621D45F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103327" y="1054801"/>
              <a:ext cx="2551858" cy="2057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05A16F-5553-84B0-255F-20B017E22454}"/>
                </a:ext>
              </a:extLst>
            </p:cNvPr>
            <p:cNvSpPr txBox="1"/>
            <p:nvPr/>
          </p:nvSpPr>
          <p:spPr>
            <a:xfrm>
              <a:off x="7891665" y="1854150"/>
              <a:ext cx="7221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i="0" kern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1.6 </a:t>
              </a:r>
              <a:r>
                <a:rPr lang="en-US" sz="1800" b="1" i="0" kern="120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Å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1AD8BB-8D70-6A0A-BF22-EB6BCF41AE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65" y="2164024"/>
              <a:ext cx="294289" cy="22234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BC3B16A-2271-B3B2-B1D8-E04308B06E56}"/>
                </a:ext>
              </a:extLst>
            </p:cNvPr>
            <p:cNvSpPr txBox="1"/>
            <p:nvPr/>
          </p:nvSpPr>
          <p:spPr>
            <a:xfrm>
              <a:off x="6517226" y="1123596"/>
              <a:ext cx="4587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2484E1A-BE14-84E7-CE2C-A803B6257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54483" y="1133608"/>
              <a:ext cx="822071" cy="1096095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9190C6-0E54-1EF3-4377-10BAED2F1AB8}"/>
              </a:ext>
            </a:extLst>
          </p:cNvPr>
          <p:cNvGrpSpPr/>
          <p:nvPr/>
        </p:nvGrpSpPr>
        <p:grpSpPr>
          <a:xfrm>
            <a:off x="3092851" y="3357351"/>
            <a:ext cx="2980535" cy="2919576"/>
            <a:chOff x="3683803" y="3524438"/>
            <a:chExt cx="2980535" cy="291957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F4DF6EF-E5B1-6C9D-532E-7131FE348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83803" y="3524438"/>
              <a:ext cx="2551858" cy="20574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94A7387-3B14-82B2-CCAA-9EAED2E07127}"/>
                </a:ext>
              </a:extLst>
            </p:cNvPr>
            <p:cNvSpPr txBox="1"/>
            <p:nvPr/>
          </p:nvSpPr>
          <p:spPr>
            <a:xfrm>
              <a:off x="4205392" y="3524438"/>
              <a:ext cx="4347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FF36423-283D-78C5-6CC3-44DC8BFCE2D4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H="1" flipV="1">
              <a:off x="5738575" y="5030053"/>
              <a:ext cx="294821" cy="9522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771CBF-6DB0-1185-9419-326F3C821AAC}"/>
                </a:ext>
              </a:extLst>
            </p:cNvPr>
            <p:cNvSpPr txBox="1"/>
            <p:nvPr/>
          </p:nvSpPr>
          <p:spPr>
            <a:xfrm>
              <a:off x="5402454" y="5982349"/>
              <a:ext cx="12618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Carbene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DDBD60-9DA3-B35A-3B68-74667BC5930F}"/>
              </a:ext>
            </a:extLst>
          </p:cNvPr>
          <p:cNvGrpSpPr/>
          <p:nvPr/>
        </p:nvGrpSpPr>
        <p:grpSpPr>
          <a:xfrm>
            <a:off x="6122436" y="3427116"/>
            <a:ext cx="3643199" cy="2915391"/>
            <a:chOff x="6591074" y="3275678"/>
            <a:chExt cx="3643199" cy="291539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87FAFA-484D-45FF-7F2C-29EB44AE0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91074" y="3275678"/>
              <a:ext cx="2551858" cy="20574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B7187F-3CC5-E0E3-CAB9-F0050F945773}"/>
                </a:ext>
              </a:extLst>
            </p:cNvPr>
            <p:cNvSpPr txBox="1"/>
            <p:nvPr/>
          </p:nvSpPr>
          <p:spPr>
            <a:xfrm>
              <a:off x="6969809" y="3285754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FE029C1-79E6-CCAA-D41A-D0CC71386A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77595" y="4964465"/>
              <a:ext cx="365337" cy="73541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82D1335-14C1-128B-1F0C-20A9BB31D0F6}"/>
                </a:ext>
              </a:extLst>
            </p:cNvPr>
            <p:cNvSpPr txBox="1"/>
            <p:nvPr/>
          </p:nvSpPr>
          <p:spPr>
            <a:xfrm>
              <a:off x="8307142" y="5729404"/>
              <a:ext cx="19271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Nortricyclane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647D39CF-F97F-4B2C-09E1-CF06C2F017B7}"/>
              </a:ext>
            </a:extLst>
          </p:cNvPr>
          <p:cNvSpPr txBox="1"/>
          <p:nvPr/>
        </p:nvSpPr>
        <p:spPr>
          <a:xfrm>
            <a:off x="88076" y="5741590"/>
            <a:ext cx="264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C1=C2 bond length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DE5898F-4895-EF89-6997-A4A2B91280CF}"/>
              </a:ext>
            </a:extLst>
          </p:cNvPr>
          <p:cNvGrpSpPr/>
          <p:nvPr/>
        </p:nvGrpSpPr>
        <p:grpSpPr>
          <a:xfrm>
            <a:off x="9036885" y="3357351"/>
            <a:ext cx="2802093" cy="2057400"/>
            <a:chOff x="9036885" y="3357351"/>
            <a:chExt cx="2802093" cy="205740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4AB068B-9A99-DBE2-A2F5-E00B6089E03F}"/>
                </a:ext>
              </a:extLst>
            </p:cNvPr>
            <p:cNvGrpSpPr/>
            <p:nvPr/>
          </p:nvGrpSpPr>
          <p:grpSpPr>
            <a:xfrm>
              <a:off x="9206162" y="3357351"/>
              <a:ext cx="2557542" cy="2057400"/>
              <a:chOff x="9183496" y="3427116"/>
              <a:chExt cx="2557542" cy="2057400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D762DFEB-751B-A969-A026-56EBE51480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83496" y="3427116"/>
                <a:ext cx="2557542" cy="2057400"/>
              </a:xfrm>
              <a:prstGeom prst="rect">
                <a:avLst/>
              </a:prstGeom>
            </p:spPr>
          </p:pic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F842415-C6C9-A897-60B3-56BD95692394}"/>
                  </a:ext>
                </a:extLst>
              </p:cNvPr>
              <p:cNvSpPr txBox="1"/>
              <p:nvPr/>
            </p:nvSpPr>
            <p:spPr>
              <a:xfrm>
                <a:off x="9490337" y="3432156"/>
                <a:ext cx="4812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B01533C-4BB7-7E5E-8115-24A60DC62578}"/>
                </a:ext>
              </a:extLst>
            </p:cNvPr>
            <p:cNvSpPr txBox="1"/>
            <p:nvPr/>
          </p:nvSpPr>
          <p:spPr>
            <a:xfrm rot="16200000">
              <a:off x="10931358" y="4060240"/>
              <a:ext cx="147668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Diradical II (</a:t>
              </a:r>
              <a:r>
                <a:rPr lang="en-US" sz="16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Å</a:t>
              </a:r>
              <a:r>
                <a:rPr lang="en-US" sz="1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08AFD27-6EAE-FE28-2CA6-24310EAEA85A}"/>
                </a:ext>
              </a:extLst>
            </p:cNvPr>
            <p:cNvSpPr txBox="1"/>
            <p:nvPr/>
          </p:nvSpPr>
          <p:spPr>
            <a:xfrm rot="16200000">
              <a:off x="8502283" y="4063161"/>
              <a:ext cx="140775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Diradical I (</a:t>
              </a:r>
              <a:r>
                <a:rPr lang="en-US" sz="16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Å</a:t>
              </a:r>
              <a:r>
                <a:rPr lang="en-US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955B108-6F9E-727F-5152-3B87803633F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8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796EF8-4163-1BBF-CCED-7CE52489B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632F27C-FA06-242D-DA31-13C6519BB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7</a:t>
            </a:fld>
            <a:endParaRPr lang="en-US" sz="14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3272B8C-BE33-2A9A-714F-6437BEEB7C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3A828-A1FB-5481-5200-CFBD60BA0CC5}"/>
              </a:ext>
            </a:extLst>
          </p:cNvPr>
          <p:cNvSpPr txBox="1"/>
          <p:nvPr/>
        </p:nvSpPr>
        <p:spPr>
          <a:xfrm>
            <a:off x="202907" y="6061809"/>
            <a:ext cx="5339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i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movie shows the carbene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followed by the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CoIn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3B161F-C2F2-314A-4516-C769EE48D9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6283" y="1145965"/>
            <a:ext cx="6288441" cy="510640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E34643-E9C3-E558-5ED0-F5D8C2D558B7}"/>
              </a:ext>
            </a:extLst>
          </p:cNvPr>
          <p:cNvCxnSpPr>
            <a:cxnSpLocks/>
          </p:cNvCxnSpPr>
          <p:nvPr/>
        </p:nvCxnSpPr>
        <p:spPr>
          <a:xfrm flipV="1">
            <a:off x="7156034" y="2523281"/>
            <a:ext cx="0" cy="155378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729D4FA-EB18-9CFE-2CE6-24E98DFC2B53}"/>
              </a:ext>
            </a:extLst>
          </p:cNvPr>
          <p:cNvSpPr txBox="1"/>
          <p:nvPr/>
        </p:nvSpPr>
        <p:spPr>
          <a:xfrm>
            <a:off x="7733179" y="2329690"/>
            <a:ext cx="7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b="1" i="0" kern="1200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1-min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FB44C30-5673-BAE4-C689-4CBA95B0FA0A}"/>
              </a:ext>
            </a:extLst>
          </p:cNvPr>
          <p:cNvCxnSpPr>
            <a:cxnSpLocks/>
          </p:cNvCxnSpPr>
          <p:nvPr/>
        </p:nvCxnSpPr>
        <p:spPr>
          <a:xfrm flipH="1">
            <a:off x="7156034" y="2524516"/>
            <a:ext cx="57714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FEC5F29B-0B66-D878-8E05-50CB0B11E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6420" y="4609706"/>
            <a:ext cx="917284" cy="899977"/>
          </a:xfrm>
          <a:prstGeom prst="rect">
            <a:avLst/>
          </a:prstGeom>
        </p:spPr>
      </p:pic>
      <p:pic>
        <p:nvPicPr>
          <p:cNvPr id="3" name="Single_S1MD_final.mp4">
            <a:hlinkClick r:id="" action="ppaction://media"/>
            <a:extLst>
              <a:ext uri="{FF2B5EF4-FFF2-40B4-BE49-F238E27FC236}">
                <a16:creationId xmlns:a16="http://schemas.microsoft.com/office/drawing/2014/main" id="{429B911D-8C7B-690D-C3C6-A40CCBA0F2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26341" t="6791" r="7471"/>
          <a:stretch/>
        </p:blipFill>
        <p:spPr>
          <a:xfrm>
            <a:off x="256398" y="1788682"/>
            <a:ext cx="5285590" cy="334469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4598C9-8BFA-58FE-B3DA-B257D0612AB0}"/>
              </a:ext>
            </a:extLst>
          </p:cNvPr>
          <p:cNvCxnSpPr>
            <a:cxnSpLocks/>
          </p:cNvCxnSpPr>
          <p:nvPr/>
        </p:nvCxnSpPr>
        <p:spPr>
          <a:xfrm flipV="1">
            <a:off x="2300748" y="1695135"/>
            <a:ext cx="4281141" cy="135778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3356B3-F0BD-6CA8-C07F-66AE472C7C46}"/>
              </a:ext>
            </a:extLst>
          </p:cNvPr>
          <p:cNvCxnSpPr>
            <a:cxnSpLocks/>
          </p:cNvCxnSpPr>
          <p:nvPr/>
        </p:nvCxnSpPr>
        <p:spPr>
          <a:xfrm>
            <a:off x="2300748" y="3052916"/>
            <a:ext cx="4281141" cy="247100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6479C872-B2F6-4967-C511-346D8A08EDE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430" t="5742" r="20323" b="3220"/>
          <a:stretch/>
        </p:blipFill>
        <p:spPr>
          <a:xfrm>
            <a:off x="3641957" y="2337063"/>
            <a:ext cx="1900031" cy="2186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449911-5C26-22F9-548C-3F80581B1932}"/>
              </a:ext>
            </a:extLst>
          </p:cNvPr>
          <p:cNvSpPr txBox="1"/>
          <p:nvPr/>
        </p:nvSpPr>
        <p:spPr>
          <a:xfrm>
            <a:off x="5655696" y="6067715"/>
            <a:ext cx="2600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i="1" kern="12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evolution of norborn-1-ene</a:t>
            </a:r>
            <a:endParaRPr lang="en-US" sz="1400" b="1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FC569-1644-3A3E-6685-4F532B8C8751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550FF-863B-D70F-83FE-0BA4B112DADC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2E46E9-C19E-5E9D-AAD5-E12E324DD62B}"/>
              </a:ext>
            </a:extLst>
          </p:cNvPr>
          <p:cNvSpPr txBox="1">
            <a:spLocks/>
          </p:cNvSpPr>
          <p:nvPr/>
        </p:nvSpPr>
        <p:spPr>
          <a:xfrm>
            <a:off x="1814667" y="178724"/>
            <a:ext cx="9609953" cy="60698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photoproduct from trajectory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036E34-8DCF-9369-8E5B-B0DD6735EFA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1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334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5D014-4E83-E235-BD94-DD7922F0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E1A21FB-217D-E8C3-A703-1C84E423E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CC282B6-2D2F-67E7-B609-9E40227C2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8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4AF1E88-6B0A-248A-6C47-EAD8A0AD86C5}"/>
              </a:ext>
            </a:extLst>
          </p:cNvPr>
          <p:cNvSpPr txBox="1">
            <a:spLocks/>
          </p:cNvSpPr>
          <p:nvPr/>
        </p:nvSpPr>
        <p:spPr>
          <a:xfrm>
            <a:off x="1814668" y="153708"/>
            <a:ext cx="8781614" cy="6069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xcited state lifetime and QE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FDB6D8E-47AB-942C-E6E3-FDF10480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14CD612-7B65-04E3-E060-9AA0B940CF33}"/>
              </a:ext>
            </a:extLst>
          </p:cNvPr>
          <p:cNvGrpSpPr>
            <a:grpSpLocks noChangeAspect="1"/>
          </p:cNvGrpSpPr>
          <p:nvPr/>
        </p:nvGrpSpPr>
        <p:grpSpPr>
          <a:xfrm>
            <a:off x="874287" y="1217308"/>
            <a:ext cx="10657625" cy="4555746"/>
            <a:chOff x="168394" y="510399"/>
            <a:chExt cx="12018373" cy="51374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163099D-2540-76CA-CCBF-94D47DF9BBB5}"/>
                    </a:ext>
                  </a:extLst>
                </p:cNvPr>
                <p:cNvSpPr txBox="1"/>
                <p:nvPr/>
              </p:nvSpPr>
              <p:spPr>
                <a:xfrm>
                  <a:off x="168394" y="4369902"/>
                  <a:ext cx="5927606" cy="6470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 baseline="-25000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b="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 baseline="-25000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600" b="0" i="1" baseline="30000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baseline="-2500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baseline="-2500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baseline="-2500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sz="1600" b="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 baseline="-2500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b="0" i="1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 baseline="-25000" smtClean="0">
                                            <a:solidFill>
                                              <a:schemeClr val="bg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sup>
                        </m:sSup>
                      </m:oMath>
                    </m:oMathPara>
                  </a14:m>
                  <a:endParaRPr lang="en-US" sz="1600" i="1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163099D-2540-76CA-CCBF-94D47DF9BB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394" y="4369902"/>
                  <a:ext cx="5927606" cy="647074"/>
                </a:xfrm>
                <a:prstGeom prst="rect">
                  <a:avLst/>
                </a:prstGeom>
                <a:blipFill>
                  <a:blip r:embed="rId7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5D831F8-9ED1-B5C5-473F-D63134229D4F}"/>
                    </a:ext>
                  </a:extLst>
                </p:cNvPr>
                <p:cNvSpPr txBox="1"/>
                <p:nvPr/>
              </p:nvSpPr>
              <p:spPr>
                <a:xfrm>
                  <a:off x="709100" y="5266034"/>
                  <a:ext cx="4846194" cy="3817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i="1" dirty="0">
                      <a:solidFill>
                        <a:schemeClr val="bg1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𝝉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baseline="-250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baseline="-250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a:rPr lang="en-US" sz="1600" b="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baseline="-250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sz="1600" i="1" dirty="0">
                      <a:solidFill>
                        <a:schemeClr val="bg1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baseline="-250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600" b="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baseline="-250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a14:m>
                  <a:endParaRPr lang="en-US" sz="1600" i="1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5D831F8-9ED1-B5C5-473F-D63134229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100" y="5266034"/>
                  <a:ext cx="4846194" cy="381780"/>
                </a:xfrm>
                <a:prstGeom prst="rect">
                  <a:avLst/>
                </a:prstGeom>
                <a:blipFill>
                  <a:blip r:embed="rId8"/>
                  <a:stretch>
                    <a:fillRect l="-590" t="-3571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2430D5-38FF-C7C2-EF71-ACB986732EE0}"/>
                </a:ext>
              </a:extLst>
            </p:cNvPr>
            <p:cNvSpPr txBox="1"/>
            <p:nvPr/>
          </p:nvSpPr>
          <p:spPr>
            <a:xfrm>
              <a:off x="7186246" y="3040676"/>
              <a:ext cx="5000521" cy="18394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weight of gaussian decay component</a:t>
              </a:r>
            </a:p>
            <a:p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fitting parameter</a:t>
              </a:r>
            </a:p>
            <a:p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000" baseline="-25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latency time</a:t>
              </a:r>
            </a:p>
            <a:p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000" baseline="-25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decay time of gaussian component</a:t>
              </a:r>
            </a:p>
            <a:p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000" baseline="-25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decay time of exponential component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F1D14FB-9D1E-215C-D2D8-E0B86A617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33247" y="1683689"/>
              <a:ext cx="0" cy="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9E67212-8260-E913-184E-8DAD7F17D15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6354" y="510399"/>
              <a:ext cx="6096000" cy="3657600"/>
              <a:chOff x="2286000" y="1143000"/>
              <a:chExt cx="7620000" cy="457200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E88B676-91F9-AABE-1CE9-88A51F690D46}"/>
                  </a:ext>
                </a:extLst>
              </p:cNvPr>
              <p:cNvGrpSpPr/>
              <p:nvPr/>
            </p:nvGrpSpPr>
            <p:grpSpPr>
              <a:xfrm>
                <a:off x="2286000" y="1143000"/>
                <a:ext cx="7620000" cy="4572000"/>
                <a:chOff x="1939159" y="775138"/>
                <a:chExt cx="7620000" cy="4572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16" name="Chart 15">
                      <a:extLst>
                        <a:ext uri="{FF2B5EF4-FFF2-40B4-BE49-F238E27FC236}">
                          <a16:creationId xmlns:a16="http://schemas.microsoft.com/office/drawing/2014/main" id="{1D3FD6B7-033A-C5E5-C8FF-5635FEBEB5E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1939159" y="775138"/>
                    <a:ext cx="7620000" cy="4572000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10"/>
                    </a:graphicData>
                  </a:graphic>
                </p:graphicFrame>
              </mc:Choice>
              <mc:Fallback xmlns="">
                <p:graphicFrame>
                  <p:nvGraphicFramePr>
                    <p:cNvPr id="16" name="Chart 15">
                      <a:extLst>
                        <a:ext uri="{FF2B5EF4-FFF2-40B4-BE49-F238E27FC236}">
                          <a16:creationId xmlns:a16="http://schemas.microsoft.com/office/drawing/2014/main" id="{1D3FD6B7-033A-C5E5-C8FF-5635FEBEB5E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1939159" y="775138"/>
                    <a:ext cx="7620000" cy="4572000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11"/>
                    </a:graphicData>
                  </a:graphic>
                </p:graphicFrame>
              </mc:Fallback>
            </mc:AlternateContent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21952FB-8D20-C604-9D98-54C00D851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32568" y="3294376"/>
                  <a:ext cx="2171567" cy="0"/>
                </a:xfrm>
                <a:prstGeom prst="line">
                  <a:avLst/>
                </a:prstGeom>
                <a:ln w="12700">
                  <a:solidFill>
                    <a:srgbClr val="AAAAA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94EE527-E06D-2D1A-D417-5C8E379CF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87611" y="3277852"/>
                  <a:ext cx="0" cy="916058"/>
                </a:xfrm>
                <a:prstGeom prst="line">
                  <a:avLst/>
                </a:prstGeom>
                <a:ln w="12700">
                  <a:solidFill>
                    <a:srgbClr val="AAAAA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">
                  <a:extLst>
                    <a:ext uri="{FF2B5EF4-FFF2-40B4-BE49-F238E27FC236}">
                      <a16:creationId xmlns:a16="http://schemas.microsoft.com/office/drawing/2014/main" id="{E1E1A4AB-FF39-5E73-EDFF-66ABE4E8CB11}"/>
                    </a:ext>
                  </a:extLst>
                </p:cNvPr>
                <p:cNvSpPr txBox="1"/>
                <p:nvPr/>
              </p:nvSpPr>
              <p:spPr>
                <a:xfrm>
                  <a:off x="3555298" y="3508517"/>
                  <a:ext cx="1474613" cy="600521"/>
                </a:xfrm>
                <a:prstGeom prst="rect">
                  <a:avLst/>
                </a:prstGeom>
              </p:spPr>
              <p:txBody>
                <a:bodyPr wrap="square" rtlCol="0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000" i="1" dirty="0">
                      <a:solidFill>
                        <a:schemeClr val="bg1">
                          <a:lumMod val="50000"/>
                        </a:schemeClr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𝝉</a:t>
                  </a:r>
                  <a:r>
                    <a:rPr lang="en-US" sz="2000" b="1" kern="1200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75</a:t>
                  </a: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62D14E-850C-E5BF-EFB8-6C9B92EBFBEC}"/>
                  </a:ext>
                </a:extLst>
              </p:cNvPr>
              <p:cNvSpPr txBox="1"/>
              <p:nvPr/>
            </p:nvSpPr>
            <p:spPr>
              <a:xfrm>
                <a:off x="6499229" y="1794604"/>
                <a:ext cx="2851548" cy="121098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pPr marL="285750" indent="-285750" algn="ctr">
                  <a:lnSpc>
                    <a:spcPct val="150000"/>
                  </a:lnSpc>
                  <a:buClr>
                    <a:srgbClr val="0432FF"/>
                  </a:buClr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="1" baseline="-250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sz="2000" b="1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population</a:t>
                </a:r>
              </a:p>
              <a:p>
                <a:pPr marL="285750" indent="-285750" algn="ctr">
                  <a:lnSpc>
                    <a:spcPct val="15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Fitting curve</a:t>
                </a:r>
                <a:endParaRPr lang="en-US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06DC31-9A10-099B-7BD3-AD7ADF681FDF}"/>
                  </a:ext>
                </a:extLst>
              </p:cNvPr>
              <p:cNvSpPr txBox="1"/>
              <p:nvPr/>
            </p:nvSpPr>
            <p:spPr>
              <a:xfrm>
                <a:off x="7097562" y="2256078"/>
                <a:ext cx="4434350" cy="563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m:rPr>
                          <m:nor/>
                        </m:rPr>
                        <a:rPr lang="en-US" sz="2000" b="0" i="0" baseline="-250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photochem</m:t>
                      </m:r>
                      <m:r>
                        <a:rPr lang="en-US" sz="2000" b="1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0" baseline="-250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0" i="0" baseline="-250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Number of photoproduct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0" i="0" baseline="-2500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Number of</m:t>
                          </m:r>
                          <m:r>
                            <m:rPr>
                              <m:nor/>
                            </m:rPr>
                            <a:rPr lang="en-US" sz="2000" b="0" i="0" baseline="-2500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baseline="-2500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𝐭𝐨𝐭𝐚𝐥</m:t>
                          </m:r>
                          <m:r>
                            <a:rPr lang="en-US" sz="2000" b="1" i="0" baseline="-2500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baseline="-2500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𝐭𝐫𝐚𝐣𝐞𝐜𝐭𝐨𝐫𝐢𝐞𝐬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06DC31-9A10-099B-7BD3-AD7ADF68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562" y="2256078"/>
                <a:ext cx="4434350" cy="563552"/>
              </a:xfrm>
              <a:prstGeom prst="rect">
                <a:avLst/>
              </a:prstGeom>
              <a:blipFill>
                <a:blip r:embed="rId12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B8FD013-FB86-5266-D416-C2F385A8C20B}"/>
              </a:ext>
            </a:extLst>
          </p:cNvPr>
          <p:cNvSpPr txBox="1"/>
          <p:nvPr/>
        </p:nvSpPr>
        <p:spPr>
          <a:xfrm>
            <a:off x="7887257" y="1432919"/>
            <a:ext cx="285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Efficiency</a:t>
            </a:r>
            <a:endParaRPr lang="en-US" sz="2400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305D44-1661-7348-8F79-9B9BEB13F0F5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13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68F26-02B6-4F83-6F87-CDA872F0D585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13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18546-C5AC-8DE3-70CD-1C12DB82D7F2}"/>
              </a:ext>
            </a:extLst>
          </p:cNvPr>
          <p:cNvSpPr txBox="1"/>
          <p:nvPr/>
        </p:nvSpPr>
        <p:spPr>
          <a:xfrm>
            <a:off x="3135201" y="6457890"/>
            <a:ext cx="4769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Am. Chem. Soc.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148,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17736−17744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D62DE9-05D2-8BBD-1EBE-3F6275E8F64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53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AC74-0404-4D77-E283-3CB81264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885F791-DD60-C48D-7778-D2ECB528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8" y="6524982"/>
            <a:ext cx="1625892" cy="35769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F804793-3248-A286-8329-1D92B399E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0504" y="6473540"/>
            <a:ext cx="2743200" cy="365125"/>
          </a:xfrm>
        </p:spPr>
        <p:txBody>
          <a:bodyPr/>
          <a:lstStyle/>
          <a:p>
            <a:fld id="{DFC92906-8609-B247-B04A-CA238286E855}" type="slidenum">
              <a:rPr lang="en-US" sz="1400" smtClean="0"/>
              <a:t>9</a:t>
            </a:fld>
            <a:endParaRPr lang="en-US" sz="14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63DDB4E2-3853-D540-6893-98C784F60D3B}"/>
              </a:ext>
            </a:extLst>
          </p:cNvPr>
          <p:cNvSpPr txBox="1">
            <a:spLocks/>
          </p:cNvSpPr>
          <p:nvPr/>
        </p:nvSpPr>
        <p:spPr>
          <a:xfrm>
            <a:off x="1814668" y="178726"/>
            <a:ext cx="8781614" cy="6069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B9993B2-07A0-B458-7517-4E0314982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1913" y="0"/>
            <a:ext cx="657922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A63F78-1283-0CB1-6E64-45ED451F1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526" y="1266937"/>
            <a:ext cx="1700354" cy="1686113"/>
          </a:xfrm>
          <a:custGeom>
            <a:avLst/>
            <a:gdLst>
              <a:gd name="connsiteX0" fmla="*/ 4 w 1016246"/>
              <a:gd name="connsiteY0" fmla="*/ 4 h 1007735"/>
              <a:gd name="connsiteX1" fmla="*/ 1016251 w 1016246"/>
              <a:gd name="connsiteY1" fmla="*/ 4 h 1007735"/>
              <a:gd name="connsiteX2" fmla="*/ 1016251 w 1016246"/>
              <a:gd name="connsiteY2" fmla="*/ 1007740 h 1007735"/>
              <a:gd name="connsiteX3" fmla="*/ 4 w 1016246"/>
              <a:gd name="connsiteY3" fmla="*/ 1007740 h 1007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6246" h="1007735">
                <a:moveTo>
                  <a:pt x="4" y="4"/>
                </a:moveTo>
                <a:lnTo>
                  <a:pt x="1016251" y="4"/>
                </a:lnTo>
                <a:lnTo>
                  <a:pt x="1016251" y="1007740"/>
                </a:lnTo>
                <a:lnTo>
                  <a:pt x="4" y="1007740"/>
                </a:lnTo>
                <a:close/>
              </a:path>
            </a:pathLst>
          </a:cu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13FB8D-1825-4275-F5B2-DD3C564AB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758" y="4141428"/>
            <a:ext cx="2377212" cy="906012"/>
          </a:xfrm>
          <a:custGeom>
            <a:avLst/>
            <a:gdLst>
              <a:gd name="connsiteX0" fmla="*/ 124 w 2644126"/>
              <a:gd name="connsiteY0" fmla="*/ -2 h 1007739"/>
              <a:gd name="connsiteX1" fmla="*/ 2644251 w 2644126"/>
              <a:gd name="connsiteY1" fmla="*/ -2 h 1007739"/>
              <a:gd name="connsiteX2" fmla="*/ 2644251 w 2644126"/>
              <a:gd name="connsiteY2" fmla="*/ 1007737 h 1007739"/>
              <a:gd name="connsiteX3" fmla="*/ 124 w 2644126"/>
              <a:gd name="connsiteY3" fmla="*/ 1007737 h 100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4126" h="1007739">
                <a:moveTo>
                  <a:pt x="124" y="-2"/>
                </a:moveTo>
                <a:lnTo>
                  <a:pt x="2644251" y="-2"/>
                </a:lnTo>
                <a:lnTo>
                  <a:pt x="2644251" y="1007737"/>
                </a:lnTo>
                <a:lnTo>
                  <a:pt x="124" y="1007737"/>
                </a:lnTo>
                <a:close/>
              </a:path>
            </a:pathLst>
          </a:custGeom>
        </p:spPr>
      </p:pic>
      <p:pic>
        <p:nvPicPr>
          <p:cNvPr id="4" name="new photochem logo.png">
            <a:extLst>
              <a:ext uri="{FF2B5EF4-FFF2-40B4-BE49-F238E27FC236}">
                <a16:creationId xmlns:a16="http://schemas.microsoft.com/office/drawing/2014/main" id="{35090DEE-5464-4252-AD94-C410822D507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4480" y="4685051"/>
            <a:ext cx="1819664" cy="169476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067272-3E62-C77D-75AF-8CF0ED5F52D5}"/>
              </a:ext>
            </a:extLst>
          </p:cNvPr>
          <p:cNvSpPr txBox="1"/>
          <p:nvPr/>
        </p:nvSpPr>
        <p:spPr>
          <a:xfrm>
            <a:off x="6576401" y="5515209"/>
            <a:ext cx="5124953" cy="578882"/>
          </a:xfrm>
          <a:prstGeom prst="roundRect">
            <a:avLst/>
          </a:prstGeom>
          <a:solidFill>
            <a:srgbClr val="FFC000">
              <a:alpha val="49892"/>
            </a:srgbClr>
          </a:solidFill>
        </p:spPr>
        <p:txBody>
          <a:bodyPr wrap="square">
            <a:spAutoFit/>
          </a:bodyPr>
          <a:lstStyle/>
          <a:p>
            <a:pPr algn="ctr">
              <a:buClr>
                <a:srgbClr val="0432FF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Siena Supercomputer Center</a:t>
            </a:r>
            <a:endParaRPr lang="en-US" sz="28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355ED01-ED57-3C42-24FF-29F1EEBDA1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7199" y="1116827"/>
            <a:ext cx="5893092" cy="351331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CF0B4-0886-1680-4306-4BFFCD31DD34}"/>
              </a:ext>
            </a:extLst>
          </p:cNvPr>
          <p:cNvCxnSpPr/>
          <p:nvPr/>
        </p:nvCxnSpPr>
        <p:spPr>
          <a:xfrm flipH="1">
            <a:off x="3048000" y="1361440"/>
            <a:ext cx="1203863" cy="1261189"/>
          </a:xfrm>
          <a:prstGeom prst="straightConnector1">
            <a:avLst/>
          </a:prstGeom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AA16D2E-A795-813A-1E72-5197780D66C0}"/>
              </a:ext>
            </a:extLst>
          </p:cNvPr>
          <p:cNvSpPr/>
          <p:nvPr/>
        </p:nvSpPr>
        <p:spPr>
          <a:xfrm>
            <a:off x="-23446" y="6398295"/>
            <a:ext cx="12234672" cy="45719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CB70B7-D4B9-EB38-D545-175E20A81034}"/>
              </a:ext>
            </a:extLst>
          </p:cNvPr>
          <p:cNvSpPr/>
          <p:nvPr/>
        </p:nvSpPr>
        <p:spPr>
          <a:xfrm>
            <a:off x="-23446" y="914399"/>
            <a:ext cx="12234672" cy="4572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DD7FD2-AB60-0B84-7E76-6696C122574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038" t="19572" r="7607" b="17406"/>
          <a:stretch>
            <a:fillRect/>
          </a:stretch>
        </p:blipFill>
        <p:spPr>
          <a:xfrm>
            <a:off x="0" y="0"/>
            <a:ext cx="155448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3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53129</TotalTime>
  <Words>729</Words>
  <Application>Microsoft Macintosh PowerPoint</Application>
  <PresentationFormat>Widescreen</PresentationFormat>
  <Paragraphs>130</Paragraphs>
  <Slides>9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Hrishikesh Kuttiyil</dc:creator>
  <cp:lastModifiedBy>Meseret Simachew Bezabih</cp:lastModifiedBy>
  <cp:revision>1105</cp:revision>
  <dcterms:created xsi:type="dcterms:W3CDTF">2024-04-08T03:24:28Z</dcterms:created>
  <dcterms:modified xsi:type="dcterms:W3CDTF">2026-09-16T17:40:20Z</dcterms:modified>
</cp:coreProperties>
</file>